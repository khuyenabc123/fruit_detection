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1360" y="-256032"/>
            <a:ext cx="1645920" cy="960120"/>
          </a:xfrm>
          <a:prstGeom prst="round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20040" y="6263640"/>
            <a:ext cx="1920240" cy="822960"/>
          </a:xfrm>
          <a:prstGeom prst="roundRect">
            <a:avLst/>
          </a:prstGeom>
          <a:solidFill>
            <a:srgbClr val="644BC4"/>
          </a:solidFill>
          <a:ln>
            <a:solidFill>
              <a:srgbClr val="644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07808" y="1152144"/>
            <a:ext cx="438912" cy="438912"/>
          </a:xfrm>
          <a:prstGeom prst="round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07808" y="1737360"/>
            <a:ext cx="438912" cy="438912"/>
          </a:xfrm>
          <a:prstGeom prst="roundRect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07808" y="2322576"/>
            <a:ext cx="438912" cy="438912"/>
          </a:xfrm>
          <a:prstGeom prst="roundRect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07808" y="2907791"/>
            <a:ext cx="438912" cy="438912"/>
          </a:xfrm>
          <a:prstGeom prst="roundRect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07808" y="3493008"/>
            <a:ext cx="438912" cy="438912"/>
          </a:xfrm>
          <a:prstGeom prst="round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93024" y="1152144"/>
            <a:ext cx="438912" cy="438912"/>
          </a:xfrm>
          <a:prstGeom prst="roundRect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93024" y="1737360"/>
            <a:ext cx="438912" cy="438912"/>
          </a:xfrm>
          <a:prstGeom prst="roundRect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93024" y="2322576"/>
            <a:ext cx="438912" cy="438912"/>
          </a:xfrm>
          <a:prstGeom prst="roundRect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93024" y="2907791"/>
            <a:ext cx="438912" cy="438912"/>
          </a:xfrm>
          <a:prstGeom prst="round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93024" y="3493008"/>
            <a:ext cx="438912" cy="438912"/>
          </a:xfrm>
          <a:prstGeom prst="roundRect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78240" y="1152144"/>
            <a:ext cx="438912" cy="438912"/>
          </a:xfrm>
          <a:prstGeom prst="roundRect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778240" y="1737360"/>
            <a:ext cx="438912" cy="438912"/>
          </a:xfrm>
          <a:prstGeom prst="roundRect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78240" y="2322576"/>
            <a:ext cx="438912" cy="438912"/>
          </a:xfrm>
          <a:prstGeom prst="round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78240" y="2907791"/>
            <a:ext cx="438912" cy="438912"/>
          </a:xfrm>
          <a:prstGeom prst="roundRect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78240" y="3493008"/>
            <a:ext cx="438912" cy="438912"/>
          </a:xfrm>
          <a:prstGeom prst="roundRect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63456" y="1152144"/>
            <a:ext cx="438912" cy="438912"/>
          </a:xfrm>
          <a:prstGeom prst="roundRect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63456" y="1737360"/>
            <a:ext cx="438912" cy="438912"/>
          </a:xfrm>
          <a:prstGeom prst="round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63456" y="2322576"/>
            <a:ext cx="438912" cy="438912"/>
          </a:xfrm>
          <a:prstGeom prst="roundRect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63456" y="2907791"/>
            <a:ext cx="438912" cy="438912"/>
          </a:xfrm>
          <a:prstGeom prst="roundRect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63456" y="3493008"/>
            <a:ext cx="438912" cy="438912"/>
          </a:xfrm>
          <a:prstGeom prst="roundRect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48672" y="1152144"/>
            <a:ext cx="438912" cy="438912"/>
          </a:xfrm>
          <a:prstGeom prst="round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948672" y="1737360"/>
            <a:ext cx="438912" cy="438912"/>
          </a:xfrm>
          <a:prstGeom prst="roundRect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948672" y="2322576"/>
            <a:ext cx="438912" cy="438912"/>
          </a:xfrm>
          <a:prstGeom prst="roundRect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948672" y="2907791"/>
            <a:ext cx="438912" cy="438912"/>
          </a:xfrm>
          <a:prstGeom prst="roundRect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948672" y="3493008"/>
            <a:ext cx="438912" cy="438912"/>
          </a:xfrm>
          <a:prstGeom prst="round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33888" y="1152144"/>
            <a:ext cx="438912" cy="438912"/>
          </a:xfrm>
          <a:prstGeom prst="roundRect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533888" y="1737360"/>
            <a:ext cx="438912" cy="438912"/>
          </a:xfrm>
          <a:prstGeom prst="roundRect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533888" y="2322576"/>
            <a:ext cx="438912" cy="438912"/>
          </a:xfrm>
          <a:prstGeom prst="roundRect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533888" y="2907791"/>
            <a:ext cx="438912" cy="438912"/>
          </a:xfrm>
          <a:prstGeom prst="round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533888" y="3493008"/>
            <a:ext cx="438912" cy="438912"/>
          </a:xfrm>
          <a:prstGeom prst="roundRect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75320" y="1856231"/>
            <a:ext cx="2377440" cy="1938528"/>
          </a:xfrm>
          <a:prstGeom prst="rect">
            <a:avLst/>
          </a:prstGeom>
          <a:noFill/>
          <a:ln w="38100">
            <a:solidFill>
              <a:srgbClr val="128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75320" y="1517904"/>
            <a:ext cx="1389888" cy="347472"/>
          </a:xfrm>
          <a:prstGeom prst="roundRect">
            <a:avLst/>
          </a:prstGeom>
          <a:solidFill>
            <a:srgbClr val="12894C"/>
          </a:solidFill>
          <a:ln>
            <a:solidFill>
              <a:srgbClr val="128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39328" y="1577339"/>
            <a:ext cx="126187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 i="0">
                <a:solidFill>
                  <a:srgbClr val="16263D"/>
                </a:solidFill>
                <a:latin typeface="Noto Sans"/>
              </a:rPr>
              <a:t>APPLE  0.94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" y="676656"/>
            <a:ext cx="6217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08491"/>
                </a:solidFill>
                <a:latin typeface="Noto Sans"/>
              </a:rPr>
              <a:t>MACHINE LEARNING · COMPUTER VISION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" y="1389888"/>
            <a:ext cx="6492240" cy="1828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900" b="1" i="0">
                <a:solidFill>
                  <a:srgbClr val="16263D"/>
                </a:solidFill>
                <a:latin typeface="Noto Sans"/>
              </a:rPr>
              <a:t>TÌM HIỂU
YOLOv8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3410712"/>
            <a:ext cx="6217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52647C"/>
                </a:solidFill>
                <a:latin typeface="Noto Sans"/>
              </a:rPr>
              <a:t>Kiến trúc · Huấn luyện · Đánh giá · Triển khai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" y="4041648"/>
            <a:ext cx="5303520" cy="13715"/>
          </a:xfrm>
          <a:prstGeom prst="rect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4279392"/>
            <a:ext cx="51206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2894C"/>
                </a:solidFill>
                <a:latin typeface="Noto Sans"/>
              </a:rPr>
              <a:t>Ứng dụng minh họa: Fruit Detection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606247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52647C"/>
                </a:solidFill>
                <a:latin typeface="Noto Sans"/>
              </a:rPr>
              <a:t>Group Project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1360" y="-256032"/>
            <a:ext cx="1645920" cy="960120"/>
          </a:xfrm>
          <a:prstGeom prst="round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20040" y="6263640"/>
            <a:ext cx="1920240" cy="822960"/>
          </a:xfrm>
          <a:prstGeom prst="roundRect">
            <a:avLst/>
          </a:prstGeom>
          <a:solidFill>
            <a:srgbClr val="644BC4"/>
          </a:solidFill>
          <a:ln>
            <a:solidFill>
              <a:srgbClr val="644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6217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491"/>
                </a:solidFill>
                <a:latin typeface="Noto Sans"/>
              </a:rPr>
              <a:t>01 · BỐI CẢNH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16263D"/>
                </a:solidFill>
                <a:latin typeface="Noto Sans"/>
              </a:rPr>
              <a:t>YOLO giải quyết bài toán gì?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7664" y="457200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52647C"/>
                </a:solidFill>
                <a:latin typeface="Noto Sans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35024"/>
            <a:ext cx="10863072" cy="13716"/>
          </a:xfrm>
          <a:prstGeom prst="rect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682496"/>
            <a:ext cx="5532120" cy="4315968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1920240"/>
            <a:ext cx="5093208" cy="3749039"/>
          </a:xfrm>
          <a:prstGeom prst="roundRect">
            <a:avLst/>
          </a:prstGeom>
          <a:solidFill>
            <a:srgbClr val="E1F0E6"/>
          </a:solidFill>
          <a:ln>
            <a:solidFill>
              <a:srgbClr val="E1F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17320" y="2560320"/>
            <a:ext cx="1170432" cy="1170432"/>
          </a:xfrm>
          <a:prstGeom prst="ellipse">
            <a:avLst/>
          </a:prstGeom>
          <a:solidFill>
            <a:srgbClr val="C53546"/>
          </a:solidFill>
          <a:ln>
            <a:solidFill>
              <a:srgbClr val="C5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07592" y="2331720"/>
            <a:ext cx="1389888" cy="1517904"/>
          </a:xfrm>
          <a:prstGeom prst="rect">
            <a:avLst/>
          </a:prstGeom>
          <a:noFill/>
          <a:ln w="25400"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07592" y="2066543"/>
            <a:ext cx="1673352" cy="347472"/>
          </a:xfrm>
          <a:prstGeom prst="round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125979"/>
            <a:ext cx="1545336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 i="0">
                <a:solidFill>
                  <a:srgbClr val="16263D"/>
                </a:solidFill>
                <a:latin typeface="Noto Sans"/>
              </a:rPr>
              <a:t>APPLE 0.94</a:t>
            </a:r>
          </a:p>
        </p:txBody>
      </p:sp>
      <p:sp>
        <p:nvSpPr>
          <p:cNvPr id="14" name="Oval 13"/>
          <p:cNvSpPr/>
          <p:nvPr/>
        </p:nvSpPr>
        <p:spPr>
          <a:xfrm>
            <a:off x="3200400" y="3273552"/>
            <a:ext cx="960120" cy="960120"/>
          </a:xfrm>
          <a:prstGeom prst="ellipse">
            <a:avLst/>
          </a:prstGeom>
          <a:solidFill>
            <a:srgbClr val="BE7000"/>
          </a:solidFill>
          <a:ln>
            <a:solidFill>
              <a:srgbClr val="BE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90672" y="3044952"/>
            <a:ext cx="1179576" cy="1307592"/>
          </a:xfrm>
          <a:prstGeom prst="rect">
            <a:avLst/>
          </a:prstGeom>
          <a:noFill/>
          <a:ln w="25400"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90672" y="2779776"/>
            <a:ext cx="1463040" cy="347472"/>
          </a:xfrm>
          <a:prstGeom prst="round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79" y="2839212"/>
            <a:ext cx="1335024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 i="0">
                <a:solidFill>
                  <a:srgbClr val="16263D"/>
                </a:solidFill>
                <a:latin typeface="Noto Sans"/>
              </a:rPr>
              <a:t>ORANGE 0.91</a:t>
            </a:r>
          </a:p>
        </p:txBody>
      </p:sp>
      <p:sp>
        <p:nvSpPr>
          <p:cNvPr id="18" name="Oval 17"/>
          <p:cNvSpPr/>
          <p:nvPr/>
        </p:nvSpPr>
        <p:spPr>
          <a:xfrm>
            <a:off x="4389120" y="2304288"/>
            <a:ext cx="841248" cy="841248"/>
          </a:xfrm>
          <a:prstGeom prst="ellipse">
            <a:avLst/>
          </a:prstGeom>
          <a:solidFill>
            <a:srgbClr val="12894C"/>
          </a:solidFill>
          <a:ln>
            <a:solidFill>
              <a:srgbClr val="128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79392" y="2075688"/>
            <a:ext cx="1060704" cy="1188720"/>
          </a:xfrm>
          <a:prstGeom prst="rect">
            <a:avLst/>
          </a:prstGeom>
          <a:noFill/>
          <a:ln w="25400"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79392" y="1810512"/>
            <a:ext cx="1344168" cy="347472"/>
          </a:xfrm>
          <a:prstGeom prst="round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869948"/>
            <a:ext cx="121615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 i="0">
                <a:solidFill>
                  <a:srgbClr val="16263D"/>
                </a:solidFill>
                <a:latin typeface="Noto Sans"/>
              </a:rPr>
              <a:t>LIME 0.87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5705856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52647C"/>
                </a:solidFill>
                <a:latin typeface="Noto Sans"/>
              </a:rPr>
              <a:t>ẢNH ĐẦU VÀO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7688" y="1810512"/>
            <a:ext cx="4736592" cy="43891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900" b="1">
                <a:solidFill>
                  <a:srgbClr val="008491"/>
                </a:solidFill>
                <a:latin typeface="Noto Sans"/>
              </a:rPr>
              <a:t>Một lần suy luận</a:t>
            </a:r>
            <a:r>
              <a:rPr sz="1900" b="0">
                <a:solidFill>
                  <a:srgbClr val="16263D"/>
                </a:solidFill>
                <a:latin typeface="Noto Sans"/>
              </a:rPr>
              <a:t> → nhiều dự đoán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7688" y="2404872"/>
            <a:ext cx="4736592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647688" y="2404872"/>
            <a:ext cx="50292" cy="877824"/>
          </a:xfrm>
          <a:prstGeom prst="round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48855" y="2569464"/>
            <a:ext cx="3657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08491"/>
                </a:solidFill>
                <a:latin typeface="Noto Sans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79" y="2560320"/>
            <a:ext cx="3913631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6263D"/>
                </a:solidFill>
                <a:latin typeface="Noto Sans"/>
              </a:rPr>
              <a:t>Vị trí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063239"/>
            <a:ext cx="4233672" cy="5486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2647C"/>
                </a:solidFill>
                <a:latin typeface="Noto Sans"/>
              </a:rPr>
              <a:t>Bounding box: x, y, width, height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47688" y="3465576"/>
            <a:ext cx="4736592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47688" y="3465576"/>
            <a:ext cx="50292" cy="877824"/>
          </a:xfrm>
          <a:prstGeom prst="roundRect">
            <a:avLst/>
          </a:prstGeom>
          <a:solidFill>
            <a:srgbClr val="12894C"/>
          </a:solidFill>
          <a:ln>
            <a:solidFill>
              <a:srgbClr val="128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48855" y="3630168"/>
            <a:ext cx="3657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2894C"/>
                </a:solidFill>
                <a:latin typeface="Noto Sans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79" y="3621024"/>
            <a:ext cx="3913631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6263D"/>
                </a:solidFill>
                <a:latin typeface="Noto Sans"/>
              </a:rPr>
              <a:t>Phân loại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123944"/>
            <a:ext cx="4233672" cy="5486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2647C"/>
                </a:solidFill>
                <a:latin typeface="Noto Sans"/>
              </a:rPr>
              <a:t>Tên lớp: apple, orange, banana…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47688" y="4526280"/>
            <a:ext cx="4736592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647688" y="4526280"/>
            <a:ext cx="50292" cy="877824"/>
          </a:xfrm>
          <a:prstGeom prst="roundRect">
            <a:avLst/>
          </a:prstGeom>
          <a:solidFill>
            <a:srgbClr val="BE7000"/>
          </a:solidFill>
          <a:ln>
            <a:solidFill>
              <a:srgbClr val="BE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48855" y="4690872"/>
            <a:ext cx="3657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BE7000"/>
                </a:solidFill>
                <a:latin typeface="Noto Sans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79" y="4681728"/>
            <a:ext cx="3913631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6263D"/>
                </a:solidFill>
                <a:latin typeface="Noto Sans"/>
              </a:rPr>
              <a:t>Độ tin cậy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5184648"/>
            <a:ext cx="4233672" cy="5486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2647C"/>
                </a:solidFill>
                <a:latin typeface="Noto Sans"/>
              </a:rPr>
              <a:t>Confidence score cho từng dự đoán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510528"/>
            <a:ext cx="9966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52647C"/>
                </a:solidFill>
                <a:latin typeface="Noto Sans"/>
              </a:rPr>
              <a:t>Nguồn: Ultralytics YOLOv8 documentation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1320" y="6492240"/>
            <a:ext cx="960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52647C"/>
                </a:solidFill>
                <a:latin typeface="Noto Sans"/>
              </a:rPr>
              <a:t>YOLOv8  ·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1360" y="-256032"/>
            <a:ext cx="1645920" cy="960120"/>
          </a:xfrm>
          <a:prstGeom prst="round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20040" y="6263640"/>
            <a:ext cx="1920240" cy="822960"/>
          </a:xfrm>
          <a:prstGeom prst="roundRect">
            <a:avLst/>
          </a:prstGeom>
          <a:solidFill>
            <a:srgbClr val="644BC4"/>
          </a:solidFill>
          <a:ln>
            <a:solidFill>
              <a:srgbClr val="644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6217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491"/>
                </a:solidFill>
                <a:latin typeface="Noto Sans"/>
              </a:rPr>
              <a:t>02 · TỔNG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16263D"/>
                </a:solidFill>
                <a:latin typeface="Noto Sans"/>
              </a:rPr>
              <a:t>YOLOv8: một nền tảng thị giác máy tính thống nhất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7664" y="457200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52647C"/>
                </a:solidFill>
                <a:latin typeface="Noto Sans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35024"/>
            <a:ext cx="10863072" cy="13716"/>
          </a:xfrm>
          <a:prstGeom prst="rect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00784"/>
            <a:ext cx="1280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52647C"/>
                </a:solidFill>
                <a:latin typeface="Noto Sans"/>
              </a:rPr>
              <a:t>Ra mắt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84248"/>
            <a:ext cx="20116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08491"/>
                </a:solidFill>
                <a:latin typeface="Noto Sans"/>
              </a:rPr>
              <a:t>01 / 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532888"/>
            <a:ext cx="22860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6263D"/>
                </a:solidFill>
                <a:latin typeface="Noto Sans"/>
              </a:rPr>
              <a:t>Phát triển bởi Ultralytics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54096" y="1700784"/>
            <a:ext cx="13716" cy="4169663"/>
          </a:xfrm>
          <a:prstGeom prst="rect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38144" y="1719072"/>
            <a:ext cx="3767328" cy="1490472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38144" y="1719072"/>
            <a:ext cx="50292" cy="1490472"/>
          </a:xfrm>
          <a:prstGeom prst="round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94176" y="1874519"/>
            <a:ext cx="32644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6263D"/>
                </a:solidFill>
                <a:latin typeface="Noto Sans"/>
              </a:rPr>
              <a:t>Anchor-free split head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4176" y="2377439"/>
            <a:ext cx="3264408" cy="66751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2647C"/>
                </a:solidFill>
                <a:latin typeface="Noto Sans"/>
              </a:rPr>
              <a:t>Dự đoán trực tiếp tại các điểm đặc trưng; tách nhánh hồi quy box và phân loại.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1719072"/>
            <a:ext cx="3767328" cy="1490472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52360" y="1719072"/>
            <a:ext cx="50292" cy="1490472"/>
          </a:xfrm>
          <a:prstGeom prst="roundRect">
            <a:avLst/>
          </a:prstGeom>
          <a:solidFill>
            <a:srgbClr val="12894C"/>
          </a:solidFill>
          <a:ln>
            <a:solidFill>
              <a:srgbClr val="128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08392" y="1874519"/>
            <a:ext cx="32644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6263D"/>
                </a:solidFill>
                <a:latin typeface="Noto Sans"/>
              </a:rPr>
              <a:t>Accuracy ↔ Speed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8392" y="2377439"/>
            <a:ext cx="3264408" cy="66751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2647C"/>
                </a:solidFill>
                <a:latin typeface="Noto Sans"/>
              </a:rPr>
              <a:t>Nhiều kích cỡ model để chọn theo GPU, latency và yêu cầu độ chính xác.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38144" y="3456432"/>
            <a:ext cx="3767328" cy="1490472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38144" y="3456432"/>
            <a:ext cx="50292" cy="1490472"/>
          </a:xfrm>
          <a:prstGeom prst="roundRect">
            <a:avLst/>
          </a:prstGeom>
          <a:solidFill>
            <a:srgbClr val="644BC4"/>
          </a:solidFill>
          <a:ln>
            <a:solidFill>
              <a:srgbClr val="644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94176" y="3611879"/>
            <a:ext cx="32644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6263D"/>
                </a:solidFill>
                <a:latin typeface="Noto Sans"/>
              </a:rPr>
              <a:t>Một API, nhiều tác vụ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4114800"/>
            <a:ext cx="3264408" cy="66751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2647C"/>
                </a:solidFill>
                <a:latin typeface="Noto Sans"/>
              </a:rPr>
              <a:t>Detect · Segment · Classify · Pose · OBB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3456432"/>
            <a:ext cx="3767328" cy="1490472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3456432"/>
            <a:ext cx="50292" cy="1490472"/>
          </a:xfrm>
          <a:prstGeom prst="roundRect">
            <a:avLst/>
          </a:prstGeom>
          <a:solidFill>
            <a:srgbClr val="BE7000"/>
          </a:solidFill>
          <a:ln>
            <a:solidFill>
              <a:srgbClr val="BE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08392" y="3611879"/>
            <a:ext cx="32644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6263D"/>
                </a:solidFill>
                <a:latin typeface="Noto Sans"/>
              </a:rPr>
              <a:t>Pipeline end-to-end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08392" y="4114800"/>
            <a:ext cx="3264408" cy="66751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2647C"/>
                </a:solidFill>
                <a:latin typeface="Noto Sans"/>
              </a:rPr>
              <a:t>Train · Validate · Predict · Export trong cùng hệ sinh thái Ultralytics.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56432" y="5330952"/>
            <a:ext cx="1463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08491"/>
                </a:solidFill>
                <a:latin typeface="Noto Sans"/>
              </a:rPr>
              <a:t>Điểm cần nhớ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5276088"/>
            <a:ext cx="63550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6263D"/>
                </a:solidFill>
                <a:latin typeface="Noto Sans"/>
              </a:rPr>
              <a:t>YOLOv8 không chỉ là một model detection — đây là một họ model và bộ công cụ triển khai.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510528"/>
            <a:ext cx="9966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52647C"/>
                </a:solidFill>
                <a:latin typeface="Noto Sans"/>
              </a:rPr>
              <a:t>Nguồn: docs.ultralytics.com/models/yolov8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61320" y="6492240"/>
            <a:ext cx="960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52647C"/>
                </a:solidFill>
                <a:latin typeface="Noto Sans"/>
              </a:rPr>
              <a:t>YOLOv8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1360" y="-256032"/>
            <a:ext cx="1645920" cy="960120"/>
          </a:xfrm>
          <a:prstGeom prst="round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20040" y="6263640"/>
            <a:ext cx="1920240" cy="822960"/>
          </a:xfrm>
          <a:prstGeom prst="roundRect">
            <a:avLst/>
          </a:prstGeom>
          <a:solidFill>
            <a:srgbClr val="644BC4"/>
          </a:solidFill>
          <a:ln>
            <a:solidFill>
              <a:srgbClr val="644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6217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491"/>
                </a:solidFill>
                <a:latin typeface="Noto Sans"/>
              </a:rPr>
              <a:t>03 · KIẾN TRÚC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16263D"/>
                </a:solidFill>
                <a:latin typeface="Noto Sans"/>
              </a:rPr>
              <a:t>Backbone → Neck → 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7664" y="457200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52647C"/>
                </a:solidFill>
                <a:latin typeface="Noto Sans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35024"/>
            <a:ext cx="10863072" cy="13716"/>
          </a:xfrm>
          <a:prstGeom prst="rect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65376"/>
            <a:ext cx="3090672" cy="3547872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7552" y="2121408"/>
            <a:ext cx="1216152" cy="347472"/>
          </a:xfrm>
          <a:prstGeom prst="round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80844"/>
            <a:ext cx="1088136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 i="0">
                <a:solidFill>
                  <a:srgbClr val="16263D"/>
                </a:solidFill>
                <a:latin typeface="Noto Sans"/>
              </a:rPr>
              <a:t>BACKBONE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697480"/>
            <a:ext cx="257860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16263D"/>
                </a:solidFill>
                <a:latin typeface="Noto Sans"/>
              </a:rPr>
              <a:t>Trích xuất đặc trưng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300984"/>
            <a:ext cx="2542032" cy="1700784"/>
          </a:xfrm>
          <a:prstGeom prst="rect">
            <a:avLst/>
          </a:prstGeom>
          <a:noFill/>
        </p:spPr>
        <p:txBody>
          <a:bodyPr wrap="square" lIns="18288" rIns="18288" t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008491"/>
                </a:solidFill>
                <a:latin typeface="Noto Sans"/>
              </a:rPr>
              <a:t>●  </a:t>
            </a:r>
            <a:r>
              <a:rPr sz="1300">
                <a:solidFill>
                  <a:srgbClr val="52647C"/>
                </a:solidFill>
                <a:latin typeface="Noto Sans"/>
              </a:rPr>
              <a:t>Conv + C2f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008491"/>
                </a:solidFill>
                <a:latin typeface="Noto Sans"/>
              </a:rPr>
              <a:t>●  </a:t>
            </a:r>
            <a:r>
              <a:rPr sz="1300">
                <a:solidFill>
                  <a:srgbClr val="52647C"/>
                </a:solidFill>
                <a:latin typeface="Noto Sans"/>
              </a:rPr>
              <a:t>SPPF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008491"/>
                </a:solidFill>
                <a:latin typeface="Noto Sans"/>
              </a:rPr>
              <a:t>●  </a:t>
            </a:r>
            <a:r>
              <a:rPr sz="1300">
                <a:solidFill>
                  <a:srgbClr val="52647C"/>
                </a:solidFill>
                <a:latin typeface="Noto Sans"/>
              </a:rPr>
              <a:t>Feature maps đa tỉ lệ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992624"/>
            <a:ext cx="254203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8491"/>
                </a:solidFill>
                <a:latin typeface="Noto Sans"/>
              </a:rPr>
              <a:t>FEATURE 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865376"/>
            <a:ext cx="3090672" cy="3547872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82312" y="2121408"/>
            <a:ext cx="1216152" cy="347472"/>
          </a:xfrm>
          <a:prstGeom prst="roundRect">
            <a:avLst/>
          </a:prstGeom>
          <a:solidFill>
            <a:srgbClr val="12894C"/>
          </a:solidFill>
          <a:ln>
            <a:solidFill>
              <a:srgbClr val="128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2180844"/>
            <a:ext cx="1088136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 i="0">
                <a:solidFill>
                  <a:srgbClr val="16263D"/>
                </a:solidFill>
                <a:latin typeface="Noto Sans"/>
              </a:rPr>
              <a:t>NECK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2697480"/>
            <a:ext cx="257860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16263D"/>
                </a:solidFill>
                <a:latin typeface="Noto Sans"/>
              </a:rPr>
              <a:t>Hợp nhất thông tin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300984"/>
            <a:ext cx="2542032" cy="1700784"/>
          </a:xfrm>
          <a:prstGeom prst="rect">
            <a:avLst/>
          </a:prstGeom>
          <a:noFill/>
        </p:spPr>
        <p:txBody>
          <a:bodyPr wrap="square" lIns="18288" rIns="18288" t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12894C"/>
                </a:solidFill>
                <a:latin typeface="Noto Sans"/>
              </a:rPr>
              <a:t>●  </a:t>
            </a:r>
            <a:r>
              <a:rPr sz="1300">
                <a:solidFill>
                  <a:srgbClr val="52647C"/>
                </a:solidFill>
                <a:latin typeface="Noto Sans"/>
              </a:rPr>
              <a:t>FPN: top-down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12894C"/>
                </a:solidFill>
                <a:latin typeface="Noto Sans"/>
              </a:rPr>
              <a:t>●  </a:t>
            </a:r>
            <a:r>
              <a:rPr sz="1300">
                <a:solidFill>
                  <a:srgbClr val="52647C"/>
                </a:solidFill>
                <a:latin typeface="Noto Sans"/>
              </a:rPr>
              <a:t>PAN: bottom-up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12894C"/>
                </a:solidFill>
                <a:latin typeface="Noto Sans"/>
              </a:rPr>
              <a:t>●  </a:t>
            </a:r>
            <a:r>
              <a:rPr sz="1300">
                <a:solidFill>
                  <a:srgbClr val="52647C"/>
                </a:solidFill>
                <a:latin typeface="Noto Sans"/>
              </a:rPr>
              <a:t>P3 · P4 · P5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4992624"/>
            <a:ext cx="254203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12894C"/>
                </a:solidFill>
                <a:latin typeface="Noto Sans"/>
              </a:rPr>
              <a:t>FEATURE 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865376"/>
            <a:ext cx="3090672" cy="3547872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77072" y="2121408"/>
            <a:ext cx="1216152" cy="347472"/>
          </a:xfrm>
          <a:prstGeom prst="roundRect">
            <a:avLst/>
          </a:prstGeom>
          <a:solidFill>
            <a:srgbClr val="644BC4"/>
          </a:solidFill>
          <a:ln>
            <a:solidFill>
              <a:srgbClr val="644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1080" y="2180844"/>
            <a:ext cx="1088136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 i="0">
                <a:solidFill>
                  <a:srgbClr val="16263D"/>
                </a:solidFill>
                <a:latin typeface="Noto Sans"/>
              </a:rPr>
              <a:t>HEAD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7072" y="2697480"/>
            <a:ext cx="257860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16263D"/>
                </a:solidFill>
                <a:latin typeface="Noto Sans"/>
              </a:rPr>
              <a:t>Sinh dự đoán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300984"/>
            <a:ext cx="2542032" cy="1700784"/>
          </a:xfrm>
          <a:prstGeom prst="rect">
            <a:avLst/>
          </a:prstGeom>
          <a:noFill/>
        </p:spPr>
        <p:txBody>
          <a:bodyPr wrap="square" lIns="18288" rIns="18288" t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644BC4"/>
                </a:solidFill>
                <a:latin typeface="Noto Sans"/>
              </a:rPr>
              <a:t>●  </a:t>
            </a:r>
            <a:r>
              <a:rPr sz="1300">
                <a:solidFill>
                  <a:srgbClr val="52647C"/>
                </a:solidFill>
                <a:latin typeface="Noto Sans"/>
              </a:rPr>
              <a:t>Anchor-free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644BC4"/>
                </a:solidFill>
                <a:latin typeface="Noto Sans"/>
              </a:rPr>
              <a:t>●  </a:t>
            </a:r>
            <a:r>
              <a:rPr sz="1300">
                <a:solidFill>
                  <a:srgbClr val="52647C"/>
                </a:solidFill>
                <a:latin typeface="Noto Sans"/>
              </a:rPr>
              <a:t>Box / Class tách nhánh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644BC4"/>
                </a:solidFill>
                <a:latin typeface="Noto Sans"/>
              </a:rPr>
              <a:t>●  </a:t>
            </a:r>
            <a:r>
              <a:rPr sz="1300">
                <a:solidFill>
                  <a:srgbClr val="52647C"/>
                </a:solidFill>
                <a:latin typeface="Noto Sans"/>
              </a:rPr>
              <a:t>DFL + IoU-based loss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4992624"/>
            <a:ext cx="254203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44BC4"/>
                </a:solidFill>
                <a:latin typeface="Noto Sans"/>
              </a:rPr>
              <a:t>FEATURE FLOW</a:t>
            </a:r>
          </a:p>
        </p:txBody>
      </p:sp>
      <p:sp>
        <p:nvSpPr>
          <p:cNvPr id="26" name="Chevron 25"/>
          <p:cNvSpPr/>
          <p:nvPr/>
        </p:nvSpPr>
        <p:spPr>
          <a:xfrm>
            <a:off x="3959352" y="3182112"/>
            <a:ext cx="384048" cy="640080"/>
          </a:xfrm>
          <a:prstGeom prst="chevron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evron 26"/>
          <p:cNvSpPr/>
          <p:nvPr/>
        </p:nvSpPr>
        <p:spPr>
          <a:xfrm>
            <a:off x="7754112" y="3182112"/>
            <a:ext cx="384048" cy="640080"/>
          </a:xfrm>
          <a:prstGeom prst="chevron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733288"/>
            <a:ext cx="1037844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16263D"/>
                </a:solidFill>
                <a:latin typeface="Noto Sans"/>
              </a:rPr>
              <a:t>C2f giúp duy trì dòng gradient và tái sử dụng đặc trưng hiệu quả hơn block C3 của YOLOv5.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510528"/>
            <a:ext cx="9966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52647C"/>
                </a:solidFill>
                <a:latin typeface="Noto Sans"/>
              </a:rPr>
              <a:t>Nguồn: Ultralytics YOLO Architecture Guide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6492240"/>
            <a:ext cx="960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52647C"/>
                </a:solidFill>
                <a:latin typeface="Noto Sans"/>
              </a:rPr>
              <a:t>YOLOv8  ·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1360" y="-256032"/>
            <a:ext cx="1645920" cy="960120"/>
          </a:xfrm>
          <a:prstGeom prst="round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20040" y="6263640"/>
            <a:ext cx="1920240" cy="822960"/>
          </a:xfrm>
          <a:prstGeom prst="roundRect">
            <a:avLst/>
          </a:prstGeom>
          <a:solidFill>
            <a:srgbClr val="644BC4"/>
          </a:solidFill>
          <a:ln>
            <a:solidFill>
              <a:srgbClr val="644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6217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491"/>
                </a:solidFill>
                <a:latin typeface="Noto Sans"/>
              </a:rPr>
              <a:t>04 · CẢI TIẾN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16263D"/>
                </a:solidFill>
                <a:latin typeface="Noto Sans"/>
              </a:rPr>
              <a:t>YOLOv8 thay đổi gì so với YOLOv5?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7664" y="457200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52647C"/>
                </a:solidFill>
                <a:latin typeface="Noto Sans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35024"/>
            <a:ext cx="10863072" cy="13716"/>
          </a:xfrm>
          <a:prstGeom prst="rect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38528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491"/>
                </a:solidFill>
                <a:latin typeface="Noto Sans"/>
              </a:rPr>
              <a:t>THÀNH PHẦN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7328" y="1938528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491"/>
                </a:solidFill>
                <a:latin typeface="Noto Sans"/>
              </a:rPr>
              <a:t>YOLOv5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4264" y="1938528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491"/>
                </a:solidFill>
                <a:latin typeface="Noto Sans"/>
              </a:rPr>
              <a:t>YOLOv8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17736" y="1938528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491"/>
                </a:solidFill>
                <a:latin typeface="Noto Sans"/>
              </a:rPr>
              <a:t>Ý NGHĨA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" y="2322576"/>
            <a:ext cx="108082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450592"/>
            <a:ext cx="2487168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6263D"/>
                </a:solidFill>
                <a:latin typeface="Noto Sans"/>
              </a:rPr>
              <a:t>Backbone block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2450592"/>
            <a:ext cx="23317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52647C"/>
                </a:solidFill>
                <a:latin typeface="Noto Sans"/>
              </a:rPr>
              <a:t>C3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4264" y="2450592"/>
            <a:ext cx="214884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2894C"/>
                </a:solidFill>
                <a:latin typeface="Noto Sans"/>
              </a:rPr>
              <a:t>C2f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17736" y="2450592"/>
            <a:ext cx="1975104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52647C"/>
                </a:solidFill>
                <a:latin typeface="Noto Sans"/>
              </a:rPr>
              <a:t>Dòng gradient phong phú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" y="3090672"/>
            <a:ext cx="10808208" cy="658368"/>
          </a:xfrm>
          <a:prstGeom prst="roundRect">
            <a:avLst/>
          </a:prstGeom>
          <a:solidFill>
            <a:srgbClr val="EEF3F9"/>
          </a:solidFill>
          <a:ln>
            <a:solidFill>
              <a:srgbClr val="EE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218688"/>
            <a:ext cx="2487168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6263D"/>
                </a:solidFill>
                <a:latin typeface="Noto Sans"/>
              </a:rPr>
              <a:t>Detection head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7328" y="3218688"/>
            <a:ext cx="23317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52647C"/>
                </a:solidFill>
                <a:latin typeface="Noto Sans"/>
              </a:rPr>
              <a:t>Anchor-based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84264" y="3218688"/>
            <a:ext cx="214884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2894C"/>
                </a:solidFill>
                <a:latin typeface="Noto Sans"/>
              </a:rPr>
              <a:t>Anchor-free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7736" y="3218688"/>
            <a:ext cx="1975104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52647C"/>
                </a:solidFill>
                <a:latin typeface="Noto Sans"/>
              </a:rPr>
              <a:t>Bớt bước cấu hình anchor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" y="3858768"/>
            <a:ext cx="108082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986784"/>
            <a:ext cx="2487168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6263D"/>
                </a:solidFill>
                <a:latin typeface="Noto Sans"/>
              </a:rPr>
              <a:t>Nhánh dự đoán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7328" y="3986784"/>
            <a:ext cx="23317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52647C"/>
                </a:solidFill>
                <a:latin typeface="Noto Sans"/>
              </a:rPr>
              <a:t>Gắn kết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4264" y="3986784"/>
            <a:ext cx="214884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2894C"/>
                </a:solidFill>
                <a:latin typeface="Noto Sans"/>
              </a:rPr>
              <a:t>Tách box / class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7736" y="3986784"/>
            <a:ext cx="1975104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52647C"/>
                </a:solidFill>
                <a:latin typeface="Noto Sans"/>
              </a:rPr>
              <a:t>Chuyên biệt hóa nhiệm vụ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626864"/>
            <a:ext cx="10808208" cy="658368"/>
          </a:xfrm>
          <a:prstGeom prst="roundRect">
            <a:avLst/>
          </a:prstGeom>
          <a:solidFill>
            <a:srgbClr val="EEF3F9"/>
          </a:solidFill>
          <a:ln>
            <a:solidFill>
              <a:srgbClr val="EE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754880"/>
            <a:ext cx="2487168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6263D"/>
                </a:solidFill>
                <a:latin typeface="Noto Sans"/>
              </a:rPr>
              <a:t>Box regression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67328" y="4754880"/>
            <a:ext cx="23317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52647C"/>
                </a:solidFill>
                <a:latin typeface="Noto Sans"/>
              </a:rPr>
              <a:t>IoU-based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84264" y="4754880"/>
            <a:ext cx="214884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2894C"/>
                </a:solidFill>
                <a:latin typeface="Noto Sans"/>
              </a:rPr>
              <a:t>DFL + IoU-based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17736" y="4754880"/>
            <a:ext cx="1975104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52647C"/>
                </a:solidFill>
                <a:latin typeface="Noto Sans"/>
              </a:rPr>
              <a:t>Định vị box chi tiết hơn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4944" y="5394960"/>
            <a:ext cx="108082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522976"/>
            <a:ext cx="2487168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6263D"/>
                </a:solidFill>
                <a:latin typeface="Noto Sans"/>
              </a:rPr>
              <a:t>Workflow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67328" y="5522976"/>
            <a:ext cx="23317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52647C"/>
                </a:solidFill>
                <a:latin typeface="Noto Sans"/>
              </a:rPr>
              <a:t>Repo riêng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84264" y="5522976"/>
            <a:ext cx="214884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2894C"/>
                </a:solidFill>
                <a:latin typeface="Noto Sans"/>
              </a:rPr>
              <a:t>API thống nhất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17736" y="5522976"/>
            <a:ext cx="1975104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52647C"/>
                </a:solidFill>
                <a:latin typeface="Noto Sans"/>
              </a:rPr>
              <a:t>Train → export thuận tiện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6126480"/>
            <a:ext cx="10533888" cy="274320"/>
          </a:xfrm>
          <a:prstGeom prst="round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2" y="6144768"/>
            <a:ext cx="1014984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16263D"/>
                </a:solidFill>
                <a:latin typeface="Noto Sans"/>
              </a:rPr>
              <a:t>Kết quả: pipeline đơn giản hơn, linh hoạt hơn và dễ chọn điểm cân bằng accuracy–latency.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510528"/>
            <a:ext cx="9966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52647C"/>
                </a:solidFill>
                <a:latin typeface="Noto Sans"/>
              </a:rPr>
              <a:t>Nguồn: Ultralytics YOLOv8 vs YOLOv5 comparison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1320" y="6492240"/>
            <a:ext cx="960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52647C"/>
                </a:solidFill>
                <a:latin typeface="Noto Sans"/>
              </a:rPr>
              <a:t>YOLOv8  ·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1360" y="-256032"/>
            <a:ext cx="1645920" cy="960120"/>
          </a:xfrm>
          <a:prstGeom prst="round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20040" y="6263640"/>
            <a:ext cx="1920240" cy="822960"/>
          </a:xfrm>
          <a:prstGeom prst="roundRect">
            <a:avLst/>
          </a:prstGeom>
          <a:solidFill>
            <a:srgbClr val="644BC4"/>
          </a:solidFill>
          <a:ln>
            <a:solidFill>
              <a:srgbClr val="644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6217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491"/>
                </a:solidFill>
                <a:latin typeface="Noto Sans"/>
              </a:rPr>
              <a:t>05 · LỰA CHỌN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16263D"/>
                </a:solidFill>
                <a:latin typeface="Noto Sans"/>
              </a:rPr>
              <a:t>Một kiến trúc, nhiều quy mô và tác vụ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7664" y="457200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52647C"/>
                </a:solidFill>
                <a:latin typeface="Noto Sans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35024"/>
            <a:ext cx="10863072" cy="13716"/>
          </a:xfrm>
          <a:prstGeom prst="rect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00784"/>
            <a:ext cx="11887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491"/>
                </a:solidFill>
                <a:latin typeface="Noto Sans"/>
              </a:rPr>
              <a:t>QUY MÔ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176272"/>
            <a:ext cx="1298448" cy="1152144"/>
          </a:xfrm>
          <a:prstGeom prst="round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322576"/>
            <a:ext cx="1298448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300" b="1" i="0">
                <a:solidFill>
                  <a:srgbClr val="16263D"/>
                </a:solidFill>
                <a:latin typeface="Noto Sans"/>
              </a:rPr>
              <a:t>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834639"/>
            <a:ext cx="129844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52647C"/>
                </a:solidFill>
                <a:latin typeface="Noto Sans"/>
              </a:rPr>
              <a:t>Nano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2176272"/>
            <a:ext cx="1481328" cy="1152144"/>
          </a:xfrm>
          <a:prstGeom prst="roundRect">
            <a:avLst/>
          </a:prstGeom>
          <a:solidFill>
            <a:srgbClr val="12894C"/>
          </a:solidFill>
          <a:ln>
            <a:solidFill>
              <a:srgbClr val="128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2322576"/>
            <a:ext cx="1481328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300" b="1" i="0">
                <a:solidFill>
                  <a:srgbClr val="16263D"/>
                </a:solidFill>
                <a:latin typeface="Noto Sans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834639"/>
            <a:ext cx="148132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52647C"/>
                </a:solidFill>
                <a:latin typeface="Noto Sans"/>
              </a:rPr>
              <a:t>Small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50208" y="2176272"/>
            <a:ext cx="1664208" cy="1152144"/>
          </a:xfrm>
          <a:prstGeom prst="roundRect">
            <a:avLst/>
          </a:prstGeom>
          <a:solidFill>
            <a:srgbClr val="BE7000"/>
          </a:solidFill>
          <a:ln>
            <a:solidFill>
              <a:srgbClr val="BE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0208" y="2322576"/>
            <a:ext cx="1664208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300" b="1" i="0">
                <a:solidFill>
                  <a:srgbClr val="16263D"/>
                </a:solidFill>
                <a:latin typeface="Noto Sans"/>
              </a:rPr>
              <a:t>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0208" y="2834639"/>
            <a:ext cx="166420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52647C"/>
                </a:solidFill>
                <a:latin typeface="Noto Sans"/>
              </a:rPr>
              <a:t>Medium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2176272"/>
            <a:ext cx="1865376" cy="1152144"/>
          </a:xfrm>
          <a:prstGeom prst="roundRect">
            <a:avLst/>
          </a:prstGeom>
          <a:solidFill>
            <a:srgbClr val="C53546"/>
          </a:solidFill>
          <a:ln>
            <a:solidFill>
              <a:srgbClr val="C5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2322576"/>
            <a:ext cx="1865376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300" b="1" i="0">
                <a:solidFill>
                  <a:srgbClr val="16263D"/>
                </a:solidFill>
                <a:latin typeface="Noto Sans"/>
              </a:rPr>
              <a:t>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2834639"/>
            <a:ext cx="186537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52647C"/>
                </a:solidFill>
                <a:latin typeface="Noto Sans"/>
              </a:rPr>
              <a:t>Large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2176272"/>
            <a:ext cx="2103120" cy="1152144"/>
          </a:xfrm>
          <a:prstGeom prst="roundRect">
            <a:avLst/>
          </a:prstGeom>
          <a:solidFill>
            <a:srgbClr val="644BC4"/>
          </a:solidFill>
          <a:ln>
            <a:solidFill>
              <a:srgbClr val="644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2322576"/>
            <a:ext cx="210312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300" b="1" i="0">
                <a:solidFill>
                  <a:srgbClr val="16263D"/>
                </a:solidFill>
                <a:latin typeface="Noto Sans"/>
              </a:rPr>
              <a:t>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834639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52647C"/>
                </a:solidFill>
                <a:latin typeface="Noto Sans"/>
              </a:rPr>
              <a:t>X-Large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566160"/>
            <a:ext cx="9281160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008491"/>
                </a:solidFill>
                <a:latin typeface="Noto Sans"/>
              </a:rPr>
              <a:t>nhanh / nhẹ</a:t>
            </a:r>
            <a:r>
              <a:rPr sz="1200" b="0">
                <a:solidFill>
                  <a:srgbClr val="52647C"/>
                </a:solidFill>
                <a:latin typeface="Noto Sans"/>
              </a:rPr>
              <a:t>   →   </a:t>
            </a:r>
            <a:r>
              <a:rPr sz="1200" b="1">
                <a:solidFill>
                  <a:srgbClr val="644BC4"/>
                </a:solidFill>
                <a:latin typeface="Noto Sans"/>
              </a:rPr>
              <a:t>chính xác / nặng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06240"/>
            <a:ext cx="20116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491"/>
                </a:solidFill>
                <a:latin typeface="Noto Sans"/>
              </a:rPr>
              <a:t>TÁC VỤ HỖ TRỢ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617720"/>
            <a:ext cx="1481328" cy="347472"/>
          </a:xfrm>
          <a:prstGeom prst="round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" y="4677156"/>
            <a:ext cx="135331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 i="0">
                <a:solidFill>
                  <a:srgbClr val="16263D"/>
                </a:solidFill>
                <a:latin typeface="Noto Sans"/>
              </a:rPr>
              <a:t>Detect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04872" y="4617720"/>
            <a:ext cx="1481328" cy="347472"/>
          </a:xfrm>
          <a:prstGeom prst="roundRect">
            <a:avLst/>
          </a:prstGeom>
          <a:solidFill>
            <a:srgbClr val="12894C"/>
          </a:solidFill>
          <a:ln>
            <a:solidFill>
              <a:srgbClr val="128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8879" y="4677156"/>
            <a:ext cx="135331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 i="0">
                <a:solidFill>
                  <a:srgbClr val="16263D"/>
                </a:solidFill>
                <a:latin typeface="Noto Sans"/>
              </a:rPr>
              <a:t>Segment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78224" y="4617720"/>
            <a:ext cx="1481328" cy="347472"/>
          </a:xfrm>
          <a:prstGeom prst="roundRect">
            <a:avLst/>
          </a:prstGeom>
          <a:solidFill>
            <a:srgbClr val="BE7000"/>
          </a:solidFill>
          <a:ln>
            <a:solidFill>
              <a:srgbClr val="BE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42232" y="4677156"/>
            <a:ext cx="135331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 i="0">
                <a:solidFill>
                  <a:srgbClr val="16263D"/>
                </a:solidFill>
                <a:latin typeface="Noto Sans"/>
              </a:rPr>
              <a:t>Classify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51576" y="4617720"/>
            <a:ext cx="1481328" cy="347472"/>
          </a:xfrm>
          <a:prstGeom prst="roundRect">
            <a:avLst/>
          </a:prstGeom>
          <a:solidFill>
            <a:srgbClr val="644BC4"/>
          </a:solidFill>
          <a:ln>
            <a:solidFill>
              <a:srgbClr val="644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15584" y="4677156"/>
            <a:ext cx="135331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 i="0">
                <a:solidFill>
                  <a:srgbClr val="16263D"/>
                </a:solidFill>
                <a:latin typeface="Noto Sans"/>
              </a:rPr>
              <a:t>Pose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24928" y="4617720"/>
            <a:ext cx="1481328" cy="347472"/>
          </a:xfrm>
          <a:prstGeom prst="roundRect">
            <a:avLst/>
          </a:prstGeom>
          <a:solidFill>
            <a:srgbClr val="C53546"/>
          </a:solidFill>
          <a:ln>
            <a:solidFill>
              <a:srgbClr val="C5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88936" y="4677156"/>
            <a:ext cx="135331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 i="0">
                <a:solidFill>
                  <a:srgbClr val="16263D"/>
                </a:solidFill>
                <a:latin typeface="Noto Sans"/>
              </a:rPr>
              <a:t>OBB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18320" y="4187952"/>
            <a:ext cx="1938528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418320" y="4187952"/>
            <a:ext cx="50292" cy="1225296"/>
          </a:xfrm>
          <a:prstGeom prst="roundRect">
            <a:avLst/>
          </a:prstGeom>
          <a:solidFill>
            <a:srgbClr val="12894C"/>
          </a:solidFill>
          <a:ln>
            <a:solidFill>
              <a:srgbClr val="128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74352" y="4343400"/>
            <a:ext cx="14356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6263D"/>
                </a:solidFill>
                <a:latin typeface="Noto Sans"/>
              </a:rPr>
              <a:t>Gợi ý bắt đầu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4846320"/>
            <a:ext cx="1435608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2647C"/>
                </a:solidFill>
                <a:latin typeface="Noto Sans"/>
              </a:rPr>
              <a:t>yolov8n để kiểm tra pipeline; yolov8s cho baseline tốt.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" y="5797296"/>
            <a:ext cx="83210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6263D"/>
                </a:solidFill>
                <a:latin typeface="Noto Sans"/>
              </a:rPr>
              <a:t>Chọn model theo thiết bị triển khai và latency thực tế — không chỉ theo mAP trên COCO.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510528"/>
            <a:ext cx="9966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52647C"/>
                </a:solidFill>
                <a:latin typeface="Noto Sans"/>
              </a:rPr>
              <a:t>Tên model ví dụ: yolov8n.pt · yolov8s-seg.pt · yolov8n-pose.pt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61320" y="6492240"/>
            <a:ext cx="960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52647C"/>
                </a:solidFill>
                <a:latin typeface="Noto Sans"/>
              </a:rPr>
              <a:t>YOLOv8  ·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1360" y="-256032"/>
            <a:ext cx="1645920" cy="960120"/>
          </a:xfrm>
          <a:prstGeom prst="round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20040" y="6263640"/>
            <a:ext cx="1920240" cy="822960"/>
          </a:xfrm>
          <a:prstGeom prst="roundRect">
            <a:avLst/>
          </a:prstGeom>
          <a:solidFill>
            <a:srgbClr val="644BC4"/>
          </a:solidFill>
          <a:ln>
            <a:solidFill>
              <a:srgbClr val="644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6217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491"/>
                </a:solidFill>
                <a:latin typeface="Noto Sans"/>
              </a:rPr>
              <a:t>06 ·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16263D"/>
                </a:solidFill>
                <a:latin typeface="Noto Sans"/>
              </a:rPr>
              <a:t>Dataset quyết định trần hiệu năng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7664" y="457200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52647C"/>
                </a:solidFill>
                <a:latin typeface="Noto Sans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35024"/>
            <a:ext cx="10863072" cy="13716"/>
          </a:xfrm>
          <a:prstGeom prst="rect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" y="1700784"/>
            <a:ext cx="4791456" cy="4443984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38528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491"/>
                </a:solidFill>
                <a:latin typeface="Noto Sans"/>
              </a:rPr>
              <a:t>CẤU TRÚC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331720"/>
            <a:ext cx="2103120" cy="2670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16263D"/>
                </a:solidFill>
                <a:latin typeface="DejaVu Sans Mono"/>
              </a:rPr>
              <a:t>dataset/
├── images/
│   ├── train/
│   └── val/
├── labels/
│   ├── train/
│   └── val/
└── data.yaml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63824" y="2395728"/>
            <a:ext cx="1965960" cy="1956816"/>
          </a:xfrm>
          <a:prstGeom prst="roundRect">
            <a:avLst/>
          </a:prstGeom>
          <a:solidFill>
            <a:srgbClr val="EEF3F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2633472"/>
            <a:ext cx="1417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2894C"/>
                </a:solidFill>
                <a:latin typeface="Noto Sans"/>
              </a:rPr>
              <a:t>LABEL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3063240"/>
            <a:ext cx="1444752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6263D"/>
                </a:solidFill>
                <a:latin typeface="DejaVu Sans Mono"/>
              </a:rPr>
              <a:t>class_id
x_center  y_center
width  height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096512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52647C"/>
                </a:solidFill>
                <a:latin typeface="Noto Sans"/>
              </a:rPr>
              <a:t>Tọa độ chuẩn hóa 0–1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5266944"/>
            <a:ext cx="65836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52647C"/>
                </a:solidFill>
                <a:latin typeface="Noto Sans"/>
              </a:rPr>
              <a:t>Ví dụ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1056" y="5239512"/>
            <a:ext cx="32369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BE7000"/>
                </a:solidFill>
                <a:latin typeface="DejaVu Sans Mono"/>
              </a:rPr>
              <a:t>0  0.52  0.41  0.20  0.16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1810512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08491"/>
                </a:solidFill>
                <a:latin typeface="Noto Sans"/>
              </a:rPr>
              <a:t>CHECKLIST CHO FRUIT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16168" y="2286000"/>
            <a:ext cx="5285232" cy="3474720"/>
          </a:xfrm>
          <a:prstGeom prst="rect">
            <a:avLst/>
          </a:prstGeom>
          <a:noFill/>
        </p:spPr>
        <p:txBody>
          <a:bodyPr wrap="square" lIns="18288" rIns="18288" t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900">
                <a:solidFill>
                  <a:srgbClr val="12894C"/>
                </a:solidFill>
                <a:latin typeface="Noto Sans"/>
              </a:rPr>
              <a:t>●  </a:t>
            </a:r>
            <a:r>
              <a:rPr sz="1400">
                <a:solidFill>
                  <a:srgbClr val="16263D"/>
                </a:solidFill>
                <a:latin typeface="Noto Sans"/>
              </a:rPr>
              <a:t>Đủ ánh sáng, góc chụp và khoảng cách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900">
                <a:solidFill>
                  <a:srgbClr val="12894C"/>
                </a:solidFill>
                <a:latin typeface="Noto Sans"/>
              </a:rPr>
              <a:t>●  </a:t>
            </a:r>
            <a:r>
              <a:rPr sz="1400">
                <a:solidFill>
                  <a:srgbClr val="16263D"/>
                </a:solidFill>
                <a:latin typeface="Noto Sans"/>
              </a:rPr>
              <a:t>Có quả nhỏ, bị che và chồng lấp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900">
                <a:solidFill>
                  <a:srgbClr val="12894C"/>
                </a:solidFill>
                <a:latin typeface="Noto Sans"/>
              </a:rPr>
              <a:t>●  </a:t>
            </a:r>
            <a:r>
              <a:rPr sz="1400">
                <a:solidFill>
                  <a:srgbClr val="16263D"/>
                </a:solidFill>
                <a:latin typeface="Noto Sans"/>
              </a:rPr>
              <a:t>Nhãn box nhất quán giữa người gán nhãn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900">
                <a:solidFill>
                  <a:srgbClr val="12894C"/>
                </a:solidFill>
                <a:latin typeface="Noto Sans"/>
              </a:rPr>
              <a:t>●  </a:t>
            </a:r>
            <a:r>
              <a:rPr sz="1400">
                <a:solidFill>
                  <a:srgbClr val="16263D"/>
                </a:solidFill>
                <a:latin typeface="Noto Sans"/>
              </a:rPr>
              <a:t>Không chia các frame gần nhau sang train/val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900">
                <a:solidFill>
                  <a:srgbClr val="12894C"/>
                </a:solidFill>
                <a:latin typeface="Noto Sans"/>
              </a:rPr>
              <a:t>●  </a:t>
            </a:r>
            <a:r>
              <a:rPr sz="1400">
                <a:solidFill>
                  <a:srgbClr val="16263D"/>
                </a:solidFill>
                <a:latin typeface="Noto Sans"/>
              </a:rPr>
              <a:t>Có ảnh nền không chứa trái cây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900">
                <a:solidFill>
                  <a:srgbClr val="12894C"/>
                </a:solidFill>
                <a:latin typeface="Noto Sans"/>
              </a:rPr>
              <a:t>●  </a:t>
            </a:r>
            <a:r>
              <a:rPr sz="1400">
                <a:solidFill>
                  <a:srgbClr val="16263D"/>
                </a:solidFill>
                <a:latin typeface="Noto Sans"/>
              </a:rPr>
              <a:t>Kiểm tra cân bằng giữa các lớp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5705856"/>
            <a:ext cx="5257800" cy="384048"/>
          </a:xfrm>
          <a:prstGeom prst="roundRect">
            <a:avLst/>
          </a:prstGeom>
          <a:solidFill>
            <a:srgbClr val="C53546"/>
          </a:solidFill>
          <a:ln>
            <a:solidFill>
              <a:srgbClr val="C5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71616" y="5779008"/>
            <a:ext cx="49103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80" b="1" i="0">
                <a:solidFill>
                  <a:srgbClr val="16263D"/>
                </a:solidFill>
                <a:latin typeface="Noto Sans"/>
              </a:rPr>
              <a:t>Nhãn sai thường gây hại hơn việc chọn sai vài hyperparameter.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510528"/>
            <a:ext cx="9966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52647C"/>
                </a:solidFill>
                <a:latin typeface="Noto Sans"/>
              </a:rPr>
              <a:t>Nguồn: docs.ultralytics.com/datasets/detect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1320" y="6492240"/>
            <a:ext cx="960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52647C"/>
                </a:solidFill>
                <a:latin typeface="Noto Sans"/>
              </a:rPr>
              <a:t>YOLOv8  ·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1360" y="-256032"/>
            <a:ext cx="1645920" cy="960120"/>
          </a:xfrm>
          <a:prstGeom prst="round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20040" y="6263640"/>
            <a:ext cx="1920240" cy="822960"/>
          </a:xfrm>
          <a:prstGeom prst="roundRect">
            <a:avLst/>
          </a:prstGeom>
          <a:solidFill>
            <a:srgbClr val="644BC4"/>
          </a:solidFill>
          <a:ln>
            <a:solidFill>
              <a:srgbClr val="644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6217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491"/>
                </a:solidFill>
                <a:latin typeface="Noto Sans"/>
              </a:rPr>
              <a:t>07 · HUẤN LUYỆN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16263D"/>
                </a:solidFill>
                <a:latin typeface="Noto Sans"/>
              </a:rPr>
              <a:t>Fine-tune YOLOv8 với dữ liệu riêng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7664" y="457200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52647C"/>
                </a:solidFill>
                <a:latin typeface="Noto Sans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35024"/>
            <a:ext cx="10863072" cy="13716"/>
          </a:xfrm>
          <a:prstGeom prst="rect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728216"/>
            <a:ext cx="2084831" cy="1316736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88366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491"/>
                </a:solidFill>
                <a:latin typeface="Noto San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828800"/>
            <a:ext cx="12801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6263D"/>
                </a:solidFill>
                <a:latin typeface="Noto Sans"/>
              </a:rPr>
              <a:t>Chuẩn bị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313432"/>
            <a:ext cx="1728216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52647C"/>
                </a:solidFill>
                <a:latin typeface="Noto Sans"/>
              </a:rPr>
              <a:t>Ảnh + nhãn + data.yaml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53512" y="1728216"/>
            <a:ext cx="2084831" cy="1316736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8104" y="188366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2894C"/>
                </a:solidFill>
                <a:latin typeface="Noto San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828800"/>
            <a:ext cx="12801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6263D"/>
                </a:solidFill>
                <a:latin typeface="Noto Sans"/>
              </a:rPr>
              <a:t>Train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8104" y="2313432"/>
            <a:ext cx="1728216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52647C"/>
                </a:solidFill>
                <a:latin typeface="Noto Sans"/>
              </a:rPr>
              <a:t>Transfer learning từ pretrained weights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21224" y="1728216"/>
            <a:ext cx="2084831" cy="1316736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85816" y="188366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BE7000"/>
                </a:solidFill>
                <a:latin typeface="Noto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88152" y="1828800"/>
            <a:ext cx="12801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6263D"/>
                </a:solidFill>
                <a:latin typeface="Noto Sans"/>
              </a:rP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85816" y="2313432"/>
            <a:ext cx="1728216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52647C"/>
                </a:solidFill>
                <a:latin typeface="Noto Sans"/>
              </a:rPr>
              <a:t>Đọc P · R · mAP · confusion matrix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88936" y="1728216"/>
            <a:ext cx="2084831" cy="1316736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53527" y="188366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644BC4"/>
                </a:solidFill>
                <a:latin typeface="Noto San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3" y="1828800"/>
            <a:ext cx="12801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6263D"/>
                </a:solidFill>
                <a:latin typeface="Noto Sans"/>
              </a:rPr>
              <a:t>Error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3527" y="2313432"/>
            <a:ext cx="1728216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52647C"/>
                </a:solidFill>
                <a:latin typeface="Noto Sans"/>
              </a:rPr>
              <a:t>Xem false positive / false negative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56648" y="1728216"/>
            <a:ext cx="2084831" cy="1316736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21240" y="188366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C53546"/>
                </a:solidFill>
                <a:latin typeface="Noto San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23576" y="1828800"/>
            <a:ext cx="12801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6263D"/>
                </a:solidFill>
                <a:latin typeface="Noto Sans"/>
              </a:rPr>
              <a:t>Export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2313432"/>
            <a:ext cx="1728216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52647C"/>
                </a:solidFill>
                <a:latin typeface="Noto Sans"/>
              </a:rPr>
              <a:t>ONNX · TensorRT · OpenVINO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364992"/>
            <a:ext cx="10808208" cy="2240280"/>
          </a:xfrm>
          <a:prstGeom prst="roundRect">
            <a:avLst/>
          </a:prstGeom>
          <a:solidFill>
            <a:srgbClr val="141F30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3611880"/>
            <a:ext cx="4754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491"/>
                </a:solidFill>
                <a:latin typeface="DejaVu Sans Mono"/>
              </a:rPr>
              <a:t>CLI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3986784"/>
            <a:ext cx="10040112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0" i="0">
                <a:solidFill>
                  <a:srgbClr val="F5F8FC"/>
                </a:solidFill>
                <a:latin typeface="DejaVu Sans Mono"/>
              </a:rPr>
              <a:t>$ pip install ultralytics
$ yolo detect train model=yolov8s.pt data=data.yaml epochs=100 imgsz=640 batch=16
$ yolo detect val model=runs/detect/train/weights/best.pt data=data.yaml
$ yolo detect predict model=best.pt source=test.jpg conf=0.25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852160"/>
            <a:ext cx="1036929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12894C"/>
                </a:solidFill>
                <a:latin typeface="Noto Sans"/>
              </a:rPr>
              <a:t>Bắt đầu bằng baseline mặc định → phân tích lỗi → chỉ thay đổi một nhóm yếu tố mỗi lần.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510528"/>
            <a:ext cx="9966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52647C"/>
                </a:solidFill>
                <a:latin typeface="Noto Sans"/>
              </a:rPr>
              <a:t>Pretrained weights thường hội tụ nhanh hơn train from scratch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1320" y="6492240"/>
            <a:ext cx="960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52647C"/>
                </a:solidFill>
                <a:latin typeface="Noto Sans"/>
              </a:rPr>
              <a:t>YOLOv8  ·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1360" y="-256032"/>
            <a:ext cx="1645920" cy="960120"/>
          </a:xfrm>
          <a:prstGeom prst="round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20040" y="6263640"/>
            <a:ext cx="1920240" cy="822960"/>
          </a:xfrm>
          <a:prstGeom prst="roundRect">
            <a:avLst/>
          </a:prstGeom>
          <a:solidFill>
            <a:srgbClr val="644BC4"/>
          </a:solidFill>
          <a:ln>
            <a:solidFill>
              <a:srgbClr val="644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6217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491"/>
                </a:solidFill>
                <a:latin typeface="Noto Sans"/>
              </a:rPr>
              <a:t>08 · ĐÁNH GIÁ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16263D"/>
                </a:solidFill>
                <a:latin typeface="Noto Sans"/>
              </a:rPr>
              <a:t>Một con số mAP là chưa đủ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7664" y="457200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52647C"/>
                </a:solidFill>
                <a:latin typeface="Noto Sans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35024"/>
            <a:ext cx="10863072" cy="13716"/>
          </a:xfrm>
          <a:prstGeom prst="rect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" y="1746504"/>
            <a:ext cx="2587752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38528"/>
            <a:ext cx="21762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491"/>
                </a:solidFill>
                <a:latin typeface="Noto Sans"/>
              </a:rPr>
              <a:t>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40864"/>
            <a:ext cx="21762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50" b="1" i="0">
                <a:solidFill>
                  <a:srgbClr val="16263D"/>
                </a:solidFill>
                <a:latin typeface="DejaVu Sans Mono"/>
              </a:rPr>
              <a:t>TP / (TP + FP)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770632"/>
            <a:ext cx="21762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52647C"/>
                </a:solidFill>
                <a:latin typeface="Noto Sans"/>
              </a:rPr>
              <a:t>Ít báo nhầm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746504"/>
            <a:ext cx="2587752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938528"/>
            <a:ext cx="21762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2894C"/>
                </a:solidFill>
                <a:latin typeface="Noto Sans"/>
              </a:rPr>
              <a:t>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340864"/>
            <a:ext cx="21762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50" b="1" i="0">
                <a:solidFill>
                  <a:srgbClr val="16263D"/>
                </a:solidFill>
                <a:latin typeface="DejaVu Sans Mono"/>
              </a:rPr>
              <a:t>TP / (TP + FN)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770632"/>
            <a:ext cx="21762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52647C"/>
                </a:solidFill>
                <a:latin typeface="Noto Sans"/>
              </a:rPr>
              <a:t>Ít bỏ sót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746504"/>
            <a:ext cx="2587752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938528"/>
            <a:ext cx="21762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BE7000"/>
                </a:solidFill>
                <a:latin typeface="Noto Sans"/>
              </a:rPr>
              <a:t>IoU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340864"/>
            <a:ext cx="21762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50" b="1" i="0">
                <a:solidFill>
                  <a:srgbClr val="16263D"/>
                </a:solidFill>
                <a:latin typeface="DejaVu Sans Mono"/>
              </a:rPr>
              <a:t>overlap / union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770632"/>
            <a:ext cx="21762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52647C"/>
                </a:solidFill>
                <a:latin typeface="Noto Sans"/>
              </a:rPr>
              <a:t>Độ khớp box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9408" y="1746504"/>
            <a:ext cx="2587752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0576" y="1938528"/>
            <a:ext cx="21762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644BC4"/>
                </a:solidFill>
                <a:latin typeface="Noto Sans"/>
              </a:rPr>
              <a:t>mAP50–95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2340864"/>
            <a:ext cx="21762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50" b="1" i="0">
                <a:solidFill>
                  <a:srgbClr val="16263D"/>
                </a:solidFill>
                <a:latin typeface="DejaVu Sans Mono"/>
              </a:rPr>
              <a:t>mean AP @ IoU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2770632"/>
            <a:ext cx="21762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52647C"/>
                </a:solidFill>
                <a:latin typeface="Noto Sans"/>
              </a:rPr>
              <a:t>Đánh giá tổng hợp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944" y="3575304"/>
            <a:ext cx="6556248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3813048"/>
            <a:ext cx="2743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6263D"/>
                </a:solidFill>
                <a:latin typeface="Noto Sans"/>
              </a:rPr>
              <a:t>Đọc lỗi theo mục tiêu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334256"/>
            <a:ext cx="5852160" cy="1024128"/>
          </a:xfrm>
          <a:prstGeom prst="rect">
            <a:avLst/>
          </a:prstGeom>
          <a:noFill/>
        </p:spPr>
        <p:txBody>
          <a:bodyPr wrap="square" lIns="18288" rIns="18288" t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900">
                <a:solidFill>
                  <a:srgbClr val="008491"/>
                </a:solidFill>
                <a:latin typeface="Noto Sans"/>
              </a:rPr>
              <a:t>●  </a:t>
            </a:r>
            <a:r>
              <a:rPr sz="1200">
                <a:solidFill>
                  <a:srgbClr val="52647C"/>
                </a:solidFill>
                <a:latin typeface="Noto Sans"/>
              </a:rPr>
              <a:t>Đếm quả: ưu tiên recall và sai số đếm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900">
                <a:solidFill>
                  <a:srgbClr val="008491"/>
                </a:solidFill>
                <a:latin typeface="Noto Sans"/>
              </a:rPr>
              <a:t>●  </a:t>
            </a:r>
            <a:r>
              <a:rPr sz="1200">
                <a:solidFill>
                  <a:srgbClr val="52647C"/>
                </a:solidFill>
                <a:latin typeface="Noto Sans"/>
              </a:rPr>
              <a:t>Robot hái quả: ưu tiên IoU / mask chính xác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900">
                <a:solidFill>
                  <a:srgbClr val="008491"/>
                </a:solidFill>
                <a:latin typeface="Noto Sans"/>
              </a:rPr>
              <a:t>●  </a:t>
            </a:r>
            <a:r>
              <a:rPr sz="1200">
                <a:solidFill>
                  <a:srgbClr val="52647C"/>
                </a:solidFill>
                <a:latin typeface="Noto Sans"/>
              </a:rPr>
              <a:t>Camera real-time: đo latency và FPS trên thiết bị thật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62088" y="3575304"/>
            <a:ext cx="3931920" cy="1993392"/>
          </a:xfrm>
          <a:prstGeom prst="roundRect">
            <a:avLst/>
          </a:prstGeom>
          <a:solidFill>
            <a:srgbClr val="EEF3F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27264" y="3822191"/>
            <a:ext cx="33375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6263D"/>
                </a:solidFill>
                <a:latin typeface="Noto Sans"/>
              </a:rPr>
              <a:t>Ngưỡng confidence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27264" y="4379976"/>
            <a:ext cx="324612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50" b="1">
                <a:solidFill>
                  <a:srgbClr val="008491"/>
                </a:solidFill>
                <a:latin typeface="Noto Sans"/>
              </a:rPr>
              <a:t>Tăng</a:t>
            </a:r>
            <a:r>
              <a:rPr sz="1150" b="0">
                <a:solidFill>
                  <a:srgbClr val="52647C"/>
                </a:solidFill>
                <a:latin typeface="Noto Sans"/>
              </a:rPr>
              <a:t> conf → Precision ↑, Recall có thể 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27264" y="4846320"/>
            <a:ext cx="324612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2894C"/>
                </a:solidFill>
                <a:latin typeface="Noto Sans"/>
              </a:rPr>
              <a:t>Giảm</a:t>
            </a:r>
            <a:r>
              <a:rPr sz="1150" b="0">
                <a:solidFill>
                  <a:srgbClr val="52647C"/>
                </a:solidFill>
                <a:latin typeface="Noto Sans"/>
              </a:rPr>
              <a:t> conf → Recall ↑, FP có thể 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870448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16263D"/>
                </a:solidFill>
                <a:latin typeface="Noto Sans"/>
              </a:rPr>
              <a:t>Chọn threshold trên validation set theo KPI nghiệp vụ.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510528"/>
            <a:ext cx="9966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52647C"/>
                </a:solidFill>
                <a:latin typeface="Noto Sans"/>
              </a:rPr>
              <a:t>Nguồn: Ultralytics YOLO Performance Metrics Guide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1320" y="6492240"/>
            <a:ext cx="960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52647C"/>
                </a:solidFill>
                <a:latin typeface="Noto Sans"/>
              </a:rPr>
              <a:t>YOLOv8  ·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1360" y="-256032"/>
            <a:ext cx="1645920" cy="960120"/>
          </a:xfrm>
          <a:prstGeom prst="round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20040" y="6263640"/>
            <a:ext cx="1920240" cy="822960"/>
          </a:xfrm>
          <a:prstGeom prst="roundRect">
            <a:avLst/>
          </a:prstGeom>
          <a:solidFill>
            <a:srgbClr val="644BC4"/>
          </a:solidFill>
          <a:ln>
            <a:solidFill>
              <a:srgbClr val="644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6217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491"/>
                </a:solidFill>
                <a:latin typeface="Noto Sans"/>
              </a:rPr>
              <a:t>09 ·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16263D"/>
                </a:solidFill>
                <a:latin typeface="Noto Sans"/>
              </a:rPr>
              <a:t>Model tốt ≠ hệ thống production tốt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7664" y="457200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52647C"/>
                </a:solidFill>
                <a:latin typeface="Noto Sans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35024"/>
            <a:ext cx="10863072" cy="13716"/>
          </a:xfrm>
          <a:prstGeom prst="rect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7784" y="1856231"/>
            <a:ext cx="1609344" cy="1060704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066543"/>
            <a:ext cx="138988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 i="0">
                <a:solidFill>
                  <a:srgbClr val="16263D"/>
                </a:solidFill>
                <a:latin typeface="Noto Sans"/>
              </a:rPr>
              <a:t>Camera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487168"/>
            <a:ext cx="138988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008491"/>
                </a:solidFill>
                <a:latin typeface="Noto Sans"/>
              </a:rPr>
              <a:t>Input</a:t>
            </a:r>
          </a:p>
        </p:txBody>
      </p:sp>
      <p:sp>
        <p:nvSpPr>
          <p:cNvPr id="11" name="Chevron 10"/>
          <p:cNvSpPr/>
          <p:nvPr/>
        </p:nvSpPr>
        <p:spPr>
          <a:xfrm>
            <a:off x="2194560" y="2185416"/>
            <a:ext cx="292608" cy="411480"/>
          </a:xfrm>
          <a:prstGeom prst="chevron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96312" y="1856231"/>
            <a:ext cx="1609344" cy="1060704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2066543"/>
            <a:ext cx="138988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 i="0">
                <a:solidFill>
                  <a:srgbClr val="16263D"/>
                </a:solidFill>
                <a:latin typeface="Noto Sans"/>
              </a:rPr>
              <a:t>Preprocess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487168"/>
            <a:ext cx="138988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12894C"/>
                </a:solidFill>
                <a:latin typeface="Noto Sans"/>
              </a:rPr>
              <a:t>Resize · color</a:t>
            </a:r>
          </a:p>
        </p:txBody>
      </p:sp>
      <p:sp>
        <p:nvSpPr>
          <p:cNvPr id="15" name="Chevron 14"/>
          <p:cNvSpPr/>
          <p:nvPr/>
        </p:nvSpPr>
        <p:spPr>
          <a:xfrm>
            <a:off x="4133087" y="2185416"/>
            <a:ext cx="292608" cy="411480"/>
          </a:xfrm>
          <a:prstGeom prst="chevron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34840" y="1856231"/>
            <a:ext cx="1609344" cy="1060704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2066543"/>
            <a:ext cx="138988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 i="0">
                <a:solidFill>
                  <a:srgbClr val="16263D"/>
                </a:solidFill>
                <a:latin typeface="Noto Sans"/>
              </a:rPr>
              <a:t>YOLOv8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487168"/>
            <a:ext cx="138988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BE7000"/>
                </a:solidFill>
                <a:latin typeface="Noto Sans"/>
              </a:rPr>
              <a:t>Inference</a:t>
            </a:r>
          </a:p>
        </p:txBody>
      </p:sp>
      <p:sp>
        <p:nvSpPr>
          <p:cNvPr id="19" name="Chevron 18"/>
          <p:cNvSpPr/>
          <p:nvPr/>
        </p:nvSpPr>
        <p:spPr>
          <a:xfrm>
            <a:off x="6071616" y="2185416"/>
            <a:ext cx="292608" cy="411480"/>
          </a:xfrm>
          <a:prstGeom prst="chevron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73368" y="1856231"/>
            <a:ext cx="1609344" cy="1060704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3096" y="2066543"/>
            <a:ext cx="138988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 i="0">
                <a:solidFill>
                  <a:srgbClr val="16263D"/>
                </a:solidFill>
                <a:latin typeface="Noto Sans"/>
              </a:rPr>
              <a:t>Postprocess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2487168"/>
            <a:ext cx="138988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644BC4"/>
                </a:solidFill>
                <a:latin typeface="Noto Sans"/>
              </a:rPr>
              <a:t>NMS · threshold</a:t>
            </a:r>
          </a:p>
        </p:txBody>
      </p:sp>
      <p:sp>
        <p:nvSpPr>
          <p:cNvPr id="23" name="Chevron 22"/>
          <p:cNvSpPr/>
          <p:nvPr/>
        </p:nvSpPr>
        <p:spPr>
          <a:xfrm>
            <a:off x="8010144" y="2185416"/>
            <a:ext cx="292608" cy="411480"/>
          </a:xfrm>
          <a:prstGeom prst="chevron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11896" y="1856231"/>
            <a:ext cx="1609344" cy="1060704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21624" y="2066543"/>
            <a:ext cx="138988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 i="0">
                <a:solidFill>
                  <a:srgbClr val="16263D"/>
                </a:solidFill>
                <a:latin typeface="Noto Sans"/>
              </a:rPr>
              <a:t>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1624" y="2487168"/>
            <a:ext cx="138988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C53546"/>
                </a:solidFill>
                <a:latin typeface="Noto Sans"/>
              </a:rPr>
              <a:t>Count · ID</a:t>
            </a:r>
          </a:p>
        </p:txBody>
      </p:sp>
      <p:sp>
        <p:nvSpPr>
          <p:cNvPr id="27" name="Chevron 26"/>
          <p:cNvSpPr/>
          <p:nvPr/>
        </p:nvSpPr>
        <p:spPr>
          <a:xfrm>
            <a:off x="9948672" y="2185416"/>
            <a:ext cx="292608" cy="411480"/>
          </a:xfrm>
          <a:prstGeom prst="chevron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250424" y="1856231"/>
            <a:ext cx="1609344" cy="1060704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60152" y="2066543"/>
            <a:ext cx="138988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 i="0">
                <a:solidFill>
                  <a:srgbClr val="16263D"/>
                </a:solidFill>
                <a:latin typeface="Noto Sans"/>
              </a:rPr>
              <a:t>API /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60152" y="2487168"/>
            <a:ext cx="138988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008491"/>
                </a:solidFill>
                <a:latin typeface="Noto Sans"/>
              </a:rPr>
              <a:t>Output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" y="3511296"/>
            <a:ext cx="3419856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94944" y="3511296"/>
            <a:ext cx="50292" cy="841248"/>
          </a:xfrm>
          <a:prstGeom prst="round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" y="3666744"/>
            <a:ext cx="291693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6263D"/>
                </a:solidFill>
                <a:latin typeface="Noto Sans"/>
              </a:rPr>
              <a:t>Accuracy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" y="4169663"/>
            <a:ext cx="2916936" cy="18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2647C"/>
                </a:solidFill>
                <a:latin typeface="Noto Sans"/>
              </a:rPr>
              <a:t>Test trên dữ liệu camera thật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3400" y="3511296"/>
            <a:ext cx="3419856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43400" y="3511296"/>
            <a:ext cx="50292" cy="841248"/>
          </a:xfrm>
          <a:prstGeom prst="roundRect">
            <a:avLst/>
          </a:prstGeom>
          <a:solidFill>
            <a:srgbClr val="12894C"/>
          </a:solidFill>
          <a:ln>
            <a:solidFill>
              <a:srgbClr val="128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99432" y="3666744"/>
            <a:ext cx="291693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6263D"/>
                </a:solidFill>
                <a:latin typeface="Noto Sans"/>
              </a:rPr>
              <a:t>Latency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9432" y="4169663"/>
            <a:ext cx="2916936" cy="18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2647C"/>
                </a:solidFill>
                <a:latin typeface="Noto Sans"/>
              </a:rPr>
              <a:t>Đo p95 / FPS trên phần cứng thật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91856" y="3511296"/>
            <a:ext cx="3419856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991856" y="3511296"/>
            <a:ext cx="50292" cy="841248"/>
          </a:xfrm>
          <a:prstGeom prst="roundRect">
            <a:avLst/>
          </a:prstGeom>
          <a:solidFill>
            <a:srgbClr val="BE7000"/>
          </a:solidFill>
          <a:ln>
            <a:solidFill>
              <a:srgbClr val="BE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47888" y="3666744"/>
            <a:ext cx="291693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6263D"/>
                </a:solidFill>
                <a:latin typeface="Noto Sans"/>
              </a:rPr>
              <a:t>Reliability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47888" y="4169663"/>
            <a:ext cx="2916936" cy="18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2647C"/>
                </a:solidFill>
                <a:latin typeface="Noto Sans"/>
              </a:rPr>
              <a:t>Timeout · health check · fallback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4944" y="4535424"/>
            <a:ext cx="3419856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94944" y="4535424"/>
            <a:ext cx="50292" cy="841248"/>
          </a:xfrm>
          <a:prstGeom prst="roundRect">
            <a:avLst/>
          </a:prstGeom>
          <a:solidFill>
            <a:srgbClr val="644BC4"/>
          </a:solidFill>
          <a:ln>
            <a:solidFill>
              <a:srgbClr val="644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" y="4690872"/>
            <a:ext cx="291693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6263D"/>
                </a:solidFill>
                <a:latin typeface="Noto Sans"/>
              </a:rPr>
              <a:t>MLOps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976" y="5193792"/>
            <a:ext cx="2916936" cy="18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2647C"/>
                </a:solidFill>
                <a:latin typeface="Noto Sans"/>
              </a:rPr>
              <a:t>Version model · logging · rollback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43400" y="4535424"/>
            <a:ext cx="3419856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343400" y="4535424"/>
            <a:ext cx="50292" cy="841248"/>
          </a:xfrm>
          <a:prstGeom prst="roundRect">
            <a:avLst/>
          </a:prstGeom>
          <a:solidFill>
            <a:srgbClr val="C53546"/>
          </a:solidFill>
          <a:ln>
            <a:solidFill>
              <a:srgbClr val="C5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99432" y="4690872"/>
            <a:ext cx="291693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6263D"/>
                </a:solidFill>
                <a:latin typeface="Noto Sans"/>
              </a:rPr>
              <a:t>Monitoring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99432" y="5193792"/>
            <a:ext cx="2916936" cy="18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2647C"/>
                </a:solidFill>
                <a:latin typeface="Noto Sans"/>
              </a:rPr>
              <a:t>Data drift · confidence · lỗi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91856" y="4535424"/>
            <a:ext cx="3419856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991856" y="4535424"/>
            <a:ext cx="50292" cy="841248"/>
          </a:xfrm>
          <a:prstGeom prst="round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47888" y="4690872"/>
            <a:ext cx="291693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6263D"/>
                </a:solidFill>
                <a:latin typeface="Noto Sans"/>
              </a:rPr>
              <a:t>Security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47888" y="5193792"/>
            <a:ext cx="2916936" cy="18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2647C"/>
                </a:solidFill>
                <a:latin typeface="Noto Sans"/>
              </a:rPr>
              <a:t>Giới hạn file · quyền truy cập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6384" y="5870448"/>
            <a:ext cx="105613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1" i="0">
                <a:solidFill>
                  <a:srgbClr val="12894C"/>
                </a:solidFill>
                <a:latin typeface="Noto Sans"/>
              </a:rPr>
              <a:t>Nếu đếm trong video: detection cần kết hợp tracking để tránh đếm lặp cùng một quả.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510528"/>
            <a:ext cx="9966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52647C"/>
                </a:solidFill>
                <a:latin typeface="Noto Sans"/>
              </a:rPr>
              <a:t>Định dạng triển khai phổ biến: PyTorch · ONNX · TensorRT · OpenVINO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61320" y="6492240"/>
            <a:ext cx="960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52647C"/>
                </a:solidFill>
                <a:latin typeface="Noto Sans"/>
              </a:rPr>
              <a:t>YOLOv8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1360" y="-256032"/>
            <a:ext cx="1645920" cy="960120"/>
          </a:xfrm>
          <a:prstGeom prst="round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20040" y="6263640"/>
            <a:ext cx="1920240" cy="822960"/>
          </a:xfrm>
          <a:prstGeom prst="roundRect">
            <a:avLst/>
          </a:prstGeom>
          <a:solidFill>
            <a:srgbClr val="644BC4"/>
          </a:solidFill>
          <a:ln>
            <a:solidFill>
              <a:srgbClr val="644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6217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491"/>
                </a:solidFill>
                <a:latin typeface="Noto Sans"/>
              </a:rPr>
              <a:t>10 · KẾT LUẬN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16263D"/>
                </a:solidFill>
                <a:latin typeface="Noto Sans"/>
              </a:rPr>
              <a:t>Ba thông điệp cần nhớ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7664" y="457200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52647C"/>
                </a:solidFill>
                <a:latin typeface="Noto Sans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35024"/>
            <a:ext cx="10863072" cy="13716"/>
          </a:xfrm>
          <a:prstGeom prst="rect">
            <a:avLst/>
          </a:prstGeom>
          <a:solidFill>
            <a:srgbClr val="D6DFE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" y="1783080"/>
            <a:ext cx="7333488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7"/>
            <a:ext cx="53035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08491"/>
                </a:solidFill>
                <a:latin typeface="Noto San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0784" y="1956816"/>
            <a:ext cx="20482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6263D"/>
                </a:solidFill>
                <a:latin typeface="Noto Sans"/>
              </a:rPr>
              <a:t>Hiểu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6472" y="1965960"/>
            <a:ext cx="3968496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2647C"/>
                </a:solidFill>
                <a:latin typeface="Noto Sans"/>
              </a:rPr>
              <a:t>Nắm backbone–neck–head, preprocessing và postprocessing.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" y="3035808"/>
            <a:ext cx="7333488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282696"/>
            <a:ext cx="53035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2894C"/>
                </a:solidFill>
                <a:latin typeface="Noto San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3209544"/>
            <a:ext cx="20482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6263D"/>
                </a:solidFill>
                <a:latin typeface="Noto Sans"/>
              </a:rPr>
              <a:t>Ưu tiên dữ liệu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3218688"/>
            <a:ext cx="3968496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2647C"/>
                </a:solidFill>
                <a:latin typeface="Noto Sans"/>
              </a:rPr>
              <a:t>Nhãn tốt, dữ liệu đa dạng và split đúng quan trọng hơn chạy theo version.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" y="4288536"/>
            <a:ext cx="7333488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535424"/>
            <a:ext cx="53035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644BC4"/>
                </a:solidFill>
                <a:latin typeface="Noto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0784" y="4462272"/>
            <a:ext cx="20482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6263D"/>
                </a:solidFill>
                <a:latin typeface="Noto Sans"/>
              </a:rPr>
              <a:t>Đo theo nghiệp vụ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6472" y="4471416"/>
            <a:ext cx="3968496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2647C"/>
                </a:solidFill>
                <a:latin typeface="Noto Sans"/>
              </a:rPr>
              <a:t>mAP cần đi cùng recall, latency, FPS và sai số đếm thực tế.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49056" y="1783080"/>
            <a:ext cx="2907792" cy="3547872"/>
          </a:xfrm>
          <a:prstGeom prst="roundRect">
            <a:avLst/>
          </a:prstGeom>
          <a:solidFill>
            <a:srgbClr val="EEF3F9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59952" y="2084831"/>
            <a:ext cx="2240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491"/>
                </a:solidFill>
                <a:latin typeface="Noto Sans"/>
              </a:rPr>
              <a:t>NEXT STEP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9952" y="2642616"/>
            <a:ext cx="2240280" cy="1463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 i="0">
                <a:solidFill>
                  <a:srgbClr val="16263D"/>
                </a:solidFill>
                <a:latin typeface="Noto Sans"/>
              </a:rPr>
              <a:t>Xây dựng baseline
YOLOv8n / YOLOv8s
trên fruit dataset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05088" y="4572000"/>
            <a:ext cx="2395728" cy="347472"/>
          </a:xfrm>
          <a:prstGeom prst="roundRect">
            <a:avLst/>
          </a:prstGeom>
          <a:solidFill>
            <a:srgbClr val="12894C"/>
          </a:solidFill>
          <a:ln>
            <a:solidFill>
              <a:srgbClr val="128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69096" y="4631436"/>
            <a:ext cx="226771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 i="0">
                <a:solidFill>
                  <a:srgbClr val="16263D"/>
                </a:solidFill>
                <a:latin typeface="Noto Sans"/>
              </a:rPr>
              <a:t>TRAIN → EVALUATE → ITERATE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5650992"/>
            <a:ext cx="192024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8491"/>
                </a:solidFill>
                <a:latin typeface="Noto Sans"/>
              </a:rPr>
              <a:t>TÀI LIỆU THAM KHẢO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961888"/>
            <a:ext cx="1058875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52647C"/>
                </a:solidFill>
                <a:latin typeface="Noto Sans"/>
              </a:rPr>
              <a:t>docs.ultralytics.com/models/yolov8  ·  docs.ultralytics.com/guides/yolo-architecture  ·  docs.ultralytics.com/datasets/detect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47504" y="5934456"/>
            <a:ext cx="1554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800" b="1" i="0">
                <a:solidFill>
                  <a:srgbClr val="16263D"/>
                </a:solidFill>
                <a:latin typeface="Noto Sans"/>
              </a:rPr>
              <a:t>Q&amp;A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61320" y="6492240"/>
            <a:ext cx="960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52647C"/>
                </a:solidFill>
                <a:latin typeface="Noto Sans"/>
              </a:rPr>
              <a:t>YOLOv8  ·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Tìm hiểu YOLOv8</dc:title>
  <dc:subject>Kiến trúc, huấn luyện, đánh giá và triển khai YOLOv8</dc:subject>
  <dc:creator>Machine Learning Group Project</dc:creator>
  <cp:keywords>YOLOv8, object detection, fruit detection, machine learning</cp:keywords>
  <dc:description>Generated as an editable PowerPoint deck.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