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881360" y="-292608"/>
            <a:ext cx="1600200" cy="896112"/>
          </a:xfrm>
          <a:prstGeom prst="roundRect">
            <a:avLst/>
          </a:prstGeom>
          <a:solidFill>
            <a:srgbClr val="26D0CE"/>
          </a:solidFill>
          <a:ln w="12700">
            <a:solidFill>
              <a:srgbClr val="26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384048" y="6345936"/>
            <a:ext cx="1920240" cy="804672"/>
          </a:xfrm>
          <a:prstGeom prst="roundRect">
            <a:avLst/>
          </a:prstGeom>
          <a:solidFill>
            <a:srgbClr val="9B7EFF"/>
          </a:solidFill>
          <a:ln w="12700">
            <a:solidFill>
              <a:srgbClr val="9B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62672" y="1234440"/>
            <a:ext cx="393192" cy="393192"/>
          </a:xfrm>
          <a:prstGeom prst="rect">
            <a:avLst/>
          </a:prstGeom>
          <a:solidFill>
            <a:srgbClr val="FF5B6F"/>
          </a:solidFill>
          <a:ln w="12700">
            <a:solidFill>
              <a:srgbClr val="FF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65592" y="1234440"/>
            <a:ext cx="393192" cy="393192"/>
          </a:xfrm>
          <a:prstGeom prst="rect">
            <a:avLst/>
          </a:prstGeom>
          <a:solidFill>
            <a:srgbClr val="FF844A"/>
          </a:solidFill>
          <a:ln w="12700">
            <a:solidFill>
              <a:srgbClr val="FF8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68512" y="1234440"/>
            <a:ext cx="393192" cy="393192"/>
          </a:xfrm>
          <a:prstGeom prst="rect">
            <a:avLst/>
          </a:prstGeom>
          <a:solidFill>
            <a:srgbClr val="FFBE48"/>
          </a:solidFill>
          <a:ln w="12700">
            <a:solidFill>
              <a:srgbClr val="FFB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71432" y="1234440"/>
            <a:ext cx="393192" cy="393192"/>
          </a:xfrm>
          <a:prstGeom prst="rect">
            <a:avLst/>
          </a:prstGeom>
          <a:solidFill>
            <a:srgbClr val="59DD92"/>
          </a:solidFill>
          <a:ln w="12700">
            <a:solidFill>
              <a:srgbClr val="59D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74352" y="1234440"/>
            <a:ext cx="393192" cy="393192"/>
          </a:xfrm>
          <a:prstGeom prst="rect">
            <a:avLst/>
          </a:prstGeom>
          <a:solidFill>
            <a:srgbClr val="26D0CE"/>
          </a:solidFill>
          <a:ln w="12700">
            <a:solidFill>
              <a:srgbClr val="26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177272" y="1234440"/>
            <a:ext cx="393192" cy="393192"/>
          </a:xfrm>
          <a:prstGeom prst="rect">
            <a:avLst/>
          </a:prstGeom>
          <a:solidFill>
            <a:srgbClr val="4B96FF"/>
          </a:solidFill>
          <a:ln w="12700">
            <a:solidFill>
              <a:srgbClr val="4B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62672" y="1737360"/>
            <a:ext cx="393192" cy="393192"/>
          </a:xfrm>
          <a:prstGeom prst="rect">
            <a:avLst/>
          </a:prstGeom>
          <a:solidFill>
            <a:srgbClr val="FF844A"/>
          </a:solidFill>
          <a:ln w="12700">
            <a:solidFill>
              <a:srgbClr val="FF8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65592" y="1737360"/>
            <a:ext cx="393192" cy="393192"/>
          </a:xfrm>
          <a:prstGeom prst="rect">
            <a:avLst/>
          </a:prstGeom>
          <a:solidFill>
            <a:srgbClr val="FFBE48"/>
          </a:solidFill>
          <a:ln w="12700">
            <a:solidFill>
              <a:srgbClr val="FFB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68512" y="1737360"/>
            <a:ext cx="393192" cy="393192"/>
          </a:xfrm>
          <a:prstGeom prst="rect">
            <a:avLst/>
          </a:prstGeom>
          <a:solidFill>
            <a:srgbClr val="59DD92"/>
          </a:solidFill>
          <a:ln w="12700">
            <a:solidFill>
              <a:srgbClr val="59D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71432" y="1737360"/>
            <a:ext cx="393192" cy="393192"/>
          </a:xfrm>
          <a:prstGeom prst="rect">
            <a:avLst/>
          </a:prstGeom>
          <a:solidFill>
            <a:srgbClr val="26D0CE"/>
          </a:solidFill>
          <a:ln w="12700">
            <a:solidFill>
              <a:srgbClr val="26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74352" y="1737360"/>
            <a:ext cx="393192" cy="393192"/>
          </a:xfrm>
          <a:prstGeom prst="rect">
            <a:avLst/>
          </a:prstGeom>
          <a:solidFill>
            <a:srgbClr val="4B96FF"/>
          </a:solidFill>
          <a:ln w="12700">
            <a:solidFill>
              <a:srgbClr val="4B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77272" y="1737360"/>
            <a:ext cx="393192" cy="393192"/>
          </a:xfrm>
          <a:prstGeom prst="rect">
            <a:avLst/>
          </a:prstGeom>
          <a:solidFill>
            <a:srgbClr val="9B7EFF"/>
          </a:solidFill>
          <a:ln w="12700">
            <a:solidFill>
              <a:srgbClr val="9B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62672" y="2240280"/>
            <a:ext cx="393192" cy="393192"/>
          </a:xfrm>
          <a:prstGeom prst="rect">
            <a:avLst/>
          </a:prstGeom>
          <a:solidFill>
            <a:srgbClr val="FFBE48"/>
          </a:solidFill>
          <a:ln w="12700">
            <a:solidFill>
              <a:srgbClr val="FFB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65592" y="2240280"/>
            <a:ext cx="393192" cy="393192"/>
          </a:xfrm>
          <a:prstGeom prst="rect">
            <a:avLst/>
          </a:prstGeom>
          <a:solidFill>
            <a:srgbClr val="59DD92"/>
          </a:solidFill>
          <a:ln w="12700">
            <a:solidFill>
              <a:srgbClr val="59D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68512" y="2240280"/>
            <a:ext cx="393192" cy="393192"/>
          </a:xfrm>
          <a:prstGeom prst="rect">
            <a:avLst/>
          </a:prstGeom>
          <a:solidFill>
            <a:srgbClr val="26D0CE"/>
          </a:solidFill>
          <a:ln w="12700">
            <a:solidFill>
              <a:srgbClr val="26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71432" y="2240280"/>
            <a:ext cx="393192" cy="393192"/>
          </a:xfrm>
          <a:prstGeom prst="rect">
            <a:avLst/>
          </a:prstGeom>
          <a:solidFill>
            <a:srgbClr val="4B96FF"/>
          </a:solidFill>
          <a:ln w="12700">
            <a:solidFill>
              <a:srgbClr val="4B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674352" y="2240280"/>
            <a:ext cx="393192" cy="393192"/>
          </a:xfrm>
          <a:prstGeom prst="rect">
            <a:avLst/>
          </a:prstGeom>
          <a:solidFill>
            <a:srgbClr val="9B7EFF"/>
          </a:solidFill>
          <a:ln w="12700">
            <a:solidFill>
              <a:srgbClr val="9B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177272" y="2240280"/>
            <a:ext cx="393192" cy="393192"/>
          </a:xfrm>
          <a:prstGeom prst="rect">
            <a:avLst/>
          </a:prstGeom>
          <a:solidFill>
            <a:srgbClr val="FF5B6F"/>
          </a:solidFill>
          <a:ln w="12700">
            <a:solidFill>
              <a:srgbClr val="FF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62672" y="2743200"/>
            <a:ext cx="393192" cy="393192"/>
          </a:xfrm>
          <a:prstGeom prst="rect">
            <a:avLst/>
          </a:prstGeom>
          <a:solidFill>
            <a:srgbClr val="59DD92"/>
          </a:solidFill>
          <a:ln w="12700">
            <a:solidFill>
              <a:srgbClr val="59D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65592" y="2743200"/>
            <a:ext cx="393192" cy="393192"/>
          </a:xfrm>
          <a:prstGeom prst="rect">
            <a:avLst/>
          </a:prstGeom>
          <a:solidFill>
            <a:srgbClr val="26D0CE"/>
          </a:solidFill>
          <a:ln w="12700">
            <a:solidFill>
              <a:srgbClr val="26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68512" y="2743200"/>
            <a:ext cx="393192" cy="393192"/>
          </a:xfrm>
          <a:prstGeom prst="rect">
            <a:avLst/>
          </a:prstGeom>
          <a:solidFill>
            <a:srgbClr val="4B96FF"/>
          </a:solidFill>
          <a:ln w="12700">
            <a:solidFill>
              <a:srgbClr val="4B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71432" y="2743200"/>
            <a:ext cx="393192" cy="393192"/>
          </a:xfrm>
          <a:prstGeom prst="rect">
            <a:avLst/>
          </a:prstGeom>
          <a:solidFill>
            <a:srgbClr val="9B7EFF"/>
          </a:solidFill>
          <a:ln w="12700">
            <a:solidFill>
              <a:srgbClr val="9B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74352" y="2743200"/>
            <a:ext cx="393192" cy="393192"/>
          </a:xfrm>
          <a:prstGeom prst="rect">
            <a:avLst/>
          </a:prstGeom>
          <a:solidFill>
            <a:srgbClr val="FF5B6F"/>
          </a:solidFill>
          <a:ln w="12700">
            <a:solidFill>
              <a:srgbClr val="FF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177272" y="2743200"/>
            <a:ext cx="393192" cy="393192"/>
          </a:xfrm>
          <a:prstGeom prst="rect">
            <a:avLst/>
          </a:prstGeom>
          <a:solidFill>
            <a:srgbClr val="FF844A"/>
          </a:solidFill>
          <a:ln w="12700">
            <a:solidFill>
              <a:srgbClr val="FF8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62672" y="3246120"/>
            <a:ext cx="393192" cy="393192"/>
          </a:xfrm>
          <a:prstGeom prst="rect">
            <a:avLst/>
          </a:prstGeom>
          <a:solidFill>
            <a:srgbClr val="26D0CE"/>
          </a:solidFill>
          <a:ln w="12700">
            <a:solidFill>
              <a:srgbClr val="26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65592" y="3246120"/>
            <a:ext cx="393192" cy="393192"/>
          </a:xfrm>
          <a:prstGeom prst="rect">
            <a:avLst/>
          </a:prstGeom>
          <a:solidFill>
            <a:srgbClr val="4B96FF"/>
          </a:solidFill>
          <a:ln w="12700">
            <a:solidFill>
              <a:srgbClr val="4B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668512" y="3246120"/>
            <a:ext cx="393192" cy="393192"/>
          </a:xfrm>
          <a:prstGeom prst="rect">
            <a:avLst/>
          </a:prstGeom>
          <a:solidFill>
            <a:srgbClr val="9B7EFF"/>
          </a:solidFill>
          <a:ln w="12700">
            <a:solidFill>
              <a:srgbClr val="9B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71432" y="3246120"/>
            <a:ext cx="393192" cy="393192"/>
          </a:xfrm>
          <a:prstGeom prst="rect">
            <a:avLst/>
          </a:prstGeom>
          <a:solidFill>
            <a:srgbClr val="FF5B6F"/>
          </a:solidFill>
          <a:ln w="12700">
            <a:solidFill>
              <a:srgbClr val="FF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74352" y="3246120"/>
            <a:ext cx="393192" cy="393192"/>
          </a:xfrm>
          <a:prstGeom prst="rect">
            <a:avLst/>
          </a:prstGeom>
          <a:solidFill>
            <a:srgbClr val="FF844A"/>
          </a:solidFill>
          <a:ln w="12700">
            <a:solidFill>
              <a:srgbClr val="FF8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177272" y="3246120"/>
            <a:ext cx="393192" cy="393192"/>
          </a:xfrm>
          <a:prstGeom prst="rect">
            <a:avLst/>
          </a:prstGeom>
          <a:solidFill>
            <a:srgbClr val="FFBE48"/>
          </a:solidFill>
          <a:ln w="12700">
            <a:solidFill>
              <a:srgbClr val="FFB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321040" y="1874519"/>
            <a:ext cx="2423160" cy="1828800"/>
          </a:xfrm>
          <a:prstGeom prst="rect">
            <a:avLst/>
          </a:prstGeom>
          <a:noFill/>
          <a:ln w="38100">
            <a:solidFill>
              <a:srgbClr val="59D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321040" y="1499616"/>
            <a:ext cx="1417320" cy="329184"/>
          </a:xfrm>
          <a:prstGeom prst="roundRect">
            <a:avLst/>
          </a:prstGeom>
          <a:solidFill>
            <a:srgbClr val="59DD92"/>
          </a:solidFill>
          <a:ln w="12700">
            <a:solidFill>
              <a:srgbClr val="59D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66760" y="1549907"/>
            <a:ext cx="13258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F4F8FF"/>
                </a:solidFill>
                <a:latin typeface="Noto Sans"/>
              </a:rPr>
              <a:t>MANGO  0.93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08975" y="4169663"/>
            <a:ext cx="960120" cy="329184"/>
          </a:xfrm>
          <a:prstGeom prst="roundRect">
            <a:avLst/>
          </a:prstGeom>
          <a:solidFill>
            <a:srgbClr val="FF5B6F"/>
          </a:solidFill>
          <a:ln w="12700">
            <a:solidFill>
              <a:srgbClr val="FF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54696" y="4219955"/>
            <a:ext cx="868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1" i="0">
                <a:solidFill>
                  <a:srgbClr val="F4F8FF"/>
                </a:solidFill>
                <a:latin typeface="Noto Sans"/>
              </a:rPr>
              <a:t>RGB</a:t>
            </a:r>
          </a:p>
        </p:txBody>
      </p:sp>
      <p:sp>
        <p:nvSpPr>
          <p:cNvPr id="39" name="Chevron 38"/>
          <p:cNvSpPr/>
          <p:nvPr/>
        </p:nvSpPr>
        <p:spPr>
          <a:xfrm>
            <a:off x="8823960" y="4151376"/>
            <a:ext cx="274320" cy="329184"/>
          </a:xfrm>
          <a:prstGeom prst="chevron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997696" y="4169663"/>
            <a:ext cx="960120" cy="329184"/>
          </a:xfrm>
          <a:prstGeom prst="roundRect">
            <a:avLst/>
          </a:prstGeom>
          <a:solidFill>
            <a:srgbClr val="26D0CE"/>
          </a:solidFill>
          <a:ln w="12700">
            <a:solidFill>
              <a:srgbClr val="26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43416" y="4219955"/>
            <a:ext cx="868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1" i="0">
                <a:solidFill>
                  <a:srgbClr val="F4F8FF"/>
                </a:solidFill>
                <a:latin typeface="Noto Sans"/>
              </a:rPr>
              <a:t>FEATURE</a:t>
            </a:r>
          </a:p>
        </p:txBody>
      </p:sp>
      <p:sp>
        <p:nvSpPr>
          <p:cNvPr id="42" name="Chevron 41"/>
          <p:cNvSpPr/>
          <p:nvPr/>
        </p:nvSpPr>
        <p:spPr>
          <a:xfrm>
            <a:off x="10012680" y="4151376"/>
            <a:ext cx="274320" cy="329184"/>
          </a:xfrm>
          <a:prstGeom prst="chevron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0186415" y="4169663"/>
            <a:ext cx="960120" cy="329184"/>
          </a:xfrm>
          <a:prstGeom prst="roundRect">
            <a:avLst/>
          </a:prstGeom>
          <a:solidFill>
            <a:srgbClr val="59DD92"/>
          </a:solidFill>
          <a:ln w="12700">
            <a:solidFill>
              <a:srgbClr val="59D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32136" y="4219955"/>
            <a:ext cx="868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1" i="0">
                <a:solidFill>
                  <a:srgbClr val="F4F8FF"/>
                </a:solidFill>
                <a:latin typeface="Noto Sans"/>
              </a:rPr>
              <a:t>BOX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8" y="658368"/>
            <a:ext cx="63093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26D0CE"/>
                </a:solidFill>
                <a:latin typeface="Noto Sans"/>
              </a:rPr>
              <a:t>MACHINE LEARNING · COMPUTER VISION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808" y="1298448"/>
            <a:ext cx="6537960" cy="1508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500" b="1" i="0">
                <a:solidFill>
                  <a:srgbClr val="F4F8FF"/>
                </a:solidFill>
                <a:latin typeface="Noto Sans"/>
              </a:rPr>
              <a:t>TỪ PIXEL ĐẾN
BOUNDING BOX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" y="3108960"/>
            <a:ext cx="630936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0" i="0">
                <a:solidFill>
                  <a:srgbClr val="9DB1CA"/>
                </a:solidFill>
                <a:latin typeface="Noto Sans"/>
              </a:rPr>
              <a:t>Cốt lõi cách YOLOv8 nhìn, học và dự đoán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86384" y="3776472"/>
            <a:ext cx="5449824" cy="15240"/>
          </a:xfrm>
          <a:prstGeom prst="rect">
            <a:avLst/>
          </a:prstGeom>
          <a:solidFill>
            <a:srgbClr val="344B66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86384" y="4059936"/>
            <a:ext cx="61722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59DD92"/>
                </a:solidFill>
                <a:latin typeface="Noto Sans"/>
              </a:rPr>
              <a:t>Không bắt đầu từ API. Bắt đầu từ một con số màu sắc.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6384" y="5998464"/>
            <a:ext cx="53035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9DB1CA"/>
                </a:solidFill>
                <a:latin typeface="Noto Sans"/>
              </a:rPr>
              <a:t>YOLOv8s · Object Detection · Fruit Detection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881360" y="-292608"/>
            <a:ext cx="1600200" cy="896112"/>
          </a:xfrm>
          <a:prstGeom prst="roundRect">
            <a:avLst/>
          </a:prstGeom>
          <a:solidFill>
            <a:srgbClr val="26D0CE"/>
          </a:solidFill>
          <a:ln w="12700">
            <a:solidFill>
              <a:srgbClr val="26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384048" y="6345936"/>
            <a:ext cx="1920240" cy="804672"/>
          </a:xfrm>
          <a:prstGeom prst="roundRect">
            <a:avLst/>
          </a:prstGeom>
          <a:solidFill>
            <a:srgbClr val="9B7EFF"/>
          </a:solidFill>
          <a:ln w="12700">
            <a:solidFill>
              <a:srgbClr val="9B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749807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26D0CE"/>
                </a:solidFill>
                <a:latin typeface="Noto Sans"/>
              </a:rPr>
              <a:t>00 · BẢN ĐỒ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2648"/>
            <a:ext cx="106984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F4F8FF"/>
                </a:solidFill>
                <a:latin typeface="Noto Sans"/>
              </a:rPr>
              <a:t>Một dự đoán được tạo ra qua 8 phép biến đổi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27664" y="356616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9DB1CA"/>
                </a:solidFill>
                <a:latin typeface="Noto Sans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10899648" cy="15240"/>
          </a:xfrm>
          <a:prstGeom prst="rect">
            <a:avLst/>
          </a:prstGeom>
          <a:solidFill>
            <a:srgbClr val="344B66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78440" y="6492240"/>
            <a:ext cx="1152144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1" i="0">
                <a:solidFill>
                  <a:srgbClr val="9DB1CA"/>
                </a:solidFill>
                <a:latin typeface="Noto Sans"/>
              </a:rPr>
              <a:t>PIXEL → YOLOv8  ·  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01952"/>
            <a:ext cx="1170432" cy="2249424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2121408"/>
            <a:ext cx="384048" cy="384048"/>
          </a:xfrm>
          <a:prstGeom prst="ellipse">
            <a:avLst/>
          </a:prstGeom>
          <a:solidFill>
            <a:srgbClr val="FF5B6F"/>
          </a:solidFill>
          <a:ln w="12700">
            <a:solidFill>
              <a:srgbClr val="FF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194560"/>
            <a:ext cx="38404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1" i="0">
                <a:solidFill>
                  <a:srgbClr val="08101E"/>
                </a:solidFill>
                <a:latin typeface="Noto San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06624"/>
            <a:ext cx="98755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F4F8FF"/>
                </a:solidFill>
                <a:latin typeface="Noto Sans"/>
              </a:rPr>
              <a:t>Pixel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3200400"/>
            <a:ext cx="10058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19" b="0" i="0">
                <a:solidFill>
                  <a:srgbClr val="9DB1CA"/>
                </a:solidFill>
                <a:latin typeface="Noto Sans"/>
              </a:rPr>
              <a:t>R,G,B</a:t>
            </a:r>
          </a:p>
        </p:txBody>
      </p:sp>
      <p:sp>
        <p:nvSpPr>
          <p:cNvPr id="14" name="Chevron 13"/>
          <p:cNvSpPr/>
          <p:nvPr/>
        </p:nvSpPr>
        <p:spPr>
          <a:xfrm>
            <a:off x="1700784" y="2816352"/>
            <a:ext cx="210312" cy="365760"/>
          </a:xfrm>
          <a:prstGeom prst="chevron">
            <a:avLst/>
          </a:prstGeom>
          <a:solidFill>
            <a:srgbClr val="344B66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938528" y="1901952"/>
            <a:ext cx="1170432" cy="2249424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331720" y="2121408"/>
            <a:ext cx="384048" cy="384048"/>
          </a:xfrm>
          <a:prstGeom prst="ellipse">
            <a:avLst/>
          </a:prstGeom>
          <a:solidFill>
            <a:srgbClr val="FF844A"/>
          </a:solidFill>
          <a:ln w="12700">
            <a:solidFill>
              <a:srgbClr val="FF8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31720" y="2194560"/>
            <a:ext cx="38404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1" i="0">
                <a:solidFill>
                  <a:srgbClr val="08101E"/>
                </a:solidFill>
                <a:latin typeface="Noto San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29968" y="2706624"/>
            <a:ext cx="98755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F4F8FF"/>
                </a:solidFill>
                <a:latin typeface="Noto Sans"/>
              </a:rPr>
              <a:t>Tensor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20824" y="3200400"/>
            <a:ext cx="10058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19" b="0" i="0">
                <a:solidFill>
                  <a:srgbClr val="9DB1CA"/>
                </a:solidFill>
                <a:latin typeface="Noto Sans"/>
              </a:rPr>
              <a:t>1×3×640×640</a:t>
            </a:r>
          </a:p>
        </p:txBody>
      </p:sp>
      <p:sp>
        <p:nvSpPr>
          <p:cNvPr id="20" name="Chevron 19"/>
          <p:cNvSpPr/>
          <p:nvPr/>
        </p:nvSpPr>
        <p:spPr>
          <a:xfrm>
            <a:off x="3136392" y="2816352"/>
            <a:ext cx="210312" cy="365760"/>
          </a:xfrm>
          <a:prstGeom prst="chevron">
            <a:avLst/>
          </a:prstGeom>
          <a:solidFill>
            <a:srgbClr val="344B66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374136" y="1901952"/>
            <a:ext cx="1170432" cy="2249424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767328" y="2121408"/>
            <a:ext cx="384048" cy="384048"/>
          </a:xfrm>
          <a:prstGeom prst="ellipse">
            <a:avLst/>
          </a:prstGeom>
          <a:solidFill>
            <a:srgbClr val="FFBE48"/>
          </a:solidFill>
          <a:ln w="12700">
            <a:solidFill>
              <a:srgbClr val="FFB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67328" y="2194560"/>
            <a:ext cx="38404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1" i="0">
                <a:solidFill>
                  <a:srgbClr val="08101E"/>
                </a:solidFill>
                <a:latin typeface="Noto San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65576" y="2706624"/>
            <a:ext cx="98755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F4F8FF"/>
                </a:solidFill>
                <a:latin typeface="Noto Sans"/>
              </a:rPr>
              <a:t>Backbone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56432" y="3200400"/>
            <a:ext cx="10058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19" b="0" i="0">
                <a:solidFill>
                  <a:srgbClr val="9DB1CA"/>
                </a:solidFill>
                <a:latin typeface="Noto Sans"/>
              </a:rPr>
              <a:t>trích đặc trưng</a:t>
            </a:r>
          </a:p>
        </p:txBody>
      </p:sp>
      <p:sp>
        <p:nvSpPr>
          <p:cNvPr id="26" name="Chevron 25"/>
          <p:cNvSpPr/>
          <p:nvPr/>
        </p:nvSpPr>
        <p:spPr>
          <a:xfrm>
            <a:off x="4572000" y="2816352"/>
            <a:ext cx="210312" cy="365760"/>
          </a:xfrm>
          <a:prstGeom prst="chevron">
            <a:avLst/>
          </a:prstGeom>
          <a:solidFill>
            <a:srgbClr val="344B66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809744" y="1901952"/>
            <a:ext cx="1170432" cy="2249424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202936" y="2121408"/>
            <a:ext cx="384048" cy="384048"/>
          </a:xfrm>
          <a:prstGeom prst="ellipse">
            <a:avLst/>
          </a:prstGeom>
          <a:solidFill>
            <a:srgbClr val="59DD92"/>
          </a:solidFill>
          <a:ln w="12700">
            <a:solidFill>
              <a:srgbClr val="59D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02936" y="2194560"/>
            <a:ext cx="38404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1" i="0">
                <a:solidFill>
                  <a:srgbClr val="08101E"/>
                </a:solidFill>
                <a:latin typeface="Noto San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01183" y="2706624"/>
            <a:ext cx="98755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F4F8FF"/>
                </a:solidFill>
                <a:latin typeface="Noto Sans"/>
              </a:rPr>
              <a:t>Neck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2040" y="3200400"/>
            <a:ext cx="10058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19" b="0" i="0">
                <a:solidFill>
                  <a:srgbClr val="9DB1CA"/>
                </a:solidFill>
                <a:latin typeface="Noto Sans"/>
              </a:rPr>
              <a:t>hợp nhất tỉ lệ</a:t>
            </a:r>
          </a:p>
        </p:txBody>
      </p:sp>
      <p:sp>
        <p:nvSpPr>
          <p:cNvPr id="32" name="Chevron 31"/>
          <p:cNvSpPr/>
          <p:nvPr/>
        </p:nvSpPr>
        <p:spPr>
          <a:xfrm>
            <a:off x="6007608" y="2816352"/>
            <a:ext cx="210312" cy="365760"/>
          </a:xfrm>
          <a:prstGeom prst="chevron">
            <a:avLst/>
          </a:prstGeom>
          <a:solidFill>
            <a:srgbClr val="344B66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245352" y="1901952"/>
            <a:ext cx="1170432" cy="2249424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638544" y="2121408"/>
            <a:ext cx="384048" cy="384048"/>
          </a:xfrm>
          <a:prstGeom prst="ellipse">
            <a:avLst/>
          </a:prstGeom>
          <a:solidFill>
            <a:srgbClr val="26D0CE"/>
          </a:solidFill>
          <a:ln w="12700">
            <a:solidFill>
              <a:srgbClr val="26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38544" y="2194560"/>
            <a:ext cx="38404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1" i="0">
                <a:solidFill>
                  <a:srgbClr val="08101E"/>
                </a:solidFill>
                <a:latin typeface="Noto Sans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36792" y="2706624"/>
            <a:ext cx="98755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F4F8FF"/>
                </a:solidFill>
                <a:latin typeface="Noto Sans"/>
              </a:rPr>
              <a:t>Head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3200400"/>
            <a:ext cx="10058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19" b="0" i="0">
                <a:solidFill>
                  <a:srgbClr val="9DB1CA"/>
                </a:solidFill>
                <a:latin typeface="Noto Sans"/>
              </a:rPr>
              <a:t>box + class</a:t>
            </a:r>
          </a:p>
        </p:txBody>
      </p:sp>
      <p:sp>
        <p:nvSpPr>
          <p:cNvPr id="38" name="Chevron 37"/>
          <p:cNvSpPr/>
          <p:nvPr/>
        </p:nvSpPr>
        <p:spPr>
          <a:xfrm>
            <a:off x="7443216" y="2816352"/>
            <a:ext cx="210312" cy="365760"/>
          </a:xfrm>
          <a:prstGeom prst="chevron">
            <a:avLst/>
          </a:prstGeom>
          <a:solidFill>
            <a:srgbClr val="344B66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680960" y="1901952"/>
            <a:ext cx="1170432" cy="2249424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074152" y="2121408"/>
            <a:ext cx="384048" cy="384048"/>
          </a:xfrm>
          <a:prstGeom prst="ellipse">
            <a:avLst/>
          </a:prstGeom>
          <a:solidFill>
            <a:srgbClr val="4B96FF"/>
          </a:solidFill>
          <a:ln w="12700">
            <a:solidFill>
              <a:srgbClr val="4B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74152" y="2194560"/>
            <a:ext cx="38404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1" i="0">
                <a:solidFill>
                  <a:srgbClr val="08101E"/>
                </a:solidFill>
                <a:latin typeface="Noto Sans"/>
              </a:rPr>
              <a:t>06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0" y="2706624"/>
            <a:ext cx="98755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F4F8FF"/>
                </a:solidFill>
                <a:latin typeface="Noto Sans"/>
              </a:rPr>
              <a:t>Decode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63256" y="3200400"/>
            <a:ext cx="10058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19" b="0" i="0">
                <a:solidFill>
                  <a:srgbClr val="9DB1CA"/>
                </a:solidFill>
                <a:latin typeface="Noto Sans"/>
              </a:rPr>
              <a:t>tọa độ ảnh</a:t>
            </a:r>
          </a:p>
        </p:txBody>
      </p:sp>
      <p:sp>
        <p:nvSpPr>
          <p:cNvPr id="44" name="Chevron 43"/>
          <p:cNvSpPr/>
          <p:nvPr/>
        </p:nvSpPr>
        <p:spPr>
          <a:xfrm>
            <a:off x="8878824" y="2816352"/>
            <a:ext cx="210312" cy="365760"/>
          </a:xfrm>
          <a:prstGeom prst="chevron">
            <a:avLst/>
          </a:prstGeom>
          <a:solidFill>
            <a:srgbClr val="344B66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116568" y="1901952"/>
            <a:ext cx="1170432" cy="2249424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509760" y="2121408"/>
            <a:ext cx="384048" cy="384048"/>
          </a:xfrm>
          <a:prstGeom prst="ellipse">
            <a:avLst/>
          </a:prstGeom>
          <a:solidFill>
            <a:srgbClr val="9B7EFF"/>
          </a:solidFill>
          <a:ln w="12700">
            <a:solidFill>
              <a:srgbClr val="9B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509760" y="2194560"/>
            <a:ext cx="38404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1" i="0">
                <a:solidFill>
                  <a:srgbClr val="08101E"/>
                </a:solidFill>
                <a:latin typeface="Noto Sans"/>
              </a:rPr>
              <a:t>07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08008" y="2706624"/>
            <a:ext cx="98755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F4F8FF"/>
                </a:solidFill>
                <a:latin typeface="Noto Sans"/>
              </a:rPr>
              <a:t>NMS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98864" y="3200400"/>
            <a:ext cx="10058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19" b="0" i="0">
                <a:solidFill>
                  <a:srgbClr val="9DB1CA"/>
                </a:solidFill>
                <a:latin typeface="Noto Sans"/>
              </a:rPr>
              <a:t>bỏ box trùng</a:t>
            </a:r>
          </a:p>
        </p:txBody>
      </p:sp>
      <p:sp>
        <p:nvSpPr>
          <p:cNvPr id="50" name="Chevron 49"/>
          <p:cNvSpPr/>
          <p:nvPr/>
        </p:nvSpPr>
        <p:spPr>
          <a:xfrm>
            <a:off x="10314432" y="2816352"/>
            <a:ext cx="210312" cy="365760"/>
          </a:xfrm>
          <a:prstGeom prst="chevron">
            <a:avLst/>
          </a:prstGeom>
          <a:solidFill>
            <a:srgbClr val="344B66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0552176" y="1901952"/>
            <a:ext cx="1170432" cy="2249424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945368" y="2121408"/>
            <a:ext cx="384048" cy="384048"/>
          </a:xfrm>
          <a:prstGeom prst="ellipse">
            <a:avLst/>
          </a:prstGeom>
          <a:solidFill>
            <a:srgbClr val="FF5B6F"/>
          </a:solidFill>
          <a:ln w="12700">
            <a:solidFill>
              <a:srgbClr val="FF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945368" y="2194560"/>
            <a:ext cx="38404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1" i="0">
                <a:solidFill>
                  <a:srgbClr val="08101E"/>
                </a:solidFill>
                <a:latin typeface="Noto Sans"/>
              </a:rPr>
              <a:t>08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643616" y="2706624"/>
            <a:ext cx="98755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F4F8FF"/>
                </a:solidFill>
                <a:latin typeface="Noto Sans"/>
              </a:rPr>
              <a:t>Output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634472" y="3200400"/>
            <a:ext cx="10058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19" b="0" i="0">
                <a:solidFill>
                  <a:srgbClr val="9DB1CA"/>
                </a:solidFill>
                <a:latin typeface="Noto Sans"/>
              </a:rPr>
              <a:t>quả + 0.93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1560" y="4828032"/>
            <a:ext cx="10058400" cy="43891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500" b="0">
                <a:solidFill>
                  <a:srgbClr val="9DB1CA"/>
                </a:solidFill>
                <a:latin typeface="Noto Sans"/>
              </a:rPr>
              <a:t>Điểm xuyên suốt: </a:t>
            </a:r>
            <a:r>
              <a:rPr sz="1500" b="1">
                <a:solidFill>
                  <a:srgbClr val="26D0CE"/>
                </a:solidFill>
                <a:latin typeface="Noto Sans"/>
              </a:rPr>
              <a:t>mọi thứ đều là tensor và phép toán khả vi</a:t>
            </a:r>
            <a:r>
              <a:rPr sz="1500" b="0">
                <a:solidFill>
                  <a:srgbClr val="9DB1CA"/>
                </a:solidFill>
                <a:latin typeface="Noto Sans"/>
              </a:rPr>
              <a:t> — cho đến bước NMS.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920240" y="5413248"/>
            <a:ext cx="8321040" cy="585216"/>
          </a:xfrm>
          <a:prstGeom prst="round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1920240" y="5413248"/>
            <a:ext cx="45720" cy="585216"/>
          </a:xfrm>
          <a:prstGeom prst="roundRect">
            <a:avLst/>
          </a:prstGeom>
          <a:solidFill>
            <a:srgbClr val="59DD92"/>
          </a:solidFill>
          <a:ln w="12700">
            <a:solidFill>
              <a:srgbClr val="59D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066544" y="5504688"/>
            <a:ext cx="8065008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 i="0">
                <a:solidFill>
                  <a:srgbClr val="F4F8FF"/>
                </a:solidFill>
                <a:latin typeface="DejaVu Sans Mono"/>
              </a:rPr>
              <a:t>pixel → feature → logits → probability / box → detection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881360" y="-292608"/>
            <a:ext cx="1600200" cy="896112"/>
          </a:xfrm>
          <a:prstGeom prst="roundRect">
            <a:avLst/>
          </a:prstGeom>
          <a:solidFill>
            <a:srgbClr val="26D0CE"/>
          </a:solidFill>
          <a:ln w="12700">
            <a:solidFill>
              <a:srgbClr val="26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384048" y="6345936"/>
            <a:ext cx="1920240" cy="804672"/>
          </a:xfrm>
          <a:prstGeom prst="roundRect">
            <a:avLst/>
          </a:prstGeom>
          <a:solidFill>
            <a:srgbClr val="9B7EFF"/>
          </a:solidFill>
          <a:ln w="12700">
            <a:solidFill>
              <a:srgbClr val="9B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749807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26D0CE"/>
                </a:solidFill>
                <a:latin typeface="Noto Sans"/>
              </a:rPr>
              <a:t>01 · ĐẦU VÀO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2648"/>
            <a:ext cx="106984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F4F8FF"/>
                </a:solidFill>
                <a:latin typeface="Noto Sans"/>
              </a:rPr>
              <a:t>Một pixel không phải “màu” — nó là ba con số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27664" y="356616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9DB1CA"/>
                </a:solidFill>
                <a:latin typeface="Noto Sans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10899648" cy="15240"/>
          </a:xfrm>
          <a:prstGeom prst="rect">
            <a:avLst/>
          </a:prstGeom>
          <a:solidFill>
            <a:srgbClr val="344B66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78440" y="6492240"/>
            <a:ext cx="1152144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1" i="0">
                <a:solidFill>
                  <a:srgbClr val="9DB1CA"/>
                </a:solidFill>
                <a:latin typeface="Noto Sans"/>
              </a:rPr>
              <a:t>PIXEL → YOLOv8  · 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700784"/>
            <a:ext cx="3886200" cy="4315968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938528"/>
            <a:ext cx="332841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 i="0">
                <a:solidFill>
                  <a:srgbClr val="26D0CE"/>
                </a:solidFill>
                <a:latin typeface="Noto Sans"/>
              </a:rPr>
              <a:t>PIXEL (x = 421, y = 206)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2450592"/>
            <a:ext cx="585216" cy="585216"/>
          </a:xfrm>
          <a:prstGeom prst="roundRect">
            <a:avLst/>
          </a:prstGeom>
          <a:solidFill>
            <a:srgbClr val="FF5B6F"/>
          </a:solidFill>
          <a:ln w="12700">
            <a:solidFill>
              <a:srgbClr val="FF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569464"/>
            <a:ext cx="58521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F4F8FF"/>
                </a:solidFill>
                <a:latin typeface="Noto Sans"/>
              </a:rPr>
              <a:t>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56816" y="2523744"/>
            <a:ext cx="98755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2200" b="1" i="0">
                <a:solidFill>
                  <a:srgbClr val="F4F8FF"/>
                </a:solidFill>
                <a:latin typeface="DejaVu Sans Mono"/>
              </a:rPr>
              <a:t>214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606040"/>
            <a:ext cx="7132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9DB1CA"/>
                </a:solidFill>
                <a:latin typeface="DejaVu Sans Mono"/>
              </a:rPr>
              <a:t>/ 255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3319272"/>
            <a:ext cx="585216" cy="585216"/>
          </a:xfrm>
          <a:prstGeom prst="roundRect">
            <a:avLst/>
          </a:prstGeom>
          <a:solidFill>
            <a:srgbClr val="59DD92"/>
          </a:solidFill>
          <a:ln w="12700">
            <a:solidFill>
              <a:srgbClr val="59D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438144"/>
            <a:ext cx="58521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F4F8FF"/>
                </a:solidFill>
                <a:latin typeface="Noto Sans"/>
              </a:rPr>
              <a:t>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56816" y="3392424"/>
            <a:ext cx="98755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2200" b="1" i="0">
                <a:solidFill>
                  <a:srgbClr val="F4F8FF"/>
                </a:solidFill>
                <a:latin typeface="DejaVu Sans Mono"/>
              </a:rPr>
              <a:t>98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474720"/>
            <a:ext cx="7132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9DB1CA"/>
                </a:solidFill>
                <a:latin typeface="DejaVu Sans Mono"/>
              </a:rPr>
              <a:t>/ 255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4187952"/>
            <a:ext cx="585216" cy="585216"/>
          </a:xfrm>
          <a:prstGeom prst="roundRect">
            <a:avLst/>
          </a:prstGeom>
          <a:solidFill>
            <a:srgbClr val="4B96FF"/>
          </a:solidFill>
          <a:ln w="12700">
            <a:solidFill>
              <a:srgbClr val="4B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306824"/>
            <a:ext cx="58521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F4F8FF"/>
                </a:solidFill>
                <a:latin typeface="Noto Sans"/>
              </a:rP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6816" y="4261104"/>
            <a:ext cx="98755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2200" b="1" i="0">
                <a:solidFill>
                  <a:srgbClr val="F4F8FF"/>
                </a:solidFill>
                <a:latin typeface="DejaVu Sans Mono"/>
              </a:rPr>
              <a:t>37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4343400"/>
            <a:ext cx="7132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9DB1CA"/>
                </a:solidFill>
                <a:latin typeface="DejaVu Sans Mono"/>
              </a:rPr>
              <a:t>/ 255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15568" y="5248656"/>
            <a:ext cx="3054096" cy="493776"/>
          </a:xfrm>
          <a:prstGeom prst="roundRect">
            <a:avLst/>
          </a:prstGeom>
          <a:solidFill>
            <a:srgbClr val="D66225"/>
          </a:solidFill>
          <a:ln w="12700">
            <a:solidFill>
              <a:srgbClr val="D66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5568" y="5394960"/>
            <a:ext cx="305409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F4F8FF"/>
                </a:solidFill>
                <a:latin typeface="Noto Sans"/>
              </a:rPr>
              <a:t>màu hiển thị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84064" y="1737360"/>
            <a:ext cx="214884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26D0CE"/>
                </a:solidFill>
                <a:latin typeface="Noto Sans"/>
              </a:rPr>
              <a:t>ẢNH = LƯỚI PIXEL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02352" y="2157984"/>
            <a:ext cx="484632" cy="484632"/>
          </a:xfrm>
          <a:prstGeom prst="rect">
            <a:avLst/>
          </a:prstGeom>
          <a:solidFill>
            <a:srgbClr val="1B2F48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02352" y="2212848"/>
            <a:ext cx="484632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4F8FF"/>
                </a:solidFill>
                <a:latin typeface="DejaVu Sans Mono"/>
              </a:rPr>
              <a:t>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05272" y="2157984"/>
            <a:ext cx="484632" cy="484632"/>
          </a:xfrm>
          <a:prstGeom prst="rect">
            <a:avLst/>
          </a:prstGeom>
          <a:solidFill>
            <a:srgbClr val="1B2F48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05272" y="2212848"/>
            <a:ext cx="484632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4F8FF"/>
                </a:solidFill>
                <a:latin typeface="DejaVu Sans Mono"/>
              </a:rPr>
              <a:t>…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08192" y="2157984"/>
            <a:ext cx="484632" cy="484632"/>
          </a:xfrm>
          <a:prstGeom prst="rect">
            <a:avLst/>
          </a:prstGeom>
          <a:solidFill>
            <a:srgbClr val="1B2F48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08192" y="2212848"/>
            <a:ext cx="484632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4F8FF"/>
                </a:solidFill>
                <a:latin typeface="DejaVu Sans Mono"/>
              </a:rPr>
              <a:t>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11112" y="2157984"/>
            <a:ext cx="484632" cy="484632"/>
          </a:xfrm>
          <a:prstGeom prst="rect">
            <a:avLst/>
          </a:prstGeom>
          <a:solidFill>
            <a:srgbClr val="1B2F48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11112" y="2212848"/>
            <a:ext cx="484632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4F8FF"/>
                </a:solidFill>
                <a:latin typeface="DejaVu Sans Mono"/>
              </a:rPr>
              <a:t>…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14032" y="2157984"/>
            <a:ext cx="484632" cy="484632"/>
          </a:xfrm>
          <a:prstGeom prst="rect">
            <a:avLst/>
          </a:prstGeom>
          <a:solidFill>
            <a:srgbClr val="1B2F48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14032" y="2212848"/>
            <a:ext cx="484632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4F8FF"/>
                </a:solidFill>
                <a:latin typeface="DejaVu Sans Mono"/>
              </a:rPr>
              <a:t>…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16952" y="2157984"/>
            <a:ext cx="484632" cy="484632"/>
          </a:xfrm>
          <a:prstGeom prst="rect">
            <a:avLst/>
          </a:prstGeom>
          <a:solidFill>
            <a:srgbClr val="1B2F48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16952" y="2212848"/>
            <a:ext cx="484632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4F8FF"/>
                </a:solidFill>
                <a:latin typeface="DejaVu Sans Mono"/>
              </a:rPr>
              <a:t>…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102352" y="2660904"/>
            <a:ext cx="484632" cy="484632"/>
          </a:xfrm>
          <a:prstGeom prst="rect">
            <a:avLst/>
          </a:prstGeom>
          <a:solidFill>
            <a:srgbClr val="1B2F48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02352" y="2715768"/>
            <a:ext cx="484632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4F8FF"/>
                </a:solidFill>
                <a:latin typeface="DejaVu Sans Mono"/>
              </a:rPr>
              <a:t>…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05272" y="2660904"/>
            <a:ext cx="484632" cy="484632"/>
          </a:xfrm>
          <a:prstGeom prst="rect">
            <a:avLst/>
          </a:prstGeom>
          <a:solidFill>
            <a:srgbClr val="1B2F48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05272" y="2715768"/>
            <a:ext cx="484632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4F8FF"/>
                </a:solidFill>
                <a:latin typeface="DejaVu Sans Mono"/>
              </a:rPr>
              <a:t>…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2660904"/>
            <a:ext cx="484632" cy="484632"/>
          </a:xfrm>
          <a:prstGeom prst="rect">
            <a:avLst/>
          </a:prstGeom>
          <a:solidFill>
            <a:srgbClr val="1B2F48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08192" y="2715768"/>
            <a:ext cx="484632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4F8FF"/>
                </a:solidFill>
                <a:latin typeface="DejaVu Sans Mono"/>
              </a:rPr>
              <a:t>…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11112" y="2660904"/>
            <a:ext cx="484632" cy="484632"/>
          </a:xfrm>
          <a:prstGeom prst="rect">
            <a:avLst/>
          </a:prstGeom>
          <a:solidFill>
            <a:srgbClr val="1B2F48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11112" y="2715768"/>
            <a:ext cx="484632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4F8FF"/>
                </a:solidFill>
                <a:latin typeface="DejaVu Sans Mono"/>
              </a:rPr>
              <a:t>…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14032" y="2660904"/>
            <a:ext cx="484632" cy="484632"/>
          </a:xfrm>
          <a:prstGeom prst="rect">
            <a:avLst/>
          </a:prstGeom>
          <a:solidFill>
            <a:srgbClr val="1B2F48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14032" y="2715768"/>
            <a:ext cx="484632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4F8FF"/>
                </a:solidFill>
                <a:latin typeface="DejaVu Sans Mono"/>
              </a:rPr>
              <a:t>…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616952" y="2660904"/>
            <a:ext cx="484632" cy="484632"/>
          </a:xfrm>
          <a:prstGeom prst="rect">
            <a:avLst/>
          </a:prstGeom>
          <a:solidFill>
            <a:srgbClr val="1B2F48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16952" y="2715768"/>
            <a:ext cx="484632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4F8FF"/>
                </a:solidFill>
                <a:latin typeface="DejaVu Sans Mono"/>
              </a:rPr>
              <a:t>…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102352" y="3163824"/>
            <a:ext cx="484632" cy="484632"/>
          </a:xfrm>
          <a:prstGeom prst="rect">
            <a:avLst/>
          </a:prstGeom>
          <a:solidFill>
            <a:srgbClr val="1B2F48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02352" y="3218688"/>
            <a:ext cx="484632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4F8FF"/>
                </a:solidFill>
                <a:latin typeface="DejaVu Sans Mono"/>
              </a:rPr>
              <a:t>…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05272" y="3163824"/>
            <a:ext cx="484632" cy="484632"/>
          </a:xfrm>
          <a:prstGeom prst="rect">
            <a:avLst/>
          </a:prstGeom>
          <a:solidFill>
            <a:srgbClr val="1B2F48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05272" y="3218688"/>
            <a:ext cx="484632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4F8FF"/>
                </a:solidFill>
                <a:latin typeface="DejaVu Sans Mono"/>
              </a:rPr>
              <a:t>…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3163824"/>
            <a:ext cx="484632" cy="484632"/>
          </a:xfrm>
          <a:prstGeom prst="rect">
            <a:avLst/>
          </a:prstGeom>
          <a:solidFill>
            <a:srgbClr val="1B2F48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08192" y="3218688"/>
            <a:ext cx="484632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4F8FF"/>
                </a:solidFill>
                <a:latin typeface="DejaVu Sans Mono"/>
              </a:rPr>
              <a:t>…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611112" y="3163824"/>
            <a:ext cx="484632" cy="484632"/>
          </a:xfrm>
          <a:prstGeom prst="rect">
            <a:avLst/>
          </a:prstGeom>
          <a:solidFill>
            <a:srgbClr val="1B2F48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11112" y="3218688"/>
            <a:ext cx="484632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4F8FF"/>
                </a:solidFill>
                <a:latin typeface="DejaVu Sans Mono"/>
              </a:rPr>
              <a:t>…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114032" y="3163824"/>
            <a:ext cx="484632" cy="484632"/>
          </a:xfrm>
          <a:prstGeom prst="rect">
            <a:avLst/>
          </a:prstGeom>
          <a:solidFill>
            <a:srgbClr val="FF844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114032" y="3218688"/>
            <a:ext cx="484632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4F8FF"/>
                </a:solidFill>
                <a:latin typeface="DejaVu Sans Mono"/>
              </a:rPr>
              <a:t>●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616952" y="3163824"/>
            <a:ext cx="484632" cy="484632"/>
          </a:xfrm>
          <a:prstGeom prst="rect">
            <a:avLst/>
          </a:prstGeom>
          <a:solidFill>
            <a:srgbClr val="1B2F48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616952" y="3218688"/>
            <a:ext cx="484632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4F8FF"/>
                </a:solidFill>
                <a:latin typeface="DejaVu Sans Mono"/>
              </a:rPr>
              <a:t>…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102352" y="3666744"/>
            <a:ext cx="484632" cy="484632"/>
          </a:xfrm>
          <a:prstGeom prst="rect">
            <a:avLst/>
          </a:prstGeom>
          <a:solidFill>
            <a:srgbClr val="1B2F48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102352" y="3721607"/>
            <a:ext cx="484632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4F8FF"/>
                </a:solidFill>
                <a:latin typeface="DejaVu Sans Mono"/>
              </a:rPr>
              <a:t>…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05272" y="3666744"/>
            <a:ext cx="484632" cy="484632"/>
          </a:xfrm>
          <a:prstGeom prst="rect">
            <a:avLst/>
          </a:prstGeom>
          <a:solidFill>
            <a:srgbClr val="1B2F48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605272" y="3721607"/>
            <a:ext cx="484632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4F8FF"/>
                </a:solidFill>
                <a:latin typeface="DejaVu Sans Mono"/>
              </a:rPr>
              <a:t>…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08192" y="3666744"/>
            <a:ext cx="484632" cy="484632"/>
          </a:xfrm>
          <a:prstGeom prst="rect">
            <a:avLst/>
          </a:prstGeom>
          <a:solidFill>
            <a:srgbClr val="1B2F48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08192" y="3721607"/>
            <a:ext cx="484632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4F8FF"/>
                </a:solidFill>
                <a:latin typeface="DejaVu Sans Mono"/>
              </a:rPr>
              <a:t>…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611112" y="3666744"/>
            <a:ext cx="484632" cy="484632"/>
          </a:xfrm>
          <a:prstGeom prst="rect">
            <a:avLst/>
          </a:prstGeom>
          <a:solidFill>
            <a:srgbClr val="1B2F48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611112" y="3721607"/>
            <a:ext cx="484632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4F8FF"/>
                </a:solidFill>
                <a:latin typeface="DejaVu Sans Mono"/>
              </a:rPr>
              <a:t>…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114032" y="3666744"/>
            <a:ext cx="484632" cy="484632"/>
          </a:xfrm>
          <a:prstGeom prst="rect">
            <a:avLst/>
          </a:prstGeom>
          <a:solidFill>
            <a:srgbClr val="1B2F48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114032" y="3721607"/>
            <a:ext cx="484632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4F8FF"/>
                </a:solidFill>
                <a:latin typeface="DejaVu Sans Mono"/>
              </a:rPr>
              <a:t>…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616952" y="3666744"/>
            <a:ext cx="484632" cy="484632"/>
          </a:xfrm>
          <a:prstGeom prst="rect">
            <a:avLst/>
          </a:prstGeom>
          <a:solidFill>
            <a:srgbClr val="1B2F48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616952" y="3721607"/>
            <a:ext cx="484632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4F8FF"/>
                </a:solidFill>
                <a:latin typeface="DejaVu Sans Mono"/>
              </a:rPr>
              <a:t>…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102352" y="4169664"/>
            <a:ext cx="484632" cy="484632"/>
          </a:xfrm>
          <a:prstGeom prst="rect">
            <a:avLst/>
          </a:prstGeom>
          <a:solidFill>
            <a:srgbClr val="1B2F48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102352" y="4224528"/>
            <a:ext cx="484632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4F8FF"/>
                </a:solidFill>
                <a:latin typeface="DejaVu Sans Mono"/>
              </a:rPr>
              <a:t>…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605272" y="4169664"/>
            <a:ext cx="484632" cy="484632"/>
          </a:xfrm>
          <a:prstGeom prst="rect">
            <a:avLst/>
          </a:prstGeom>
          <a:solidFill>
            <a:srgbClr val="1B2F48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605272" y="4224528"/>
            <a:ext cx="484632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4F8FF"/>
                </a:solidFill>
                <a:latin typeface="DejaVu Sans Mono"/>
              </a:rPr>
              <a:t>…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08192" y="4169664"/>
            <a:ext cx="484632" cy="484632"/>
          </a:xfrm>
          <a:prstGeom prst="rect">
            <a:avLst/>
          </a:prstGeom>
          <a:solidFill>
            <a:srgbClr val="1B2F48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08192" y="4224528"/>
            <a:ext cx="484632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4F8FF"/>
                </a:solidFill>
                <a:latin typeface="DejaVu Sans Mono"/>
              </a:rPr>
              <a:t>…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611112" y="4169664"/>
            <a:ext cx="484632" cy="484632"/>
          </a:xfrm>
          <a:prstGeom prst="rect">
            <a:avLst/>
          </a:prstGeom>
          <a:solidFill>
            <a:srgbClr val="1B2F48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611112" y="4224528"/>
            <a:ext cx="484632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4F8FF"/>
                </a:solidFill>
                <a:latin typeface="DejaVu Sans Mono"/>
              </a:rPr>
              <a:t>…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114032" y="4169664"/>
            <a:ext cx="484632" cy="484632"/>
          </a:xfrm>
          <a:prstGeom prst="rect">
            <a:avLst/>
          </a:prstGeom>
          <a:solidFill>
            <a:srgbClr val="1B2F48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114032" y="4224528"/>
            <a:ext cx="484632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4F8FF"/>
                </a:solidFill>
                <a:latin typeface="DejaVu Sans Mono"/>
              </a:rPr>
              <a:t>…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616952" y="4169664"/>
            <a:ext cx="484632" cy="484632"/>
          </a:xfrm>
          <a:prstGeom prst="rect">
            <a:avLst/>
          </a:prstGeom>
          <a:solidFill>
            <a:srgbClr val="1B2F48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616952" y="4224528"/>
            <a:ext cx="484632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4F8FF"/>
                </a:solidFill>
                <a:latin typeface="DejaVu Sans Mono"/>
              </a:rPr>
              <a:t>…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486400" y="4864608"/>
            <a:ext cx="21945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9DB1CA"/>
                </a:solidFill>
                <a:latin typeface="Noto Sans"/>
              </a:rPr>
              <a:t>tọa độ (x, y)</a:t>
            </a:r>
          </a:p>
        </p:txBody>
      </p:sp>
      <p:sp>
        <p:nvSpPr>
          <p:cNvPr id="87" name="Chevron 86"/>
          <p:cNvSpPr/>
          <p:nvPr/>
        </p:nvSpPr>
        <p:spPr>
          <a:xfrm>
            <a:off x="8174736" y="3035808"/>
            <a:ext cx="475488" cy="502920"/>
          </a:xfrm>
          <a:prstGeom prst="chevron">
            <a:avLst/>
          </a:prstGeom>
          <a:solidFill>
            <a:srgbClr val="26D0CE"/>
          </a:solidFill>
          <a:ln w="12700">
            <a:solidFill>
              <a:srgbClr val="26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8887968" y="1993392"/>
            <a:ext cx="2606040" cy="2468880"/>
          </a:xfrm>
          <a:prstGeom prst="round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162288" y="2258568"/>
            <a:ext cx="2057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9DB1CA"/>
                </a:solidFill>
                <a:latin typeface="Noto Sans"/>
              </a:rPr>
              <a:t>Vector tại pixel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9189720" y="2779776"/>
            <a:ext cx="2011680" cy="566928"/>
          </a:xfrm>
          <a:prstGeom prst="round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9189720" y="2779776"/>
            <a:ext cx="45720" cy="566928"/>
          </a:xfrm>
          <a:prstGeom prst="roundRect">
            <a:avLst/>
          </a:prstGeom>
          <a:solidFill>
            <a:srgbClr val="FF844A"/>
          </a:solidFill>
          <a:ln w="12700">
            <a:solidFill>
              <a:srgbClr val="FF8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336024" y="2871216"/>
            <a:ext cx="1755648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600" b="1" i="0">
                <a:solidFill>
                  <a:srgbClr val="F4F8FF"/>
                </a:solidFill>
                <a:latin typeface="DejaVu Sans Mono"/>
              </a:rPr>
              <a:t>[214, 98, 37]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9061704" y="3584448"/>
            <a:ext cx="2267712" cy="566928"/>
          </a:xfrm>
          <a:prstGeom prst="round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9061704" y="3584448"/>
            <a:ext cx="45720" cy="566928"/>
          </a:xfrm>
          <a:prstGeom prst="roundRect">
            <a:avLst/>
          </a:prstGeom>
          <a:solidFill>
            <a:srgbClr val="59DD92"/>
          </a:solidFill>
          <a:ln w="12700">
            <a:solidFill>
              <a:srgbClr val="59D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208008" y="3675887"/>
            <a:ext cx="2011680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50" b="1" i="0">
                <a:solidFill>
                  <a:srgbClr val="59DD92"/>
                </a:solidFill>
                <a:latin typeface="DejaVu Sans Mono"/>
              </a:rPr>
              <a:t>[0.839, 0.384, 0.145]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102352" y="5394960"/>
            <a:ext cx="6327648" cy="38404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400" b="0">
                <a:solidFill>
                  <a:srgbClr val="9DB1CA"/>
                </a:solidFill>
                <a:latin typeface="Noto Sans"/>
              </a:rPr>
              <a:t>640 × 640 pixel × 3 kênh = </a:t>
            </a:r>
            <a:r>
              <a:rPr sz="1400" b="1">
                <a:solidFill>
                  <a:srgbClr val="FFBE48"/>
                </a:solidFill>
                <a:latin typeface="Noto Sans"/>
              </a:rPr>
              <a:t>1.228.800 giá trị đầu vào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881360" y="-292608"/>
            <a:ext cx="1600200" cy="896112"/>
          </a:xfrm>
          <a:prstGeom prst="roundRect">
            <a:avLst/>
          </a:prstGeom>
          <a:solidFill>
            <a:srgbClr val="26D0CE"/>
          </a:solidFill>
          <a:ln w="12700">
            <a:solidFill>
              <a:srgbClr val="26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384048" y="6345936"/>
            <a:ext cx="1920240" cy="804672"/>
          </a:xfrm>
          <a:prstGeom prst="roundRect">
            <a:avLst/>
          </a:prstGeom>
          <a:solidFill>
            <a:srgbClr val="9B7EFF"/>
          </a:solidFill>
          <a:ln w="12700">
            <a:solidFill>
              <a:srgbClr val="9B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749807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26D0CE"/>
                </a:solidFill>
                <a:latin typeface="Noto Sans"/>
              </a:rPr>
              <a:t>02 · TIỀN XỬ LÝ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2648"/>
            <a:ext cx="106984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F4F8FF"/>
                </a:solidFill>
                <a:latin typeface="Noto Sans"/>
              </a:rPr>
              <a:t>Từ tệp ảnh đến tensor mà mạng có thể tính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27664" y="356616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9DB1CA"/>
                </a:solidFill>
                <a:latin typeface="Noto Sans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10899648" cy="15240"/>
          </a:xfrm>
          <a:prstGeom prst="rect">
            <a:avLst/>
          </a:prstGeom>
          <a:solidFill>
            <a:srgbClr val="344B66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78440" y="6492240"/>
            <a:ext cx="1152144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1" i="0">
                <a:solidFill>
                  <a:srgbClr val="9DB1CA"/>
                </a:solidFill>
                <a:latin typeface="Noto Sans"/>
              </a:rPr>
              <a:t>PIXEL → YOLOv8  ·  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74519"/>
            <a:ext cx="1627632" cy="2450592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8992" y="2103120"/>
            <a:ext cx="475488" cy="475488"/>
          </a:xfrm>
          <a:prstGeom prst="ellipse">
            <a:avLst/>
          </a:prstGeom>
          <a:solidFill>
            <a:srgbClr val="FF5B6F"/>
          </a:solidFill>
          <a:ln w="12700">
            <a:solidFill>
              <a:srgbClr val="FF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203704"/>
            <a:ext cx="47548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08101E"/>
                </a:solidFill>
                <a:latin typeface="Noto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798064"/>
            <a:ext cx="1389888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50" b="1" i="0">
                <a:solidFill>
                  <a:srgbClr val="F4F8FF"/>
                </a:solidFill>
                <a:latin typeface="Noto Sans"/>
              </a:rPr>
              <a:t>Ảnh gốc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346704"/>
            <a:ext cx="138988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50" b="0" i="0">
                <a:solidFill>
                  <a:srgbClr val="9DB1CA"/>
                </a:solidFill>
                <a:latin typeface="DejaVu Sans Mono"/>
              </a:rPr>
              <a:t>1920 × 1080 × 3
uint8 · [0,255]</a:t>
            </a:r>
          </a:p>
        </p:txBody>
      </p:sp>
      <p:sp>
        <p:nvSpPr>
          <p:cNvPr id="14" name="Chevron 13"/>
          <p:cNvSpPr/>
          <p:nvPr/>
        </p:nvSpPr>
        <p:spPr>
          <a:xfrm>
            <a:off x="2157984" y="2788920"/>
            <a:ext cx="256032" cy="457200"/>
          </a:xfrm>
          <a:prstGeom prst="chevron">
            <a:avLst/>
          </a:prstGeom>
          <a:solidFill>
            <a:srgbClr val="344B66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404872" y="1874519"/>
            <a:ext cx="1627632" cy="2450592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80944" y="2103120"/>
            <a:ext cx="475488" cy="475488"/>
          </a:xfrm>
          <a:prstGeom prst="ellipse">
            <a:avLst/>
          </a:prstGeom>
          <a:solidFill>
            <a:srgbClr val="FF844A"/>
          </a:solidFill>
          <a:ln w="12700">
            <a:solidFill>
              <a:srgbClr val="FF8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80944" y="2203704"/>
            <a:ext cx="47548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08101E"/>
                </a:solidFill>
                <a:latin typeface="Noto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23744" y="2798064"/>
            <a:ext cx="1389888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50" b="1" i="0">
                <a:solidFill>
                  <a:srgbClr val="F4F8FF"/>
                </a:solidFill>
                <a:latin typeface="Noto Sans"/>
              </a:rPr>
              <a:t>Resize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23744" y="3346704"/>
            <a:ext cx="138988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50" b="0" i="0">
                <a:solidFill>
                  <a:srgbClr val="9DB1CA"/>
                </a:solidFill>
                <a:latin typeface="DejaVu Sans Mono"/>
              </a:rPr>
              <a:t>giữ tỉ lệ
scale = 640/1920</a:t>
            </a:r>
          </a:p>
        </p:txBody>
      </p:sp>
      <p:sp>
        <p:nvSpPr>
          <p:cNvPr id="20" name="Chevron 19"/>
          <p:cNvSpPr/>
          <p:nvPr/>
        </p:nvSpPr>
        <p:spPr>
          <a:xfrm>
            <a:off x="4059935" y="2788920"/>
            <a:ext cx="256032" cy="457200"/>
          </a:xfrm>
          <a:prstGeom prst="chevron">
            <a:avLst/>
          </a:prstGeom>
          <a:solidFill>
            <a:srgbClr val="344B66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06824" y="1874519"/>
            <a:ext cx="1627632" cy="2450592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82896" y="2103120"/>
            <a:ext cx="475488" cy="475488"/>
          </a:xfrm>
          <a:prstGeom prst="ellipse">
            <a:avLst/>
          </a:prstGeom>
          <a:solidFill>
            <a:srgbClr val="FFBE48"/>
          </a:solidFill>
          <a:ln w="12700">
            <a:solidFill>
              <a:srgbClr val="FFB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82896" y="2203704"/>
            <a:ext cx="47548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08101E"/>
                </a:solidFill>
                <a:latin typeface="Noto Sa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25696" y="2798064"/>
            <a:ext cx="1389888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50" b="1" i="0">
                <a:solidFill>
                  <a:srgbClr val="F4F8FF"/>
                </a:solidFill>
                <a:latin typeface="Noto Sans"/>
              </a:rPr>
              <a:t>Letterbox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25696" y="3346704"/>
            <a:ext cx="138988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50" b="0" i="0">
                <a:solidFill>
                  <a:srgbClr val="9DB1CA"/>
                </a:solidFill>
                <a:latin typeface="DejaVu Sans Mono"/>
              </a:rPr>
              <a:t>640 × 640
padding trên / dưới</a:t>
            </a:r>
          </a:p>
        </p:txBody>
      </p:sp>
      <p:sp>
        <p:nvSpPr>
          <p:cNvPr id="26" name="Chevron 25"/>
          <p:cNvSpPr/>
          <p:nvPr/>
        </p:nvSpPr>
        <p:spPr>
          <a:xfrm>
            <a:off x="5961888" y="2788920"/>
            <a:ext cx="256032" cy="457200"/>
          </a:xfrm>
          <a:prstGeom prst="chevron">
            <a:avLst/>
          </a:prstGeom>
          <a:solidFill>
            <a:srgbClr val="344B66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08776" y="1874519"/>
            <a:ext cx="1627632" cy="2450592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784848" y="2103120"/>
            <a:ext cx="475488" cy="475488"/>
          </a:xfrm>
          <a:prstGeom prst="ellipse">
            <a:avLst/>
          </a:prstGeom>
          <a:solidFill>
            <a:srgbClr val="59DD92"/>
          </a:solidFill>
          <a:ln w="12700">
            <a:solidFill>
              <a:srgbClr val="59D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84848" y="2203704"/>
            <a:ext cx="47548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08101E"/>
                </a:solidFill>
                <a:latin typeface="Noto San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7648" y="2798064"/>
            <a:ext cx="1389888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50" b="1" i="0">
                <a:solidFill>
                  <a:srgbClr val="F4F8FF"/>
                </a:solidFill>
                <a:latin typeface="Noto Sans"/>
              </a:rPr>
              <a:t>Normalize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3346704"/>
            <a:ext cx="138988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50" b="0" i="0">
                <a:solidFill>
                  <a:srgbClr val="9DB1CA"/>
                </a:solidFill>
                <a:latin typeface="DejaVu Sans Mono"/>
              </a:rPr>
              <a:t>float32
x / 255 ∈ [0,1]</a:t>
            </a:r>
          </a:p>
        </p:txBody>
      </p:sp>
      <p:sp>
        <p:nvSpPr>
          <p:cNvPr id="32" name="Chevron 31"/>
          <p:cNvSpPr/>
          <p:nvPr/>
        </p:nvSpPr>
        <p:spPr>
          <a:xfrm>
            <a:off x="7863840" y="2788920"/>
            <a:ext cx="256032" cy="457200"/>
          </a:xfrm>
          <a:prstGeom prst="chevron">
            <a:avLst/>
          </a:prstGeom>
          <a:solidFill>
            <a:srgbClr val="344B66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110728" y="1874519"/>
            <a:ext cx="1627632" cy="2450592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686800" y="2103120"/>
            <a:ext cx="475488" cy="475488"/>
          </a:xfrm>
          <a:prstGeom prst="ellipse">
            <a:avLst/>
          </a:prstGeom>
          <a:solidFill>
            <a:srgbClr val="26D0CE"/>
          </a:solidFill>
          <a:ln w="12700">
            <a:solidFill>
              <a:srgbClr val="26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0" y="2203704"/>
            <a:ext cx="47548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08101E"/>
                </a:solidFill>
                <a:latin typeface="Noto Sans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2798064"/>
            <a:ext cx="1389888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50" b="1" i="0">
                <a:solidFill>
                  <a:srgbClr val="F4F8FF"/>
                </a:solidFill>
                <a:latin typeface="Noto Sans"/>
              </a:rPr>
              <a:t>Reorder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3346704"/>
            <a:ext cx="138988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50" b="0" i="0">
                <a:solidFill>
                  <a:srgbClr val="9DB1CA"/>
                </a:solidFill>
                <a:latin typeface="DejaVu Sans Mono"/>
              </a:rPr>
              <a:t>HWC → CHW
640×640×3 → 3×640×640</a:t>
            </a:r>
          </a:p>
        </p:txBody>
      </p:sp>
      <p:sp>
        <p:nvSpPr>
          <p:cNvPr id="38" name="Chevron 37"/>
          <p:cNvSpPr/>
          <p:nvPr/>
        </p:nvSpPr>
        <p:spPr>
          <a:xfrm>
            <a:off x="9765792" y="2788920"/>
            <a:ext cx="256032" cy="457200"/>
          </a:xfrm>
          <a:prstGeom prst="chevron">
            <a:avLst/>
          </a:prstGeom>
          <a:solidFill>
            <a:srgbClr val="344B66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0012680" y="1874519"/>
            <a:ext cx="1627632" cy="2450592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588752" y="2103120"/>
            <a:ext cx="475488" cy="475488"/>
          </a:xfrm>
          <a:prstGeom prst="ellipse">
            <a:avLst/>
          </a:prstGeom>
          <a:solidFill>
            <a:srgbClr val="9B7EFF"/>
          </a:solidFill>
          <a:ln w="12700">
            <a:solidFill>
              <a:srgbClr val="9B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88752" y="2203704"/>
            <a:ext cx="47548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08101E"/>
                </a:solidFill>
                <a:latin typeface="Noto Sans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31552" y="2798064"/>
            <a:ext cx="1389888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50" b="1" i="0">
                <a:solidFill>
                  <a:srgbClr val="F4F8FF"/>
                </a:solidFill>
                <a:latin typeface="Noto Sans"/>
              </a:rPr>
              <a:t>Batch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31552" y="3346704"/>
            <a:ext cx="138988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50" b="0" i="0">
                <a:solidFill>
                  <a:srgbClr val="9DB1CA"/>
                </a:solidFill>
                <a:latin typeface="DejaVu Sans Mono"/>
              </a:rPr>
              <a:t>B×3×640×640
ví dụ B = 1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947672" y="4818888"/>
            <a:ext cx="8284464" cy="640080"/>
          </a:xfrm>
          <a:prstGeom prst="round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947672" y="4818888"/>
            <a:ext cx="45720" cy="640080"/>
          </a:xfrm>
          <a:prstGeom prst="roundRect">
            <a:avLst/>
          </a:prstGeom>
          <a:solidFill>
            <a:srgbClr val="26D0CE"/>
          </a:solidFill>
          <a:ln w="12700">
            <a:solidFill>
              <a:srgbClr val="26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93976" y="4910327"/>
            <a:ext cx="802843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600" b="1" i="0">
                <a:solidFill>
                  <a:srgbClr val="F4F8FF"/>
                </a:solidFill>
                <a:latin typeface="DejaVu Sans Mono"/>
              </a:rPr>
              <a:t>X ∈ ℝ^(B×C×H×W) = ℝ^(1×3×640×640)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98448" y="5669280"/>
            <a:ext cx="9601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9DB1CA"/>
                </a:solidFill>
                <a:latin typeface="Noto Sans"/>
              </a:rPr>
              <a:t>Quan trọng: padding không tạo thêm thông tin; nó chỉ giúp kích thước phù hợp với stride 32.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881360" y="-292608"/>
            <a:ext cx="1600200" cy="896112"/>
          </a:xfrm>
          <a:prstGeom prst="roundRect">
            <a:avLst/>
          </a:prstGeom>
          <a:solidFill>
            <a:srgbClr val="26D0CE"/>
          </a:solidFill>
          <a:ln w="12700">
            <a:solidFill>
              <a:srgbClr val="26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384048" y="6345936"/>
            <a:ext cx="1920240" cy="804672"/>
          </a:xfrm>
          <a:prstGeom prst="roundRect">
            <a:avLst/>
          </a:prstGeom>
          <a:solidFill>
            <a:srgbClr val="9B7EFF"/>
          </a:solidFill>
          <a:ln w="12700">
            <a:solidFill>
              <a:srgbClr val="9B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749807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26D0CE"/>
                </a:solidFill>
                <a:latin typeface="Noto Sans"/>
              </a:rPr>
              <a:t>03 · PHÉP TOÁN NỀN TẢNG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2648"/>
            <a:ext cx="106984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F4F8FF"/>
                </a:solidFill>
                <a:latin typeface="Noto Sans"/>
              </a:rPr>
              <a:t>Convolution: một ô đầu ra được tính như thế nào?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27664" y="356616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9DB1CA"/>
                </a:solidFill>
                <a:latin typeface="Noto Sans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10899648" cy="15240"/>
          </a:xfrm>
          <a:prstGeom prst="rect">
            <a:avLst/>
          </a:prstGeom>
          <a:solidFill>
            <a:srgbClr val="344B66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78440" y="6492240"/>
            <a:ext cx="1152144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1" i="0">
                <a:solidFill>
                  <a:srgbClr val="9DB1CA"/>
                </a:solidFill>
                <a:latin typeface="Noto Sans"/>
              </a:rPr>
              <a:t>PIXEL → YOLOv8  · 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627632"/>
            <a:ext cx="2011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 i="0">
                <a:solidFill>
                  <a:srgbClr val="26D0CE"/>
                </a:solidFill>
                <a:latin typeface="Noto Sans"/>
              </a:rPr>
              <a:t>PATCH 3×3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78992" y="2075688"/>
            <a:ext cx="621792" cy="621792"/>
          </a:xfrm>
          <a:prstGeom prst="rect">
            <a:avLst/>
          </a:prstGeom>
          <a:solidFill>
            <a:srgbClr val="1B2F48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130552"/>
            <a:ext cx="621792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F4F8FF"/>
                </a:solidFill>
                <a:latin typeface="DejaVu Sans Mono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19072" y="2075688"/>
            <a:ext cx="621792" cy="621792"/>
          </a:xfrm>
          <a:prstGeom prst="rect">
            <a:avLst/>
          </a:prstGeom>
          <a:solidFill>
            <a:srgbClr val="1B2F48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19072" y="2130552"/>
            <a:ext cx="621792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F4F8FF"/>
                </a:solidFill>
                <a:latin typeface="DejaVu Sans Mono"/>
              </a:rP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59152" y="2075688"/>
            <a:ext cx="621792" cy="621792"/>
          </a:xfrm>
          <a:prstGeom prst="rect">
            <a:avLst/>
          </a:prstGeom>
          <a:solidFill>
            <a:srgbClr val="1B2F48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59152" y="2130552"/>
            <a:ext cx="621792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F4F8FF"/>
                </a:solidFill>
                <a:latin typeface="DejaVu Sans Mono"/>
              </a:rP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78992" y="2715768"/>
            <a:ext cx="621792" cy="621792"/>
          </a:xfrm>
          <a:prstGeom prst="rect">
            <a:avLst/>
          </a:prstGeom>
          <a:solidFill>
            <a:srgbClr val="1B2F48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2770632"/>
            <a:ext cx="621792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F4F8FF"/>
                </a:solidFill>
                <a:latin typeface="DejaVu Sans Mono"/>
              </a:rPr>
              <a:t>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19072" y="2715768"/>
            <a:ext cx="621792" cy="621792"/>
          </a:xfrm>
          <a:prstGeom prst="rect">
            <a:avLst/>
          </a:prstGeom>
          <a:solidFill>
            <a:srgbClr val="1B2F48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19072" y="2770632"/>
            <a:ext cx="621792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F4F8FF"/>
                </a:solidFill>
                <a:latin typeface="DejaVu Sans Mono"/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59152" y="2715768"/>
            <a:ext cx="621792" cy="621792"/>
          </a:xfrm>
          <a:prstGeom prst="rect">
            <a:avLst/>
          </a:prstGeom>
          <a:solidFill>
            <a:srgbClr val="1B2F48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59152" y="2770632"/>
            <a:ext cx="621792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F4F8FF"/>
                </a:solidFill>
                <a:latin typeface="DejaVu Sans Mono"/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78992" y="3355848"/>
            <a:ext cx="621792" cy="621792"/>
          </a:xfrm>
          <a:prstGeom prst="rect">
            <a:avLst/>
          </a:prstGeom>
          <a:solidFill>
            <a:srgbClr val="1B2F48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3410712"/>
            <a:ext cx="621792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F4F8FF"/>
                </a:solidFill>
                <a:latin typeface="DejaVu Sans Mono"/>
              </a:rPr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19072" y="3355848"/>
            <a:ext cx="621792" cy="621792"/>
          </a:xfrm>
          <a:prstGeom prst="rect">
            <a:avLst/>
          </a:prstGeom>
          <a:solidFill>
            <a:srgbClr val="1B2F48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19072" y="3410712"/>
            <a:ext cx="621792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F4F8FF"/>
                </a:solidFill>
                <a:latin typeface="DejaVu Sans Mono"/>
              </a:rP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59152" y="3355848"/>
            <a:ext cx="621792" cy="621792"/>
          </a:xfrm>
          <a:prstGeom prst="rect">
            <a:avLst/>
          </a:prstGeom>
          <a:solidFill>
            <a:srgbClr val="1B2F48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59152" y="3410712"/>
            <a:ext cx="621792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F4F8FF"/>
                </a:solidFill>
                <a:latin typeface="DejaVu Sans Mono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27832" y="2670048"/>
            <a:ext cx="4114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400" b="1" i="0">
                <a:solidFill>
                  <a:srgbClr val="9DB1CA"/>
                </a:solidFill>
                <a:latin typeface="Noto Sans"/>
              </a:rPr>
              <a:t>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39" y="1627632"/>
            <a:ext cx="2011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 i="0">
                <a:solidFill>
                  <a:srgbClr val="59DD92"/>
                </a:solidFill>
                <a:latin typeface="Noto Sans"/>
              </a:rPr>
              <a:t>KERNEL 3×3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05072" y="2075688"/>
            <a:ext cx="621792" cy="621792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05072" y="2130552"/>
            <a:ext cx="621792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F4F8FF"/>
                </a:solidFill>
                <a:latin typeface="DejaVu Sans Mono"/>
              </a:rPr>
              <a:t>-1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45152" y="2075688"/>
            <a:ext cx="621792" cy="621792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45152" y="2130552"/>
            <a:ext cx="621792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F4F8FF"/>
                </a:solidFill>
                <a:latin typeface="DejaVu Sans Mono"/>
              </a:rPr>
              <a:t>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85231" y="2075688"/>
            <a:ext cx="621792" cy="621792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85231" y="2130552"/>
            <a:ext cx="621792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F4F8FF"/>
                </a:solidFill>
                <a:latin typeface="DejaVu Sans Mono"/>
              </a:rPr>
              <a:t>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005072" y="2715768"/>
            <a:ext cx="621792" cy="621792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005072" y="2770632"/>
            <a:ext cx="621792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F4F8FF"/>
                </a:solidFill>
                <a:latin typeface="DejaVu Sans Mono"/>
              </a:rPr>
              <a:t>-1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45152" y="2715768"/>
            <a:ext cx="621792" cy="621792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45152" y="2770632"/>
            <a:ext cx="621792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F4F8FF"/>
                </a:solidFill>
                <a:latin typeface="DejaVu Sans Mono"/>
              </a:rPr>
              <a:t>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85231" y="2715768"/>
            <a:ext cx="621792" cy="621792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85231" y="2770632"/>
            <a:ext cx="621792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F4F8FF"/>
                </a:solidFill>
                <a:latin typeface="DejaVu Sans Mono"/>
              </a:rPr>
              <a:t>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05072" y="3355848"/>
            <a:ext cx="621792" cy="621792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005072" y="3410712"/>
            <a:ext cx="621792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F4F8FF"/>
                </a:solidFill>
                <a:latin typeface="DejaVu Sans Mono"/>
              </a:rPr>
              <a:t>-1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45152" y="3355848"/>
            <a:ext cx="621792" cy="621792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45152" y="3410712"/>
            <a:ext cx="621792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F4F8FF"/>
                </a:solidFill>
                <a:latin typeface="DejaVu Sans Mono"/>
              </a:rPr>
              <a:t>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85231" y="3355848"/>
            <a:ext cx="621792" cy="621792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85231" y="3410712"/>
            <a:ext cx="621792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F4F8FF"/>
                </a:solidFill>
                <a:latin typeface="DejaVu Sans Mono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08776" y="2670048"/>
            <a:ext cx="47548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400" b="1" i="0">
                <a:solidFill>
                  <a:srgbClr val="9DB1CA"/>
                </a:solidFill>
                <a:latin typeface="Noto Sans"/>
              </a:rPr>
              <a:t>→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903720" y="2331720"/>
            <a:ext cx="1060704" cy="1060704"/>
          </a:xfrm>
          <a:prstGeom prst="roundRect">
            <a:avLst/>
          </a:prstGeom>
          <a:solidFill>
            <a:srgbClr val="26D0CE"/>
          </a:solidFill>
          <a:ln w="12700">
            <a:solidFill>
              <a:srgbClr val="26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03720" y="2578608"/>
            <a:ext cx="1060704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700" b="1" i="0">
                <a:solidFill>
                  <a:srgbClr val="F4F8FF"/>
                </a:solidFill>
                <a:latin typeface="DejaVu Sans Mono"/>
              </a:rPr>
              <a:t>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11696" y="3621024"/>
            <a:ext cx="143560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9DB1CA"/>
                </a:solidFill>
                <a:latin typeface="Noto Sans"/>
              </a:rPr>
              <a:t>1 ô feature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503920" y="1755648"/>
            <a:ext cx="2944368" cy="2788920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787384" y="1993392"/>
            <a:ext cx="237744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 i="0">
                <a:solidFill>
                  <a:srgbClr val="FFBE48"/>
                </a:solidFill>
                <a:latin typeface="Noto Sans"/>
              </a:rPr>
              <a:t>TÍNH TỪNG PHẦN TỬ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69680" y="2505456"/>
            <a:ext cx="2231136" cy="10241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F4F8FF"/>
                </a:solidFill>
                <a:latin typeface="DejaVu Sans Mono"/>
              </a:rPr>
              <a:t>0·(-1) + 0·0 + 0·1
+ 0·(-1) + 1·0 + 1·1
+ 0·(-1) + 1·0 + 1·1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759952" y="3803904"/>
            <a:ext cx="2432304" cy="475488"/>
          </a:xfrm>
          <a:prstGeom prst="round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759952" y="3803904"/>
            <a:ext cx="45720" cy="475488"/>
          </a:xfrm>
          <a:prstGeom prst="roundRect">
            <a:avLst/>
          </a:prstGeom>
          <a:solidFill>
            <a:srgbClr val="59DD92"/>
          </a:solidFill>
          <a:ln w="12700">
            <a:solidFill>
              <a:srgbClr val="59D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906256" y="3895344"/>
            <a:ext cx="2176272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59DD92"/>
                </a:solidFill>
                <a:latin typeface="DejaVu Sans Mono"/>
              </a:rPr>
              <a:t>Σ(patch ⊙ kernel) + b = 2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24128" y="4800600"/>
            <a:ext cx="10113264" cy="640080"/>
          </a:xfrm>
          <a:prstGeom prst="round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1024128" y="4800600"/>
            <a:ext cx="45720" cy="640080"/>
          </a:xfrm>
          <a:prstGeom prst="roundRect">
            <a:avLst/>
          </a:prstGeom>
          <a:solidFill>
            <a:srgbClr val="9B7EFF"/>
          </a:solidFill>
          <a:ln w="12700">
            <a:solidFill>
              <a:srgbClr val="9B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170432" y="4892040"/>
            <a:ext cx="985723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20" b="1" i="0">
                <a:solidFill>
                  <a:srgbClr val="F4F8FF"/>
                </a:solidFill>
                <a:latin typeface="DejaVu Sans Mono"/>
              </a:rPr>
              <a:t>y[o,i,j] = b[o] + Σc Σu Σv W[o,c,u,v] · x[c,i+u,j+v]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7552" y="5669280"/>
            <a:ext cx="101498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50" b="1" i="0">
                <a:solidFill>
                  <a:srgbClr val="9DB1CA"/>
                </a:solidFill>
                <a:latin typeface="Noto Sans"/>
              </a:rPr>
              <a:t>Với ảnh RGB, kernel có độ sâu 3: nó cộng đồng thời thông tin R, G và B.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881360" y="-292608"/>
            <a:ext cx="1600200" cy="896112"/>
          </a:xfrm>
          <a:prstGeom prst="roundRect">
            <a:avLst/>
          </a:prstGeom>
          <a:solidFill>
            <a:srgbClr val="26D0CE"/>
          </a:solidFill>
          <a:ln w="12700">
            <a:solidFill>
              <a:srgbClr val="26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384048" y="6345936"/>
            <a:ext cx="1920240" cy="804672"/>
          </a:xfrm>
          <a:prstGeom prst="roundRect">
            <a:avLst/>
          </a:prstGeom>
          <a:solidFill>
            <a:srgbClr val="9B7EFF"/>
          </a:solidFill>
          <a:ln w="12700">
            <a:solidFill>
              <a:srgbClr val="9B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749807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26D0CE"/>
                </a:solidFill>
                <a:latin typeface="Noto Sans"/>
              </a:rPr>
              <a:t>04 · BIỂU DIỄN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2648"/>
            <a:ext cx="106984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F4F8FF"/>
                </a:solidFill>
                <a:latin typeface="Noto Sans"/>
              </a:rPr>
              <a:t>Một kernel tạo một feature map; nhiều kernel tạo nhiều kênh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27664" y="356616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9DB1CA"/>
                </a:solidFill>
                <a:latin typeface="Noto Sans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10899648" cy="15240"/>
          </a:xfrm>
          <a:prstGeom prst="rect">
            <a:avLst/>
          </a:prstGeom>
          <a:solidFill>
            <a:srgbClr val="344B66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78440" y="6492240"/>
            <a:ext cx="1152144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1" i="0">
                <a:solidFill>
                  <a:srgbClr val="9DB1CA"/>
                </a:solidFill>
                <a:latin typeface="Noto Sans"/>
              </a:rPr>
              <a:t>PIXEL → YOLOv8  ·  06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920240"/>
            <a:ext cx="2212848" cy="2212848"/>
          </a:xfrm>
          <a:prstGeom prst="rect">
            <a:avLst/>
          </a:prstGeom>
          <a:solidFill>
            <a:srgbClr val="FF5B6F"/>
          </a:solidFill>
          <a:ln w="12700">
            <a:solidFill>
              <a:srgbClr val="FF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17904" y="2752344"/>
            <a:ext cx="6400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F4F8FF"/>
                </a:solidFill>
                <a:latin typeface="Noto Sans"/>
              </a:rPr>
              <a:t>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" y="1755648"/>
            <a:ext cx="2212848" cy="2212848"/>
          </a:xfrm>
          <a:prstGeom prst="rect">
            <a:avLst/>
          </a:prstGeom>
          <a:solidFill>
            <a:srgbClr val="59DD92"/>
          </a:solidFill>
          <a:ln w="12700">
            <a:solidFill>
              <a:srgbClr val="59D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82495" y="2587752"/>
            <a:ext cx="6400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F4F8FF"/>
                </a:solidFill>
                <a:latin typeface="Noto Sans"/>
              </a:rPr>
              <a:t>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60704" y="1591056"/>
            <a:ext cx="2212848" cy="2212848"/>
          </a:xfrm>
          <a:prstGeom prst="rect">
            <a:avLst/>
          </a:prstGeom>
          <a:solidFill>
            <a:srgbClr val="4B96FF"/>
          </a:solidFill>
          <a:ln w="12700">
            <a:solidFill>
              <a:srgbClr val="4B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47088" y="2423160"/>
            <a:ext cx="6400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F4F8FF"/>
                </a:solidFill>
                <a:latin typeface="Noto Sans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4370832"/>
            <a:ext cx="2487168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9DB1CA"/>
                </a:solidFill>
                <a:latin typeface="Noto Sans"/>
              </a:rPr>
              <a:t>3 input channels</a:t>
            </a:r>
          </a:p>
        </p:txBody>
      </p:sp>
      <p:sp>
        <p:nvSpPr>
          <p:cNvPr id="16" name="Chevron 15"/>
          <p:cNvSpPr/>
          <p:nvPr/>
        </p:nvSpPr>
        <p:spPr>
          <a:xfrm>
            <a:off x="3438144" y="2743200"/>
            <a:ext cx="502920" cy="530352"/>
          </a:xfrm>
          <a:prstGeom prst="chevron">
            <a:avLst/>
          </a:prstGeom>
          <a:solidFill>
            <a:srgbClr val="26D0CE"/>
          </a:solidFill>
          <a:ln w="12700">
            <a:solidFill>
              <a:srgbClr val="26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151376" y="1874519"/>
            <a:ext cx="1975104" cy="2377440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07408" y="2148840"/>
            <a:ext cx="1463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26D0CE"/>
                </a:solidFill>
                <a:latin typeface="Noto Sans"/>
              </a:rPr>
              <a:t>32 KERNEL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8" y="2761488"/>
            <a:ext cx="1371600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0" i="0">
                <a:solidFill>
                  <a:srgbClr val="F4F8FF"/>
                </a:solidFill>
                <a:latin typeface="DejaVu Sans Mono"/>
              </a:rPr>
              <a:t>mỗi kernel:
3 × 3 × 3
+ 1 bias</a:t>
            </a:r>
          </a:p>
        </p:txBody>
      </p:sp>
      <p:sp>
        <p:nvSpPr>
          <p:cNvPr id="20" name="Chevron 19"/>
          <p:cNvSpPr/>
          <p:nvPr/>
        </p:nvSpPr>
        <p:spPr>
          <a:xfrm>
            <a:off x="6345936" y="2743200"/>
            <a:ext cx="502920" cy="530352"/>
          </a:xfrm>
          <a:prstGeom prst="chevron">
            <a:avLst/>
          </a:prstGeom>
          <a:solidFill>
            <a:srgbClr val="26D0CE"/>
          </a:solidFill>
          <a:ln w="12700">
            <a:solidFill>
              <a:srgbClr val="26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0" y="2103120"/>
            <a:ext cx="2066543" cy="2066543"/>
          </a:xfrm>
          <a:prstGeom prst="rect">
            <a:avLst/>
          </a:prstGeom>
          <a:solidFill>
            <a:srgbClr val="9B7EFF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96912" y="1993391"/>
            <a:ext cx="2066543" cy="2066543"/>
          </a:xfrm>
          <a:prstGeom prst="rect">
            <a:avLst/>
          </a:prstGeom>
          <a:solidFill>
            <a:srgbClr val="4B96FF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61504" y="1883663"/>
            <a:ext cx="2066543" cy="2066543"/>
          </a:xfrm>
          <a:prstGeom prst="rect">
            <a:avLst/>
          </a:prstGeom>
          <a:solidFill>
            <a:srgbClr val="26D0C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26096" y="1773936"/>
            <a:ext cx="2066543" cy="2066543"/>
          </a:xfrm>
          <a:prstGeom prst="rect">
            <a:avLst/>
          </a:prstGeom>
          <a:solidFill>
            <a:srgbClr val="59DD92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90688" y="1664207"/>
            <a:ext cx="2066543" cy="2066543"/>
          </a:xfrm>
          <a:prstGeom prst="rect">
            <a:avLst/>
          </a:prstGeom>
          <a:solidFill>
            <a:srgbClr val="FFBE48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55279" y="1554479"/>
            <a:ext cx="2066543" cy="2066543"/>
          </a:xfrm>
          <a:prstGeom prst="rect">
            <a:avLst/>
          </a:prstGeom>
          <a:solidFill>
            <a:srgbClr val="FF844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78624" y="4389120"/>
            <a:ext cx="2852928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9DB1CA"/>
                </a:solidFill>
                <a:latin typeface="Noto Sans"/>
              </a:rPr>
              <a:t>32 feature maps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77272" y="1874519"/>
            <a:ext cx="1280160" cy="2377440"/>
          </a:xfrm>
          <a:prstGeom prst="round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60152" y="2176272"/>
            <a:ext cx="914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BE48"/>
                </a:solidFill>
                <a:latin typeface="Noto Sans"/>
              </a:rPr>
              <a:t>Học dần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20" y="2743200"/>
            <a:ext cx="969264" cy="12252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F4F8FF"/>
                </a:solidFill>
                <a:latin typeface="Noto Sans"/>
              </a:rPr>
              <a:t>cạnh
texture
màu
hình dạng
bộ phận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066543" y="5001768"/>
            <a:ext cx="8046720" cy="594360"/>
          </a:xfrm>
          <a:prstGeom prst="round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066543" y="5001768"/>
            <a:ext cx="45720" cy="594360"/>
          </a:xfrm>
          <a:prstGeom prst="roundRect">
            <a:avLst/>
          </a:prstGeom>
          <a:solidFill>
            <a:srgbClr val="59DD92"/>
          </a:solidFill>
          <a:ln w="12700">
            <a:solidFill>
              <a:srgbClr val="59D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212848" y="5093207"/>
            <a:ext cx="7790688" cy="4297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50" b="1" i="0">
                <a:solidFill>
                  <a:srgbClr val="F4F8FF"/>
                </a:solidFill>
                <a:latin typeface="DejaVu Sans Mono"/>
              </a:rPr>
              <a:t>W: (C_out, C_in, k, k) = (32, 3, 3, 3)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5779008"/>
            <a:ext cx="998524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9DB1CA"/>
                </a:solidFill>
                <a:latin typeface="Noto Sans"/>
              </a:rPr>
              <a:t>Tên “cạnh” hay “texture” là cách con người diễn giải; mạng chỉ tối ưu các trọng số 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881360" y="-292608"/>
            <a:ext cx="1600200" cy="896112"/>
          </a:xfrm>
          <a:prstGeom prst="roundRect">
            <a:avLst/>
          </a:prstGeom>
          <a:solidFill>
            <a:srgbClr val="26D0CE"/>
          </a:solidFill>
          <a:ln w="12700">
            <a:solidFill>
              <a:srgbClr val="26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384048" y="6345936"/>
            <a:ext cx="1920240" cy="804672"/>
          </a:xfrm>
          <a:prstGeom prst="roundRect">
            <a:avLst/>
          </a:prstGeom>
          <a:solidFill>
            <a:srgbClr val="9B7EFF"/>
          </a:solidFill>
          <a:ln w="12700">
            <a:solidFill>
              <a:srgbClr val="9B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749807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26D0CE"/>
                </a:solidFill>
                <a:latin typeface="Noto Sans"/>
              </a:rPr>
              <a:t>05 · CONV BLOCK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2648"/>
            <a:ext cx="106984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F4F8FF"/>
                </a:solidFill>
                <a:latin typeface="Noto Sans"/>
              </a:rPr>
              <a:t>Conv → BatchNorm → SiLU: ba bước trong một lớp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27664" y="356616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9DB1CA"/>
                </a:solidFill>
                <a:latin typeface="Noto Sans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10899648" cy="15240"/>
          </a:xfrm>
          <a:prstGeom prst="rect">
            <a:avLst/>
          </a:prstGeom>
          <a:solidFill>
            <a:srgbClr val="344B66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9966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9DB1CA"/>
                </a:solidFill>
                <a:latin typeface="Noto Sans"/>
              </a:rPr>
              <a:t>Nguồn: Ultralytics nn/modules/conv.py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78440" y="6492240"/>
            <a:ext cx="1152144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1" i="0">
                <a:solidFill>
                  <a:srgbClr val="9DB1CA"/>
                </a:solidFill>
                <a:latin typeface="Noto Sans"/>
              </a:rPr>
              <a:t>PIXEL → YOLOv8  ·  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" y="1920240"/>
            <a:ext cx="2944368" cy="2560320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52144" y="2130552"/>
            <a:ext cx="804672" cy="329184"/>
          </a:xfrm>
          <a:prstGeom prst="roundRect">
            <a:avLst/>
          </a:prstGeom>
          <a:solidFill>
            <a:srgbClr val="26D0CE"/>
          </a:solidFill>
          <a:ln w="12700">
            <a:solidFill>
              <a:srgbClr val="26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7864" y="2180844"/>
            <a:ext cx="7132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1" i="0">
                <a:solidFill>
                  <a:srgbClr val="F4F8FF"/>
                </a:solidFill>
                <a:latin typeface="Noto Sans"/>
              </a:rPr>
              <a:t>STEP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2670048"/>
            <a:ext cx="24871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F4F8FF"/>
                </a:solidFill>
                <a:latin typeface="Noto Sans"/>
              </a:rPr>
              <a:t>Conv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52144" y="3182112"/>
            <a:ext cx="2487168" cy="530352"/>
          </a:xfrm>
          <a:prstGeom prst="round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152144" y="3182112"/>
            <a:ext cx="45720" cy="530352"/>
          </a:xfrm>
          <a:prstGeom prst="roundRect">
            <a:avLst/>
          </a:prstGeom>
          <a:solidFill>
            <a:srgbClr val="26D0CE"/>
          </a:solidFill>
          <a:ln w="12700">
            <a:solidFill>
              <a:srgbClr val="26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98448" y="3273552"/>
            <a:ext cx="2231136" cy="36575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4F8FF"/>
                </a:solidFill>
                <a:latin typeface="DejaVu Sans Mono"/>
              </a:rPr>
              <a:t>z = W*x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1288" y="3968496"/>
            <a:ext cx="24688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1" i="0">
                <a:solidFill>
                  <a:srgbClr val="9DB1CA"/>
                </a:solidFill>
                <a:latin typeface="Noto Sans"/>
              </a:rPr>
              <a:t>trộn lân cận + kênh</a:t>
            </a:r>
          </a:p>
        </p:txBody>
      </p:sp>
      <p:sp>
        <p:nvSpPr>
          <p:cNvPr id="18" name="Chevron 17"/>
          <p:cNvSpPr/>
          <p:nvPr/>
        </p:nvSpPr>
        <p:spPr>
          <a:xfrm>
            <a:off x="3995928" y="2889504"/>
            <a:ext cx="411480" cy="502920"/>
          </a:xfrm>
          <a:prstGeom prst="chevron">
            <a:avLst/>
          </a:prstGeom>
          <a:solidFill>
            <a:srgbClr val="344B66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663440" y="1920240"/>
            <a:ext cx="2944368" cy="2560320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882896" y="2130552"/>
            <a:ext cx="804672" cy="329184"/>
          </a:xfrm>
          <a:prstGeom prst="roundRect">
            <a:avLst/>
          </a:prstGeom>
          <a:solidFill>
            <a:srgbClr val="59DD92"/>
          </a:solidFill>
          <a:ln w="12700">
            <a:solidFill>
              <a:srgbClr val="59D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28616" y="2180844"/>
            <a:ext cx="7132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1" i="0">
                <a:solidFill>
                  <a:srgbClr val="F4F8FF"/>
                </a:solidFill>
                <a:latin typeface="Noto Sans"/>
              </a:rPr>
              <a:t>STEP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82896" y="2670048"/>
            <a:ext cx="24871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F4F8FF"/>
                </a:solidFill>
                <a:latin typeface="Noto Sans"/>
              </a:rPr>
              <a:t>BatchNorm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82896" y="3182112"/>
            <a:ext cx="2487168" cy="530352"/>
          </a:xfrm>
          <a:prstGeom prst="round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882896" y="3182112"/>
            <a:ext cx="45720" cy="530352"/>
          </a:xfrm>
          <a:prstGeom prst="roundRect">
            <a:avLst/>
          </a:prstGeom>
          <a:solidFill>
            <a:srgbClr val="59DD92"/>
          </a:solidFill>
          <a:ln w="12700">
            <a:solidFill>
              <a:srgbClr val="59D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0" y="3273552"/>
            <a:ext cx="2231136" cy="36575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F4F8FF"/>
                </a:solidFill>
                <a:latin typeface="DejaVu Sans Mono"/>
              </a:rPr>
              <a:t>ẑ = γ(z−μ)/√(σ²+ε)+β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3968496"/>
            <a:ext cx="24688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1" i="0">
                <a:solidFill>
                  <a:srgbClr val="9DB1CA"/>
                </a:solidFill>
                <a:latin typeface="Noto Sans"/>
              </a:rPr>
              <a:t>ổn định phân phối</a:t>
            </a:r>
          </a:p>
        </p:txBody>
      </p:sp>
      <p:sp>
        <p:nvSpPr>
          <p:cNvPr id="27" name="Chevron 26"/>
          <p:cNvSpPr/>
          <p:nvPr/>
        </p:nvSpPr>
        <p:spPr>
          <a:xfrm>
            <a:off x="7726679" y="2889504"/>
            <a:ext cx="411480" cy="502920"/>
          </a:xfrm>
          <a:prstGeom prst="chevron">
            <a:avLst/>
          </a:prstGeom>
          <a:solidFill>
            <a:srgbClr val="344B66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94192" y="1920240"/>
            <a:ext cx="2944368" cy="2560320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613648" y="2130552"/>
            <a:ext cx="804672" cy="329184"/>
          </a:xfrm>
          <a:prstGeom prst="roundRect">
            <a:avLst/>
          </a:prstGeom>
          <a:solidFill>
            <a:srgbClr val="9B7EFF"/>
          </a:solidFill>
          <a:ln w="12700">
            <a:solidFill>
              <a:srgbClr val="9B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59368" y="2180844"/>
            <a:ext cx="7132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1" i="0">
                <a:solidFill>
                  <a:srgbClr val="F4F8FF"/>
                </a:solidFill>
                <a:latin typeface="Noto Sans"/>
              </a:rPr>
              <a:t>STEP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13648" y="2670048"/>
            <a:ext cx="24871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F4F8FF"/>
                </a:solidFill>
                <a:latin typeface="Noto Sans"/>
              </a:rPr>
              <a:t>SiLU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13648" y="3182112"/>
            <a:ext cx="2487168" cy="530352"/>
          </a:xfrm>
          <a:prstGeom prst="round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13648" y="3182112"/>
            <a:ext cx="45720" cy="530352"/>
          </a:xfrm>
          <a:prstGeom prst="roundRect">
            <a:avLst/>
          </a:prstGeom>
          <a:solidFill>
            <a:srgbClr val="9B7EFF"/>
          </a:solidFill>
          <a:ln w="12700">
            <a:solidFill>
              <a:srgbClr val="9B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59952" y="3273552"/>
            <a:ext cx="2231136" cy="36575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4F8FF"/>
                </a:solidFill>
                <a:latin typeface="DejaVu Sans Mono"/>
              </a:rPr>
              <a:t>a = ẑ · sigmoid(ẑ)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22792" y="3968496"/>
            <a:ext cx="24688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1" i="0">
                <a:solidFill>
                  <a:srgbClr val="9DB1CA"/>
                </a:solidFill>
                <a:latin typeface="Noto Sans"/>
              </a:rPr>
              <a:t>thêm phi tuyến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4956048"/>
            <a:ext cx="10195560" cy="47548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350" b="0">
                <a:solidFill>
                  <a:srgbClr val="9DB1CA"/>
                </a:solidFill>
                <a:latin typeface="Noto Sans"/>
              </a:rPr>
              <a:t>Không có phi tuyến: </a:t>
            </a:r>
            <a:r>
              <a:rPr sz="1350" b="1">
                <a:solidFill>
                  <a:srgbClr val="FF5B6F"/>
                </a:solidFill>
                <a:latin typeface="Noto Sans"/>
              </a:rPr>
              <a:t>nhiều lớp linear vẫn chỉ tương đương một phép linear</a:t>
            </a:r>
            <a:r>
              <a:rPr sz="1350" b="0">
                <a:solidFill>
                  <a:srgbClr val="9DB1CA"/>
                </a:solidFill>
                <a:latin typeface="Noto Sans"/>
              </a:rPr>
              <a:t>. SiLU giúp mạng mô hình hóa quan hệ phức tạp.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749039" y="5650992"/>
            <a:ext cx="4681728" cy="530352"/>
          </a:xfrm>
          <a:prstGeom prst="round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749039" y="5650992"/>
            <a:ext cx="45720" cy="530352"/>
          </a:xfrm>
          <a:prstGeom prst="roundRect">
            <a:avLst/>
          </a:prstGeom>
          <a:solidFill>
            <a:srgbClr val="9B7EFF"/>
          </a:solidFill>
          <a:ln w="12700">
            <a:solidFill>
              <a:srgbClr val="9B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95344" y="5742431"/>
            <a:ext cx="4425696" cy="36575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 i="0">
                <a:solidFill>
                  <a:srgbClr val="F4F8FF"/>
                </a:solidFill>
                <a:latin typeface="DejaVu Sans Mono"/>
              </a:rPr>
              <a:t>SiLU(x) = x / (1 + e^(−x))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881360" y="-292608"/>
            <a:ext cx="1600200" cy="896112"/>
          </a:xfrm>
          <a:prstGeom prst="roundRect">
            <a:avLst/>
          </a:prstGeom>
          <a:solidFill>
            <a:srgbClr val="26D0CE"/>
          </a:solidFill>
          <a:ln w="12700">
            <a:solidFill>
              <a:srgbClr val="26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384048" y="6345936"/>
            <a:ext cx="1920240" cy="804672"/>
          </a:xfrm>
          <a:prstGeom prst="roundRect">
            <a:avLst/>
          </a:prstGeom>
          <a:solidFill>
            <a:srgbClr val="9B7EFF"/>
          </a:solidFill>
          <a:ln w="12700">
            <a:solidFill>
              <a:srgbClr val="9B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749807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26D0CE"/>
                </a:solidFill>
                <a:latin typeface="Noto Sans"/>
              </a:rPr>
              <a:t>06 · KHÔNG GIAN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2648"/>
            <a:ext cx="106984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F4F8FF"/>
                </a:solidFill>
                <a:latin typeface="Noto Sans"/>
              </a:rPr>
              <a:t>Stride giảm độ phân giải nhưng mở rộng vùng nhìn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27664" y="356616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9DB1CA"/>
                </a:solidFill>
                <a:latin typeface="Noto Sans"/>
              </a:rP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10899648" cy="15240"/>
          </a:xfrm>
          <a:prstGeom prst="rect">
            <a:avLst/>
          </a:prstGeom>
          <a:solidFill>
            <a:srgbClr val="344B66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78440" y="6492240"/>
            <a:ext cx="1152144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1" i="0">
                <a:solidFill>
                  <a:srgbClr val="9DB1CA"/>
                </a:solidFill>
                <a:latin typeface="Noto Sans"/>
              </a:rPr>
              <a:t>PIXEL → YOLOv8  ·  08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" y="2066543"/>
            <a:ext cx="1828800" cy="1828800"/>
          </a:xfrm>
          <a:prstGeom prst="rect">
            <a:avLst/>
          </a:prstGeom>
          <a:solidFill>
            <a:srgbClr val="FF5B6F"/>
          </a:solidFill>
          <a:ln w="12700">
            <a:solidFill>
              <a:srgbClr val="FF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" y="2752344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F4F8FF"/>
                </a:solidFill>
                <a:latin typeface="Noto Sans"/>
              </a:rPr>
              <a:t>640²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3108960"/>
            <a:ext cx="1828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1" i="0">
                <a:solidFill>
                  <a:srgbClr val="9DB1CA"/>
                </a:solidFill>
                <a:latin typeface="Noto Sans"/>
              </a:rPr>
              <a:t>pixel</a:t>
            </a:r>
          </a:p>
        </p:txBody>
      </p:sp>
      <p:sp>
        <p:nvSpPr>
          <p:cNvPr id="12" name="Chevron 11"/>
          <p:cNvSpPr/>
          <p:nvPr/>
        </p:nvSpPr>
        <p:spPr>
          <a:xfrm>
            <a:off x="2468880" y="2770632"/>
            <a:ext cx="192024" cy="347472"/>
          </a:xfrm>
          <a:prstGeom prst="chevron">
            <a:avLst/>
          </a:prstGeom>
          <a:solidFill>
            <a:srgbClr val="344B66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79192" y="2226563"/>
            <a:ext cx="1508760" cy="1508760"/>
          </a:xfrm>
          <a:prstGeom prst="rect">
            <a:avLst/>
          </a:prstGeom>
          <a:solidFill>
            <a:srgbClr val="FF844A"/>
          </a:solidFill>
          <a:ln w="12700">
            <a:solidFill>
              <a:srgbClr val="FF8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79192" y="2752344"/>
            <a:ext cx="15087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F4F8FF"/>
                </a:solidFill>
                <a:latin typeface="Noto Sans"/>
              </a:rPr>
              <a:t>320²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9192" y="3108960"/>
            <a:ext cx="15087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1" i="0">
                <a:solidFill>
                  <a:srgbClr val="9DB1CA"/>
                </a:solidFill>
                <a:latin typeface="Noto Sans"/>
              </a:rPr>
              <a:t>s=2</a:t>
            </a:r>
          </a:p>
        </p:txBody>
      </p:sp>
      <p:sp>
        <p:nvSpPr>
          <p:cNvPr id="16" name="Chevron 15"/>
          <p:cNvSpPr/>
          <p:nvPr/>
        </p:nvSpPr>
        <p:spPr>
          <a:xfrm>
            <a:off x="4224527" y="2770632"/>
            <a:ext cx="192024" cy="347472"/>
          </a:xfrm>
          <a:prstGeom prst="chevron">
            <a:avLst/>
          </a:prstGeom>
          <a:solidFill>
            <a:srgbClr val="344B66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34840" y="2350008"/>
            <a:ext cx="1261872" cy="1261872"/>
          </a:xfrm>
          <a:prstGeom prst="rect">
            <a:avLst/>
          </a:prstGeom>
          <a:solidFill>
            <a:srgbClr val="FFBE48"/>
          </a:solidFill>
          <a:ln w="12700">
            <a:solidFill>
              <a:srgbClr val="FFB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2752344"/>
            <a:ext cx="126187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F4F8FF"/>
                </a:solidFill>
                <a:latin typeface="Noto Sans"/>
              </a:rPr>
              <a:t>160²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108960"/>
            <a:ext cx="126187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1" i="0">
                <a:solidFill>
                  <a:srgbClr val="9DB1CA"/>
                </a:solidFill>
                <a:latin typeface="Noto Sans"/>
              </a:rPr>
              <a:t>s=4</a:t>
            </a:r>
          </a:p>
        </p:txBody>
      </p:sp>
      <p:sp>
        <p:nvSpPr>
          <p:cNvPr id="20" name="Chevron 19"/>
          <p:cNvSpPr/>
          <p:nvPr/>
        </p:nvSpPr>
        <p:spPr>
          <a:xfrm>
            <a:off x="5733288" y="2770632"/>
            <a:ext cx="192024" cy="347472"/>
          </a:xfrm>
          <a:prstGeom prst="chevron">
            <a:avLst/>
          </a:prstGeom>
          <a:solidFill>
            <a:srgbClr val="344B66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0" y="2459736"/>
            <a:ext cx="1042415" cy="1042415"/>
          </a:xfrm>
          <a:prstGeom prst="rect">
            <a:avLst/>
          </a:prstGeom>
          <a:solidFill>
            <a:srgbClr val="59DD92"/>
          </a:solidFill>
          <a:ln w="12700">
            <a:solidFill>
              <a:srgbClr val="59D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0" y="2752344"/>
            <a:ext cx="1042415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F4F8FF"/>
                </a:solidFill>
                <a:latin typeface="Noto Sans"/>
              </a:rPr>
              <a:t>80²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3108960"/>
            <a:ext cx="1042415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1" i="0">
                <a:solidFill>
                  <a:srgbClr val="9DB1CA"/>
                </a:solidFill>
                <a:latin typeface="Noto Sans"/>
              </a:rPr>
              <a:t>s=8</a:t>
            </a:r>
          </a:p>
        </p:txBody>
      </p:sp>
      <p:sp>
        <p:nvSpPr>
          <p:cNvPr id="24" name="Chevron 23"/>
          <p:cNvSpPr/>
          <p:nvPr/>
        </p:nvSpPr>
        <p:spPr>
          <a:xfrm>
            <a:off x="7022592" y="2770632"/>
            <a:ext cx="192024" cy="347472"/>
          </a:xfrm>
          <a:prstGeom prst="chevron">
            <a:avLst/>
          </a:prstGeom>
          <a:solidFill>
            <a:srgbClr val="344B66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32904" y="2546603"/>
            <a:ext cx="868680" cy="868680"/>
          </a:xfrm>
          <a:prstGeom prst="rect">
            <a:avLst/>
          </a:prstGeom>
          <a:solidFill>
            <a:srgbClr val="26D0CE"/>
          </a:solidFill>
          <a:ln w="12700">
            <a:solidFill>
              <a:srgbClr val="26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32904" y="2752344"/>
            <a:ext cx="8686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 i="0">
                <a:solidFill>
                  <a:srgbClr val="F4F8FF"/>
                </a:solidFill>
                <a:latin typeface="Noto Sans"/>
              </a:rPr>
              <a:t>40²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32904" y="3108960"/>
            <a:ext cx="868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1" i="0">
                <a:solidFill>
                  <a:srgbClr val="9DB1CA"/>
                </a:solidFill>
                <a:latin typeface="Noto Sans"/>
              </a:rPr>
              <a:t>s=16</a:t>
            </a:r>
          </a:p>
        </p:txBody>
      </p:sp>
      <p:sp>
        <p:nvSpPr>
          <p:cNvPr id="28" name="Chevron 27"/>
          <p:cNvSpPr/>
          <p:nvPr/>
        </p:nvSpPr>
        <p:spPr>
          <a:xfrm>
            <a:off x="8138160" y="2770632"/>
            <a:ext cx="192024" cy="347472"/>
          </a:xfrm>
          <a:prstGeom prst="chevron">
            <a:avLst/>
          </a:prstGeom>
          <a:solidFill>
            <a:srgbClr val="344B66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48472" y="2624327"/>
            <a:ext cx="713232" cy="713232"/>
          </a:xfrm>
          <a:prstGeom prst="rect">
            <a:avLst/>
          </a:prstGeom>
          <a:solidFill>
            <a:srgbClr val="9B7EFF"/>
          </a:solidFill>
          <a:ln w="12700">
            <a:solidFill>
              <a:srgbClr val="9B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48472" y="2752344"/>
            <a:ext cx="7132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 i="0">
                <a:solidFill>
                  <a:srgbClr val="F4F8FF"/>
                </a:solidFill>
                <a:latin typeface="Noto Sans"/>
              </a:rPr>
              <a:t>20²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48472" y="3108960"/>
            <a:ext cx="7132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1" i="0">
                <a:solidFill>
                  <a:srgbClr val="9DB1CA"/>
                </a:solidFill>
                <a:latin typeface="Noto Sans"/>
              </a:rPr>
              <a:t>s=32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99448" y="1755648"/>
            <a:ext cx="2139696" cy="3401568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09760" y="2011680"/>
            <a:ext cx="171907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 i="0">
                <a:solidFill>
                  <a:srgbClr val="FFBE48"/>
                </a:solidFill>
                <a:latin typeface="Noto Sans"/>
              </a:rPr>
              <a:t>ĐÁNH ĐỔI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82328" y="2578608"/>
            <a:ext cx="1773936" cy="21488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800">
                <a:solidFill>
                  <a:srgbClr val="26D0CE"/>
                </a:solidFill>
                <a:latin typeface="Noto Sans"/>
              </a:rPr>
              <a:t>●  </a:t>
            </a:r>
            <a:r>
              <a:rPr sz="960">
                <a:solidFill>
                  <a:srgbClr val="F4F8FF"/>
                </a:solidFill>
                <a:latin typeface="Noto Sans"/>
              </a:rPr>
              <a:t>H,W nhỏ → ít phép tính hơn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800">
                <a:solidFill>
                  <a:srgbClr val="26D0CE"/>
                </a:solidFill>
                <a:latin typeface="Noto Sans"/>
              </a:rPr>
              <a:t>●  </a:t>
            </a:r>
            <a:r>
              <a:rPr sz="960">
                <a:solidFill>
                  <a:srgbClr val="F4F8FF"/>
                </a:solidFill>
                <a:latin typeface="Noto Sans"/>
              </a:rPr>
              <a:t>mỗi ô đại diện vùng ảnh lớn hơn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800">
                <a:solidFill>
                  <a:srgbClr val="26D0CE"/>
                </a:solidFill>
                <a:latin typeface="Noto Sans"/>
              </a:rPr>
              <a:t>●  </a:t>
            </a:r>
            <a:r>
              <a:rPr sz="960">
                <a:solidFill>
                  <a:srgbClr val="F4F8FF"/>
                </a:solidFill>
                <a:latin typeface="Noto Sans"/>
              </a:rPr>
              <a:t>ngữ nghĩa tăng, chi tiết vị trí giảm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800">
                <a:solidFill>
                  <a:srgbClr val="26D0CE"/>
                </a:solidFill>
                <a:latin typeface="Noto Sans"/>
              </a:rPr>
              <a:t>●  </a:t>
            </a:r>
            <a:r>
              <a:rPr sz="960">
                <a:solidFill>
                  <a:srgbClr val="F4F8FF"/>
                </a:solidFill>
                <a:latin typeface="Noto Sans"/>
              </a:rPr>
              <a:t>vật thể nhỏ cần feature map 80×80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9760" y="4736592"/>
            <a:ext cx="171907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59DD92"/>
                </a:solidFill>
                <a:latin typeface="Noto Sans"/>
              </a:rPr>
              <a:t>Receptive field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176272" y="5212080"/>
            <a:ext cx="6144768" cy="530352"/>
          </a:xfrm>
          <a:prstGeom prst="round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176272" y="5212080"/>
            <a:ext cx="45720" cy="530352"/>
          </a:xfrm>
          <a:prstGeom prst="roundRect">
            <a:avLst/>
          </a:prstGeom>
          <a:solidFill>
            <a:srgbClr val="4B96FF"/>
          </a:solidFill>
          <a:ln w="12700">
            <a:solidFill>
              <a:srgbClr val="4B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22576" y="5303520"/>
            <a:ext cx="5888736" cy="36575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 i="0">
                <a:solidFill>
                  <a:srgbClr val="F4F8FF"/>
                </a:solidFill>
                <a:latin typeface="DejaVu Sans Mono"/>
              </a:rPr>
              <a:t>H_out = ⌊(H + 2p − k)/s⌋ + 1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" y="5925312"/>
            <a:ext cx="8183879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20" b="1" i="0">
                <a:solidFill>
                  <a:srgbClr val="9DB1CA"/>
                </a:solidFill>
                <a:latin typeface="Noto Sans"/>
              </a:rPr>
              <a:t>Receptive field = vùng ảnh gốc có thể ảnh hưởng đến một ô đặc trưng.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881360" y="-292608"/>
            <a:ext cx="1600200" cy="896112"/>
          </a:xfrm>
          <a:prstGeom prst="roundRect">
            <a:avLst/>
          </a:prstGeom>
          <a:solidFill>
            <a:srgbClr val="26D0CE"/>
          </a:solidFill>
          <a:ln w="12700">
            <a:solidFill>
              <a:srgbClr val="26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384048" y="6345936"/>
            <a:ext cx="1920240" cy="804672"/>
          </a:xfrm>
          <a:prstGeom prst="roundRect">
            <a:avLst/>
          </a:prstGeom>
          <a:solidFill>
            <a:srgbClr val="9B7EFF"/>
          </a:solidFill>
          <a:ln w="12700">
            <a:solidFill>
              <a:srgbClr val="9B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749807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26D0CE"/>
                </a:solidFill>
                <a:latin typeface="Noto Sans"/>
              </a:rPr>
              <a:t>07 · BACKBONE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2648"/>
            <a:ext cx="106984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F4F8FF"/>
                </a:solidFill>
                <a:latin typeface="Noto Sans"/>
              </a:rPr>
              <a:t>Hành trình tensor trong YOLOv8s (input 640×640)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27664" y="356616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9DB1CA"/>
                </a:solidFill>
                <a:latin typeface="Noto Sans"/>
              </a:rP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10899648" cy="15240"/>
          </a:xfrm>
          <a:prstGeom prst="rect">
            <a:avLst/>
          </a:prstGeom>
          <a:solidFill>
            <a:srgbClr val="344B66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9966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9DB1CA"/>
                </a:solidFill>
                <a:latin typeface="Noto Sans"/>
              </a:rPr>
              <a:t>Nguồn: ultralytics/cfg/models/v8/yolov8.yaml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78440" y="6492240"/>
            <a:ext cx="1152144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1" i="0">
                <a:solidFill>
                  <a:srgbClr val="9DB1CA"/>
                </a:solidFill>
                <a:latin typeface="Noto Sans"/>
              </a:rPr>
              <a:t>PIXEL → YOLOv8  ·  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591056"/>
            <a:ext cx="10716768" cy="566928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32688" y="1719072"/>
            <a:ext cx="292608" cy="292608"/>
          </a:xfrm>
          <a:prstGeom prst="ellipse">
            <a:avLst/>
          </a:prstGeom>
          <a:solidFill>
            <a:srgbClr val="FF5B6F"/>
          </a:solidFill>
          <a:ln w="12700">
            <a:solidFill>
              <a:srgbClr val="FF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773936"/>
            <a:ext cx="292608" cy="1280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700" b="1" i="0">
                <a:solidFill>
                  <a:srgbClr val="08101E"/>
                </a:solidFill>
                <a:latin typeface="Noto Sans"/>
              </a:rPr>
              <a:t>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1719072"/>
            <a:ext cx="20116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 i="0">
                <a:solidFill>
                  <a:srgbClr val="F4F8FF"/>
                </a:solidFill>
                <a:latin typeface="Noto Sans"/>
              </a:rPr>
              <a:t>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8" y="1719072"/>
            <a:ext cx="2066543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FF5B6F"/>
                </a:solidFill>
                <a:latin typeface="DejaVu Sans Mono"/>
              </a:rPr>
              <a:t>3×640×640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08192" y="1719072"/>
            <a:ext cx="49377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 i="0">
                <a:solidFill>
                  <a:srgbClr val="9DB1CA"/>
                </a:solidFill>
                <a:latin typeface="Noto Sans"/>
              </a:rPr>
              <a:t>RGB đã chuẩn hóa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240280"/>
            <a:ext cx="10716768" cy="566928"/>
          </a:xfrm>
          <a:prstGeom prst="round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32688" y="2368296"/>
            <a:ext cx="292608" cy="292608"/>
          </a:xfrm>
          <a:prstGeom prst="ellipse">
            <a:avLst/>
          </a:prstGeom>
          <a:solidFill>
            <a:srgbClr val="FF844A"/>
          </a:solidFill>
          <a:ln w="12700">
            <a:solidFill>
              <a:srgbClr val="FF8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2423160"/>
            <a:ext cx="292608" cy="1280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700" b="1" i="0">
                <a:solidFill>
                  <a:srgbClr val="08101E"/>
                </a:solidFill>
                <a:latin typeface="Noto Sans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2368296"/>
            <a:ext cx="20116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 i="0">
                <a:solidFill>
                  <a:srgbClr val="F4F8FF"/>
                </a:solidFill>
                <a:latin typeface="Noto Sans"/>
              </a:rPr>
              <a:t>Conv s=2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21608" y="2368296"/>
            <a:ext cx="2066543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FF844A"/>
                </a:solidFill>
                <a:latin typeface="DejaVu Sans Mono"/>
              </a:rPr>
              <a:t>32×320×320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08192" y="2368296"/>
            <a:ext cx="49377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 i="0">
                <a:solidFill>
                  <a:srgbClr val="9DB1CA"/>
                </a:solidFill>
                <a:latin typeface="Noto Sans"/>
              </a:rPr>
              <a:t>cạnh / màu cục bộ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2889504"/>
            <a:ext cx="10716768" cy="566928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32688" y="3017520"/>
            <a:ext cx="292608" cy="292608"/>
          </a:xfrm>
          <a:prstGeom prst="ellipse">
            <a:avLst/>
          </a:prstGeom>
          <a:solidFill>
            <a:srgbClr val="FFBE48"/>
          </a:solidFill>
          <a:ln w="12700">
            <a:solidFill>
              <a:srgbClr val="FFB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3072384"/>
            <a:ext cx="292608" cy="1280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700" b="1" i="0">
                <a:solidFill>
                  <a:srgbClr val="08101E"/>
                </a:solidFill>
                <a:latin typeface="Noto Sans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3017520"/>
            <a:ext cx="20116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 i="0">
                <a:solidFill>
                  <a:srgbClr val="F4F8FF"/>
                </a:solidFill>
                <a:latin typeface="Noto Sans"/>
              </a:rPr>
              <a:t>Conv + C2f×1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21608" y="3017520"/>
            <a:ext cx="2066543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FFBE48"/>
                </a:solidFill>
                <a:latin typeface="DejaVu Sans Mono"/>
              </a:rPr>
              <a:t>64×160×160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08192" y="3017520"/>
            <a:ext cx="49377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 i="0">
                <a:solidFill>
                  <a:srgbClr val="9DB1CA"/>
                </a:solidFill>
                <a:latin typeface="Noto Sans"/>
              </a:rPr>
              <a:t>texture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3538728"/>
            <a:ext cx="10716768" cy="566928"/>
          </a:xfrm>
          <a:prstGeom prst="round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32688" y="3666744"/>
            <a:ext cx="292608" cy="292608"/>
          </a:xfrm>
          <a:prstGeom prst="ellipse">
            <a:avLst/>
          </a:prstGeom>
          <a:solidFill>
            <a:srgbClr val="59DD92"/>
          </a:solidFill>
          <a:ln w="12700">
            <a:solidFill>
              <a:srgbClr val="59D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3721608"/>
            <a:ext cx="292608" cy="1280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700" b="1" i="0">
                <a:solidFill>
                  <a:srgbClr val="08101E"/>
                </a:solidFill>
                <a:latin typeface="Noto Sans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3666744"/>
            <a:ext cx="20116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 i="0">
                <a:solidFill>
                  <a:srgbClr val="F4F8FF"/>
                </a:solidFill>
                <a:latin typeface="Noto Sans"/>
              </a:rPr>
              <a:t>P3 · Conv + C2f×2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21608" y="3666744"/>
            <a:ext cx="2066543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59DD92"/>
                </a:solidFill>
                <a:latin typeface="DejaVu Sans Mono"/>
              </a:rPr>
              <a:t>128×80×80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08192" y="3666744"/>
            <a:ext cx="49377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 i="0">
                <a:solidFill>
                  <a:srgbClr val="9DB1CA"/>
                </a:solidFill>
                <a:latin typeface="Noto Sans"/>
              </a:rPr>
              <a:t>chi tiết — vật thể nhỏ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4187952"/>
            <a:ext cx="10716768" cy="566928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32688" y="4315968"/>
            <a:ext cx="292608" cy="292608"/>
          </a:xfrm>
          <a:prstGeom prst="ellipse">
            <a:avLst/>
          </a:prstGeom>
          <a:solidFill>
            <a:srgbClr val="26D0CE"/>
          </a:solidFill>
          <a:ln w="12700">
            <a:solidFill>
              <a:srgbClr val="26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" y="4370832"/>
            <a:ext cx="292608" cy="1280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700" b="1" i="0">
                <a:solidFill>
                  <a:srgbClr val="08101E"/>
                </a:solidFill>
                <a:latin typeface="Noto Sans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20" y="4315968"/>
            <a:ext cx="20116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 i="0">
                <a:solidFill>
                  <a:srgbClr val="F4F8FF"/>
                </a:solidFill>
                <a:latin typeface="Noto Sans"/>
              </a:rPr>
              <a:t>P4 · Conv + C2f×2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21608" y="4315968"/>
            <a:ext cx="2066543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26D0CE"/>
                </a:solidFill>
                <a:latin typeface="DejaVu Sans Mono"/>
              </a:rPr>
              <a:t>256×40×40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08192" y="4315968"/>
            <a:ext cx="49377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 i="0">
                <a:solidFill>
                  <a:srgbClr val="9DB1CA"/>
                </a:solidFill>
                <a:latin typeface="Noto Sans"/>
              </a:rPr>
              <a:t>ngữ nghĩa — vật thể vừa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4837176"/>
            <a:ext cx="10716768" cy="566928"/>
          </a:xfrm>
          <a:prstGeom prst="round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32688" y="4965192"/>
            <a:ext cx="292608" cy="292608"/>
          </a:xfrm>
          <a:prstGeom prst="ellipse">
            <a:avLst/>
          </a:prstGeom>
          <a:solidFill>
            <a:srgbClr val="9B7EFF"/>
          </a:solidFill>
          <a:ln w="12700">
            <a:solidFill>
              <a:srgbClr val="9B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2688" y="5020056"/>
            <a:ext cx="292608" cy="1280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700" b="1" i="0">
                <a:solidFill>
                  <a:srgbClr val="08101E"/>
                </a:solidFill>
                <a:latin typeface="Noto Sans"/>
              </a:rPr>
              <a:t>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17320" y="4965192"/>
            <a:ext cx="20116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 i="0">
                <a:solidFill>
                  <a:srgbClr val="F4F8FF"/>
                </a:solidFill>
                <a:latin typeface="Noto Sans"/>
              </a:rPr>
              <a:t>P5 · Conv + C2f×1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21608" y="4965192"/>
            <a:ext cx="2066543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9B7EFF"/>
                </a:solidFill>
                <a:latin typeface="DejaVu Sans Mono"/>
              </a:rPr>
              <a:t>512×20×20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08192" y="4965192"/>
            <a:ext cx="49377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 i="0">
                <a:solidFill>
                  <a:srgbClr val="9DB1CA"/>
                </a:solidFill>
                <a:latin typeface="Noto Sans"/>
              </a:rPr>
              <a:t>ngữ nghĩa sâu — vật thể lớn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1520" y="5486400"/>
            <a:ext cx="10716768" cy="566928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32688" y="5614416"/>
            <a:ext cx="292608" cy="292608"/>
          </a:xfrm>
          <a:prstGeom prst="ellipse">
            <a:avLst/>
          </a:prstGeom>
          <a:solidFill>
            <a:srgbClr val="4B96FF"/>
          </a:solidFill>
          <a:ln w="12700">
            <a:solidFill>
              <a:srgbClr val="4B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2688" y="5669280"/>
            <a:ext cx="292608" cy="1280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700" b="1" i="0">
                <a:solidFill>
                  <a:srgbClr val="08101E"/>
                </a:solidFill>
                <a:latin typeface="Noto Sans"/>
              </a:rPr>
              <a:t>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17320" y="5614416"/>
            <a:ext cx="20116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 i="0">
                <a:solidFill>
                  <a:srgbClr val="F4F8FF"/>
                </a:solidFill>
                <a:latin typeface="Noto Sans"/>
              </a:rPr>
              <a:t>SPPF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21608" y="5614416"/>
            <a:ext cx="2066543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4B96FF"/>
                </a:solidFill>
                <a:latin typeface="DejaVu Sans Mono"/>
              </a:rPr>
              <a:t>512×20×20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08192" y="5614416"/>
            <a:ext cx="49377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 i="0">
                <a:solidFill>
                  <a:srgbClr val="9DB1CA"/>
                </a:solidFill>
                <a:latin typeface="Noto Sans"/>
              </a:rPr>
              <a:t>ngữ cảnh đa vùng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43000" y="6181344"/>
            <a:ext cx="987552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250" b="0">
                <a:solidFill>
                  <a:srgbClr val="9DB1CA"/>
                </a:solidFill>
                <a:latin typeface="Noto Sans"/>
              </a:rPr>
              <a:t>Quy luật: </a:t>
            </a:r>
            <a:r>
              <a:rPr sz="1250" b="1">
                <a:solidFill>
                  <a:srgbClr val="FF844A"/>
                </a:solidFill>
                <a:latin typeface="Noto Sans"/>
              </a:rPr>
              <a:t>H,W giảm</a:t>
            </a:r>
            <a:r>
              <a:rPr sz="1250" b="0">
                <a:solidFill>
                  <a:srgbClr val="9DB1CA"/>
                </a:solidFill>
                <a:latin typeface="Noto Sans"/>
              </a:rPr>
              <a:t> — </a:t>
            </a:r>
            <a:r>
              <a:rPr sz="1250" b="1">
                <a:solidFill>
                  <a:srgbClr val="26D0CE"/>
                </a:solidFill>
                <a:latin typeface="Noto Sans"/>
              </a:rPr>
              <a:t>số kênh tăng</a:t>
            </a:r>
            <a:r>
              <a:rPr sz="1250" b="0">
                <a:solidFill>
                  <a:srgbClr val="9DB1CA"/>
                </a:solidFill>
                <a:latin typeface="Noto Sans"/>
              </a:rPr>
              <a:t> — đặc trưng từ cục bộ đến ngữ nghĩa.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881360" y="-292608"/>
            <a:ext cx="1600200" cy="896112"/>
          </a:xfrm>
          <a:prstGeom prst="roundRect">
            <a:avLst/>
          </a:prstGeom>
          <a:solidFill>
            <a:srgbClr val="26D0CE"/>
          </a:solidFill>
          <a:ln w="12700">
            <a:solidFill>
              <a:srgbClr val="26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384048" y="6345936"/>
            <a:ext cx="1920240" cy="804672"/>
          </a:xfrm>
          <a:prstGeom prst="roundRect">
            <a:avLst/>
          </a:prstGeom>
          <a:solidFill>
            <a:srgbClr val="9B7EFF"/>
          </a:solidFill>
          <a:ln w="12700">
            <a:solidFill>
              <a:srgbClr val="9B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749807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26D0CE"/>
                </a:solidFill>
                <a:latin typeface="Noto Sans"/>
              </a:rPr>
              <a:t>08 · C2F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2648"/>
            <a:ext cx="106984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F4F8FF"/>
                </a:solidFill>
                <a:latin typeface="Noto Sans"/>
              </a:rPr>
              <a:t>C2f giữ nhiều đường truyền đặc trưng và gradient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27664" y="356616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9DB1CA"/>
                </a:solidFill>
                <a:latin typeface="Noto Sans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10899648" cy="15240"/>
          </a:xfrm>
          <a:prstGeom prst="rect">
            <a:avLst/>
          </a:prstGeom>
          <a:solidFill>
            <a:srgbClr val="344B66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9966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9DB1CA"/>
                </a:solidFill>
                <a:latin typeface="Noto Sans"/>
              </a:rPr>
              <a:t>Nguồn: Ultralytics nn/modules/block.py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78440" y="6492240"/>
            <a:ext cx="1152144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1" i="0">
                <a:solidFill>
                  <a:srgbClr val="9DB1CA"/>
                </a:solidFill>
                <a:latin typeface="Noto Sans"/>
              </a:rPr>
              <a:t>PIXEL → YOLOv8  · 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103120"/>
            <a:ext cx="1335024" cy="932688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414016"/>
            <a:ext cx="1335024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F4F8FF"/>
                </a:solidFill>
                <a:latin typeface="Noto Sans"/>
              </a:rPr>
              <a:t>Input X</a:t>
            </a:r>
          </a:p>
        </p:txBody>
      </p:sp>
      <p:sp>
        <p:nvSpPr>
          <p:cNvPr id="12" name="Chevron 11"/>
          <p:cNvSpPr/>
          <p:nvPr/>
        </p:nvSpPr>
        <p:spPr>
          <a:xfrm>
            <a:off x="2258568" y="2350008"/>
            <a:ext cx="411480" cy="457200"/>
          </a:xfrm>
          <a:prstGeom prst="chevron">
            <a:avLst/>
          </a:prstGeom>
          <a:solidFill>
            <a:srgbClr val="26D0CE"/>
          </a:solidFill>
          <a:ln w="12700">
            <a:solidFill>
              <a:srgbClr val="26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16352" y="1975104"/>
            <a:ext cx="1463040" cy="1207008"/>
          </a:xfrm>
          <a:prstGeom prst="roundRect">
            <a:avLst/>
          </a:prstGeom>
          <a:solidFill>
            <a:srgbClr val="1B2F48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16352" y="2231136"/>
            <a:ext cx="14630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26D0CE"/>
                </a:solidFill>
                <a:latin typeface="Noto Sans"/>
              </a:rPr>
              <a:t>Conv 1×1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16352" y="2670048"/>
            <a:ext cx="14630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50" b="0" i="0">
                <a:solidFill>
                  <a:srgbClr val="9DB1CA"/>
                </a:solidFill>
                <a:latin typeface="DejaVu Sans Mono"/>
              </a:rPr>
              <a:t>2c channels</a:t>
            </a:r>
          </a:p>
        </p:txBody>
      </p:sp>
      <p:sp>
        <p:nvSpPr>
          <p:cNvPr id="16" name="Chevron 15"/>
          <p:cNvSpPr/>
          <p:nvPr/>
        </p:nvSpPr>
        <p:spPr>
          <a:xfrm>
            <a:off x="4443984" y="2350008"/>
            <a:ext cx="411480" cy="457200"/>
          </a:xfrm>
          <a:prstGeom prst="chevron">
            <a:avLst/>
          </a:prstGeom>
          <a:solidFill>
            <a:srgbClr val="26D0CE"/>
          </a:solidFill>
          <a:ln w="12700">
            <a:solidFill>
              <a:srgbClr val="26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992624" y="1719072"/>
            <a:ext cx="1444752" cy="749808"/>
          </a:xfrm>
          <a:prstGeom prst="round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992624" y="2798064"/>
            <a:ext cx="1444752" cy="749808"/>
          </a:xfrm>
          <a:prstGeom prst="round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92624" y="1956816"/>
            <a:ext cx="1444752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59DD92"/>
                </a:solidFill>
                <a:latin typeface="Noto Sans"/>
              </a:rPr>
              <a:t>chunk 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92624" y="3035808"/>
            <a:ext cx="1444752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FFBE48"/>
                </a:solidFill>
                <a:latin typeface="Noto Sans"/>
              </a:rPr>
              <a:t>chunk B</a:t>
            </a:r>
          </a:p>
        </p:txBody>
      </p:sp>
      <p:sp>
        <p:nvSpPr>
          <p:cNvPr id="21" name="Chevron 20"/>
          <p:cNvSpPr/>
          <p:nvPr/>
        </p:nvSpPr>
        <p:spPr>
          <a:xfrm>
            <a:off x="6601968" y="2880360"/>
            <a:ext cx="411480" cy="457200"/>
          </a:xfrm>
          <a:prstGeom prst="chevron">
            <a:avLst/>
          </a:prstGeom>
          <a:solidFill>
            <a:srgbClr val="FFBE48"/>
          </a:solidFill>
          <a:ln w="12700">
            <a:solidFill>
              <a:srgbClr val="FFB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168896" y="2752344"/>
            <a:ext cx="1572768" cy="859536"/>
          </a:xfrm>
          <a:prstGeom prst="roundRect">
            <a:avLst/>
          </a:prstGeom>
          <a:solidFill>
            <a:srgbClr val="1B2F48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68896" y="3026664"/>
            <a:ext cx="157276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50" b="1" i="0">
                <a:solidFill>
                  <a:srgbClr val="F4F8FF"/>
                </a:solidFill>
                <a:latin typeface="Noto Sans"/>
              </a:rPr>
              <a:t>Bottleneck 1</a:t>
            </a:r>
          </a:p>
        </p:txBody>
      </p:sp>
      <p:sp>
        <p:nvSpPr>
          <p:cNvPr id="24" name="Chevron 23"/>
          <p:cNvSpPr/>
          <p:nvPr/>
        </p:nvSpPr>
        <p:spPr>
          <a:xfrm>
            <a:off x="8906256" y="2880360"/>
            <a:ext cx="411480" cy="457200"/>
          </a:xfrm>
          <a:prstGeom prst="chevron">
            <a:avLst/>
          </a:prstGeom>
          <a:solidFill>
            <a:srgbClr val="FFBE48"/>
          </a:solidFill>
          <a:ln w="12700">
            <a:solidFill>
              <a:srgbClr val="FFB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464040" y="2752344"/>
            <a:ext cx="1572768" cy="859536"/>
          </a:xfrm>
          <a:prstGeom prst="roundRect">
            <a:avLst/>
          </a:prstGeom>
          <a:solidFill>
            <a:srgbClr val="1B2F48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64040" y="3026664"/>
            <a:ext cx="157276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50" b="1" i="0">
                <a:solidFill>
                  <a:srgbClr val="F4F8FF"/>
                </a:solidFill>
                <a:latin typeface="Noto Sans"/>
              </a:rPr>
              <a:t>Bottleneck 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05856" y="3959352"/>
            <a:ext cx="4498848" cy="25400"/>
          </a:xfrm>
          <a:prstGeom prst="rect">
            <a:avLst/>
          </a:prstGeom>
          <a:solidFill>
            <a:srgbClr val="9B7EFF"/>
          </a:solidFill>
          <a:ln w="12700">
            <a:solidFill>
              <a:srgbClr val="9B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705856" y="3547872"/>
            <a:ext cx="25400" cy="411480"/>
          </a:xfrm>
          <a:prstGeom prst="rect">
            <a:avLst/>
          </a:prstGeom>
          <a:solidFill>
            <a:srgbClr val="9B7EFF"/>
          </a:solidFill>
          <a:ln w="12700">
            <a:solidFill>
              <a:srgbClr val="9B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55279" y="3611880"/>
            <a:ext cx="25400" cy="347471"/>
          </a:xfrm>
          <a:prstGeom prst="rect">
            <a:avLst/>
          </a:prstGeom>
          <a:solidFill>
            <a:srgbClr val="9B7EFF"/>
          </a:solidFill>
          <a:ln w="12700">
            <a:solidFill>
              <a:srgbClr val="9B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204704" y="3611880"/>
            <a:ext cx="25400" cy="347471"/>
          </a:xfrm>
          <a:prstGeom prst="rect">
            <a:avLst/>
          </a:prstGeom>
          <a:solidFill>
            <a:srgbClr val="9B7EFF"/>
          </a:solidFill>
          <a:ln w="12700">
            <a:solidFill>
              <a:srgbClr val="9B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32120" y="4105656"/>
            <a:ext cx="5029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9B7EFF"/>
                </a:solidFill>
                <a:latin typeface="DejaVu Sans Mono"/>
              </a:rPr>
              <a:t>CONCAT [A, B, Bottleneck₁, …, Bottleneckₙ]</a:t>
            </a:r>
          </a:p>
        </p:txBody>
      </p:sp>
      <p:sp>
        <p:nvSpPr>
          <p:cNvPr id="32" name="Chevron 31"/>
          <p:cNvSpPr/>
          <p:nvPr/>
        </p:nvSpPr>
        <p:spPr>
          <a:xfrm>
            <a:off x="10716768" y="4023360"/>
            <a:ext cx="384048" cy="457200"/>
          </a:xfrm>
          <a:prstGeom prst="chevron">
            <a:avLst/>
          </a:prstGeom>
          <a:solidFill>
            <a:srgbClr val="9B7EFF"/>
          </a:solidFill>
          <a:ln w="12700">
            <a:solidFill>
              <a:srgbClr val="9B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1155680" y="3867912"/>
            <a:ext cx="658368" cy="768096"/>
          </a:xfrm>
          <a:prstGeom prst="roundRect">
            <a:avLst/>
          </a:prstGeom>
          <a:solidFill>
            <a:srgbClr val="26D0CE"/>
          </a:solidFill>
          <a:ln w="12700">
            <a:solidFill>
              <a:srgbClr val="26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155680" y="4105656"/>
            <a:ext cx="65836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F4F8FF"/>
                </a:solidFill>
                <a:latin typeface="Noto Sans"/>
              </a:rPr>
              <a:t>Conv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6384" y="4956048"/>
            <a:ext cx="3474720" cy="1024128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86384" y="4956048"/>
            <a:ext cx="50292" cy="1024128"/>
          </a:xfrm>
          <a:prstGeom prst="roundRect">
            <a:avLst/>
          </a:prstGeom>
          <a:solidFill>
            <a:srgbClr val="59DD92"/>
          </a:solidFill>
          <a:ln w="12700">
            <a:solidFill>
              <a:srgbClr val="59D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4983" y="5102352"/>
            <a:ext cx="3081527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 i="0">
                <a:solidFill>
                  <a:srgbClr val="F4F8FF"/>
                </a:solidFill>
                <a:latin typeface="Noto Sans"/>
              </a:rPr>
              <a:t>Đường ngắn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983" y="5513832"/>
            <a:ext cx="3035808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80" b="0" i="0">
                <a:solidFill>
                  <a:srgbClr val="9DB1CA"/>
                </a:solidFill>
                <a:latin typeface="Noto Sans"/>
              </a:rPr>
              <a:t>A đi thẳng tới concat → giữ đặc trưng gốc.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462272" y="4956048"/>
            <a:ext cx="3474720" cy="1024128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462272" y="4956048"/>
            <a:ext cx="50292" cy="1024128"/>
          </a:xfrm>
          <a:prstGeom prst="roundRect">
            <a:avLst/>
          </a:prstGeom>
          <a:solidFill>
            <a:srgbClr val="FFBE48"/>
          </a:solidFill>
          <a:ln w="12700">
            <a:solidFill>
              <a:srgbClr val="FFB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90872" y="5102352"/>
            <a:ext cx="3081527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 i="0">
                <a:solidFill>
                  <a:srgbClr val="F4F8FF"/>
                </a:solidFill>
                <a:latin typeface="Noto Sans"/>
              </a:rPr>
              <a:t>Đường sâu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90872" y="5513832"/>
            <a:ext cx="3035808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80" b="0" i="0">
                <a:solidFill>
                  <a:srgbClr val="9DB1CA"/>
                </a:solidFill>
                <a:latin typeface="Noto Sans"/>
              </a:rPr>
              <a:t>B qua chuỗi bottleneck → đặc trưng biến đổi dần.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38159" y="4956048"/>
            <a:ext cx="3474720" cy="1024128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138159" y="4956048"/>
            <a:ext cx="50292" cy="1024128"/>
          </a:xfrm>
          <a:prstGeom prst="roundRect">
            <a:avLst/>
          </a:prstGeom>
          <a:solidFill>
            <a:srgbClr val="9B7EFF"/>
          </a:solidFill>
          <a:ln w="12700">
            <a:solidFill>
              <a:srgbClr val="9B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66759" y="5102352"/>
            <a:ext cx="3081527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 i="0">
                <a:solidFill>
                  <a:srgbClr val="F4F8FF"/>
                </a:solidFill>
                <a:latin typeface="Noto Sans"/>
              </a:rPr>
              <a:t>Gradient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66759" y="5513832"/>
            <a:ext cx="3035808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80" b="0" i="0">
                <a:solidFill>
                  <a:srgbClr val="9DB1CA"/>
                </a:solidFill>
                <a:latin typeface="Noto Sans"/>
              </a:rPr>
              <a:t>Nhiều đường hồi truyền giúp tối ưu ổn định hơn.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" y="6190488"/>
            <a:ext cx="102870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50" b="1" i="0">
                <a:solidFill>
                  <a:srgbClr val="9DB1CA"/>
                </a:solidFill>
                <a:latin typeface="Noto Sans"/>
              </a:rPr>
              <a:t>C2f không tự “nhìn thấy quả”; nó tạo không gian đặc trưng thuận lợi để head phân loại và định vị.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881360" y="-292608"/>
            <a:ext cx="1600200" cy="896112"/>
          </a:xfrm>
          <a:prstGeom prst="roundRect">
            <a:avLst/>
          </a:prstGeom>
          <a:solidFill>
            <a:srgbClr val="26D0CE"/>
          </a:solidFill>
          <a:ln w="12700">
            <a:solidFill>
              <a:srgbClr val="26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384048" y="6345936"/>
            <a:ext cx="1920240" cy="804672"/>
          </a:xfrm>
          <a:prstGeom prst="roundRect">
            <a:avLst/>
          </a:prstGeom>
          <a:solidFill>
            <a:srgbClr val="9B7EFF"/>
          </a:solidFill>
          <a:ln w="12700">
            <a:solidFill>
              <a:srgbClr val="9B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749807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26D0CE"/>
                </a:solidFill>
                <a:latin typeface="Noto Sans"/>
              </a:rPr>
              <a:t>09 · SPPF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2648"/>
            <a:ext cx="106984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F4F8FF"/>
                </a:solidFill>
                <a:latin typeface="Noto Sans"/>
              </a:rPr>
              <a:t>SPPF gom ngữ cảnh ở nhiều kích thước mà không đổi H×W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27664" y="356616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9DB1CA"/>
                </a:solidFill>
                <a:latin typeface="Noto Sans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10899648" cy="15240"/>
          </a:xfrm>
          <a:prstGeom prst="rect">
            <a:avLst/>
          </a:prstGeom>
          <a:solidFill>
            <a:srgbClr val="344B66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9966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9DB1CA"/>
                </a:solidFill>
                <a:latin typeface="Noto Sans"/>
              </a:rPr>
              <a:t>Nguồn: Ultralytics nn/modules/block.py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78440" y="6492240"/>
            <a:ext cx="1152144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1" i="0">
                <a:solidFill>
                  <a:srgbClr val="9DB1CA"/>
                </a:solidFill>
                <a:latin typeface="Noto Sans"/>
              </a:rPr>
              <a:t>PIXEL → YOLOv8  ·  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1993392"/>
            <a:ext cx="1737360" cy="1243584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267712"/>
            <a:ext cx="1517904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50" b="1" i="0">
                <a:solidFill>
                  <a:srgbClr val="26D0CE"/>
                </a:solidFill>
                <a:latin typeface="Noto Sans"/>
              </a:rPr>
              <a:t>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24912"/>
            <a:ext cx="1517904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19" b="0" i="0">
                <a:solidFill>
                  <a:srgbClr val="9DB1CA"/>
                </a:solidFill>
                <a:latin typeface="DejaVu Sans Mono"/>
              </a:rPr>
              <a:t>20×20×512</a:t>
            </a:r>
          </a:p>
        </p:txBody>
      </p:sp>
      <p:sp>
        <p:nvSpPr>
          <p:cNvPr id="13" name="Chevron 12"/>
          <p:cNvSpPr/>
          <p:nvPr/>
        </p:nvSpPr>
        <p:spPr>
          <a:xfrm>
            <a:off x="2304288" y="2404872"/>
            <a:ext cx="310896" cy="411480"/>
          </a:xfrm>
          <a:prstGeom prst="chevron">
            <a:avLst/>
          </a:prstGeom>
          <a:solidFill>
            <a:srgbClr val="344B66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752344" y="1993392"/>
            <a:ext cx="1737360" cy="1243584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62072" y="2267712"/>
            <a:ext cx="1517904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50" b="1" i="0">
                <a:solidFill>
                  <a:srgbClr val="59DD92"/>
                </a:solidFill>
                <a:latin typeface="Noto Sans"/>
              </a:rPr>
              <a:t>Conv 1×1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62072" y="2724912"/>
            <a:ext cx="1517904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19" b="0" i="0">
                <a:solidFill>
                  <a:srgbClr val="9DB1CA"/>
                </a:solidFill>
                <a:latin typeface="DejaVu Sans Mono"/>
              </a:rPr>
              <a:t>20×20×256</a:t>
            </a:r>
          </a:p>
        </p:txBody>
      </p:sp>
      <p:sp>
        <p:nvSpPr>
          <p:cNvPr id="17" name="Chevron 16"/>
          <p:cNvSpPr/>
          <p:nvPr/>
        </p:nvSpPr>
        <p:spPr>
          <a:xfrm>
            <a:off x="4526280" y="2404872"/>
            <a:ext cx="310896" cy="411480"/>
          </a:xfrm>
          <a:prstGeom prst="chevron">
            <a:avLst/>
          </a:prstGeom>
          <a:solidFill>
            <a:srgbClr val="344B66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974336" y="1993392"/>
            <a:ext cx="1737360" cy="1243584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84064" y="2267712"/>
            <a:ext cx="1517904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50" b="1" i="0">
                <a:solidFill>
                  <a:srgbClr val="FFBE48"/>
                </a:solidFill>
                <a:latin typeface="Noto Sans"/>
              </a:rPr>
              <a:t>MaxPool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84064" y="2724912"/>
            <a:ext cx="1517904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19" b="0" i="0">
                <a:solidFill>
                  <a:srgbClr val="9DB1CA"/>
                </a:solidFill>
                <a:latin typeface="DejaVu Sans Mono"/>
              </a:rPr>
              <a:t>≈ receptive 5</a:t>
            </a:r>
          </a:p>
        </p:txBody>
      </p:sp>
      <p:sp>
        <p:nvSpPr>
          <p:cNvPr id="21" name="Chevron 20"/>
          <p:cNvSpPr/>
          <p:nvPr/>
        </p:nvSpPr>
        <p:spPr>
          <a:xfrm>
            <a:off x="6748272" y="2404872"/>
            <a:ext cx="310896" cy="411480"/>
          </a:xfrm>
          <a:prstGeom prst="chevron">
            <a:avLst/>
          </a:prstGeom>
          <a:solidFill>
            <a:srgbClr val="344B66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196328" y="1993392"/>
            <a:ext cx="1737360" cy="1243584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06056" y="2267712"/>
            <a:ext cx="1517904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50" b="1" i="0">
                <a:solidFill>
                  <a:srgbClr val="FF844A"/>
                </a:solidFill>
                <a:latin typeface="Noto Sans"/>
              </a:rPr>
              <a:t>MaxPool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06056" y="2724912"/>
            <a:ext cx="1517904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19" b="0" i="0">
                <a:solidFill>
                  <a:srgbClr val="9DB1CA"/>
                </a:solidFill>
                <a:latin typeface="DejaVu Sans Mono"/>
              </a:rPr>
              <a:t>≈ receptive 9</a:t>
            </a:r>
          </a:p>
        </p:txBody>
      </p:sp>
      <p:sp>
        <p:nvSpPr>
          <p:cNvPr id="25" name="Chevron 24"/>
          <p:cNvSpPr/>
          <p:nvPr/>
        </p:nvSpPr>
        <p:spPr>
          <a:xfrm>
            <a:off x="8970264" y="2404872"/>
            <a:ext cx="310896" cy="411480"/>
          </a:xfrm>
          <a:prstGeom prst="chevron">
            <a:avLst/>
          </a:prstGeom>
          <a:solidFill>
            <a:srgbClr val="344B66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418320" y="1993392"/>
            <a:ext cx="1737360" cy="1243584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28048" y="2267712"/>
            <a:ext cx="1517904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50" b="1" i="0">
                <a:solidFill>
                  <a:srgbClr val="FF5B6F"/>
                </a:solidFill>
                <a:latin typeface="Noto Sans"/>
              </a:rPr>
              <a:t>MaxPool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28048" y="2724912"/>
            <a:ext cx="1517904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19" b="0" i="0">
                <a:solidFill>
                  <a:srgbClr val="9DB1CA"/>
                </a:solidFill>
                <a:latin typeface="DejaVu Sans Mono"/>
              </a:rPr>
              <a:t>≈ receptive 13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91256" y="3703320"/>
            <a:ext cx="6665975" cy="25400"/>
          </a:xfrm>
          <a:prstGeom prst="rect">
            <a:avLst/>
          </a:prstGeom>
          <a:solidFill>
            <a:srgbClr val="9B7EFF"/>
          </a:solidFill>
          <a:ln w="12700">
            <a:solidFill>
              <a:srgbClr val="9B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191256" y="3236976"/>
            <a:ext cx="25400" cy="466343"/>
          </a:xfrm>
          <a:prstGeom prst="rect">
            <a:avLst/>
          </a:prstGeom>
          <a:solidFill>
            <a:srgbClr val="9B7EFF"/>
          </a:solidFill>
          <a:ln w="12700">
            <a:solidFill>
              <a:srgbClr val="9B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13248" y="3236976"/>
            <a:ext cx="25400" cy="466343"/>
          </a:xfrm>
          <a:prstGeom prst="rect">
            <a:avLst/>
          </a:prstGeom>
          <a:solidFill>
            <a:srgbClr val="9B7EFF"/>
          </a:solidFill>
          <a:ln w="12700">
            <a:solidFill>
              <a:srgbClr val="9B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635240" y="3236976"/>
            <a:ext cx="25400" cy="466343"/>
          </a:xfrm>
          <a:prstGeom prst="rect">
            <a:avLst/>
          </a:prstGeom>
          <a:solidFill>
            <a:srgbClr val="9B7EFF"/>
          </a:solidFill>
          <a:ln w="12700">
            <a:solidFill>
              <a:srgbClr val="9B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857232" y="3236976"/>
            <a:ext cx="25400" cy="466343"/>
          </a:xfrm>
          <a:prstGeom prst="rect">
            <a:avLst/>
          </a:prstGeom>
          <a:solidFill>
            <a:srgbClr val="9B7EFF"/>
          </a:solidFill>
          <a:ln w="12700">
            <a:solidFill>
              <a:srgbClr val="9B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09160" y="3840480"/>
            <a:ext cx="3822191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9B7EFF"/>
                </a:solidFill>
                <a:latin typeface="Noto Sans"/>
              </a:rPr>
              <a:t>Concat 4 nhánh theo chiều channel</a:t>
            </a:r>
          </a:p>
        </p:txBody>
      </p:sp>
      <p:sp>
        <p:nvSpPr>
          <p:cNvPr id="35" name="Chevron 34"/>
          <p:cNvSpPr/>
          <p:nvPr/>
        </p:nvSpPr>
        <p:spPr>
          <a:xfrm>
            <a:off x="8668512" y="3785615"/>
            <a:ext cx="411480" cy="457200"/>
          </a:xfrm>
          <a:prstGeom prst="chevron">
            <a:avLst/>
          </a:prstGeom>
          <a:solidFill>
            <a:srgbClr val="9B7EFF"/>
          </a:solidFill>
          <a:ln w="12700">
            <a:solidFill>
              <a:srgbClr val="9B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281160" y="3703320"/>
            <a:ext cx="1993392" cy="713232"/>
          </a:xfrm>
          <a:prstGeom prst="roundRect">
            <a:avLst/>
          </a:prstGeom>
          <a:solidFill>
            <a:srgbClr val="1B2F48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81160" y="3922776"/>
            <a:ext cx="1993392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50" b="1" i="0">
                <a:solidFill>
                  <a:srgbClr val="F4F8FF"/>
                </a:solidFill>
                <a:latin typeface="Noto Sans"/>
              </a:rPr>
              <a:t>Conv 1×1 → 512ch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" y="4937760"/>
            <a:ext cx="10104120" cy="53035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330" b="0">
                <a:solidFill>
                  <a:srgbClr val="9DB1CA"/>
                </a:solidFill>
                <a:latin typeface="Noto Sans"/>
              </a:rPr>
              <a:t>MaxPool giữ phản hồi mạnh nhất trong vùng. </a:t>
            </a:r>
            <a:r>
              <a:rPr sz="1330" b="1">
                <a:solidFill>
                  <a:srgbClr val="FFBE48"/>
                </a:solidFill>
                <a:latin typeface="Noto Sans"/>
              </a:rPr>
              <a:t>Ba lần pool 5×5 liên tiếp</a:t>
            </a:r>
            <a:r>
              <a:rPr sz="1330" b="0">
                <a:solidFill>
                  <a:srgbClr val="9DB1CA"/>
                </a:solidFill>
                <a:latin typeface="Noto Sans"/>
              </a:rPr>
              <a:t> xấp xỉ các vùng 5, 9 và 13 với chi phí thấp.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499616" y="5687568"/>
            <a:ext cx="9189720" cy="548640"/>
          </a:xfrm>
          <a:prstGeom prst="round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499616" y="5687568"/>
            <a:ext cx="45720" cy="548640"/>
          </a:xfrm>
          <a:prstGeom prst="roundRect">
            <a:avLst/>
          </a:prstGeom>
          <a:solidFill>
            <a:srgbClr val="FFBE48"/>
          </a:solidFill>
          <a:ln w="12700">
            <a:solidFill>
              <a:srgbClr val="FFB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645919" y="5779007"/>
            <a:ext cx="8933688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20" b="1" i="0">
                <a:solidFill>
                  <a:srgbClr val="F4F8FF"/>
                </a:solidFill>
                <a:latin typeface="DejaVu Sans Mono"/>
              </a:rPr>
              <a:t>SPPF(X) = Conv(Concat[X₀, Pool(X₀), Pool²(X₀), Pool³(X₀)])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881360" y="-292608"/>
            <a:ext cx="1600200" cy="896112"/>
          </a:xfrm>
          <a:prstGeom prst="roundRect">
            <a:avLst/>
          </a:prstGeom>
          <a:solidFill>
            <a:srgbClr val="26D0CE"/>
          </a:solidFill>
          <a:ln w="12700">
            <a:solidFill>
              <a:srgbClr val="26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384048" y="6345936"/>
            <a:ext cx="1920240" cy="804672"/>
          </a:xfrm>
          <a:prstGeom prst="roundRect">
            <a:avLst/>
          </a:prstGeom>
          <a:solidFill>
            <a:srgbClr val="9B7EFF"/>
          </a:solidFill>
          <a:ln w="12700">
            <a:solidFill>
              <a:srgbClr val="9B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749807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26D0CE"/>
                </a:solidFill>
                <a:latin typeface="Noto Sans"/>
              </a:rPr>
              <a:t>10 · NECK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2648"/>
            <a:ext cx="106984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F4F8FF"/>
                </a:solidFill>
                <a:latin typeface="Noto Sans"/>
              </a:rPr>
              <a:t>FPN + PAN: đưa ngữ nghĩa sâu về lại vị trí chi tiết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27664" y="356616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9DB1CA"/>
                </a:solidFill>
                <a:latin typeface="Noto Sans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10899648" cy="15240"/>
          </a:xfrm>
          <a:prstGeom prst="rect">
            <a:avLst/>
          </a:prstGeom>
          <a:solidFill>
            <a:srgbClr val="344B66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9966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9DB1CA"/>
                </a:solidFill>
                <a:latin typeface="Noto Sans"/>
              </a:rPr>
              <a:t>Nguồn: YOLOv8 model YAML; FPN/PAN feature fusion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78440" y="6492240"/>
            <a:ext cx="1152144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1" i="0">
                <a:solidFill>
                  <a:srgbClr val="9DB1CA"/>
                </a:solidFill>
                <a:latin typeface="Noto Sans"/>
              </a:rPr>
              <a:t>PIXEL → YOLOv8  · 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847088"/>
            <a:ext cx="2011680" cy="804672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1993392"/>
            <a:ext cx="512064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59DD92"/>
                </a:solidFill>
                <a:latin typeface="Noto Sans"/>
              </a:rPr>
              <a:t>P3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993392"/>
            <a:ext cx="102412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50" b="1" i="0">
                <a:solidFill>
                  <a:srgbClr val="F4F8FF"/>
                </a:solidFill>
                <a:latin typeface="DejaVu Sans Mono"/>
              </a:rPr>
              <a:t>80×80×128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331720"/>
            <a:ext cx="157276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1" i="0">
                <a:solidFill>
                  <a:srgbClr val="9DB1CA"/>
                </a:solidFill>
                <a:latin typeface="Noto Sans"/>
              </a:rPr>
              <a:t>small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090672"/>
            <a:ext cx="2011680" cy="804672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3236976"/>
            <a:ext cx="512064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26D0CE"/>
                </a:solidFill>
                <a:latin typeface="Noto Sans"/>
              </a:rPr>
              <a:t>P4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7048" y="3236976"/>
            <a:ext cx="102412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50" b="1" i="0">
                <a:solidFill>
                  <a:srgbClr val="F4F8FF"/>
                </a:solidFill>
                <a:latin typeface="DejaVu Sans Mono"/>
              </a:rPr>
              <a:t>40×40×256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" y="3575304"/>
            <a:ext cx="157276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1" i="0">
                <a:solidFill>
                  <a:srgbClr val="9DB1CA"/>
                </a:solidFill>
                <a:latin typeface="Noto Sans"/>
              </a:rPr>
              <a:t>medium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4334256"/>
            <a:ext cx="2011680" cy="804672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4480560"/>
            <a:ext cx="512064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9B7EFF"/>
                </a:solidFill>
                <a:latin typeface="Noto Sans"/>
              </a:rPr>
              <a:t>P5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7048" y="4480560"/>
            <a:ext cx="102412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50" b="1" i="0">
                <a:solidFill>
                  <a:srgbClr val="F4F8FF"/>
                </a:solidFill>
                <a:latin typeface="DejaVu Sans Mono"/>
              </a:rPr>
              <a:t>20×20×512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4818888"/>
            <a:ext cx="157276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1" i="0">
                <a:solidFill>
                  <a:srgbClr val="9DB1CA"/>
                </a:solidFill>
                <a:latin typeface="Noto Sans"/>
              </a:rPr>
              <a:t>large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18688" y="1600200"/>
            <a:ext cx="309067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 i="0">
                <a:solidFill>
                  <a:srgbClr val="26D0CE"/>
                </a:solidFill>
                <a:latin typeface="Noto Sans"/>
              </a:rPr>
              <a:t>TOP-DOWN · FPN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64408" y="1965960"/>
            <a:ext cx="2999232" cy="3200400"/>
          </a:xfrm>
          <a:prstGeom prst="round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47872" y="4379976"/>
            <a:ext cx="49377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9B7EFF"/>
                </a:solidFill>
                <a:latin typeface="Noto Sans"/>
              </a:rPr>
              <a:t>P5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4187952" y="4069080"/>
            <a:ext cx="420624" cy="475488"/>
          </a:xfrm>
          <a:prstGeom prst="downArrow">
            <a:avLst/>
          </a:prstGeom>
          <a:solidFill>
            <a:srgbClr val="9B7EFF"/>
          </a:solidFill>
          <a:ln w="12700">
            <a:solidFill>
              <a:srgbClr val="9B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27448" y="4087368"/>
            <a:ext cx="11247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9DB1CA"/>
                </a:solidFill>
                <a:latin typeface="Noto Sans"/>
              </a:rPr>
              <a:t>Upsample ×2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05072" y="3273552"/>
            <a:ext cx="1627632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26D0CE"/>
                </a:solidFill>
                <a:latin typeface="Noto Sans"/>
              </a:rPr>
              <a:t>Concat với P4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4187952" y="2798064"/>
            <a:ext cx="420624" cy="475488"/>
          </a:xfrm>
          <a:prstGeom prst="downArrow">
            <a:avLst/>
          </a:prstGeom>
          <a:solidFill>
            <a:srgbClr val="26D0CE"/>
          </a:solidFill>
          <a:ln w="12700">
            <a:solidFill>
              <a:srgbClr val="26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05072" y="2185416"/>
            <a:ext cx="1627632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59DD92"/>
                </a:solidFill>
                <a:latin typeface="Noto Sans"/>
              </a:rPr>
              <a:t>Concat với P3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01968" y="1600200"/>
            <a:ext cx="309067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 i="0">
                <a:solidFill>
                  <a:srgbClr val="59DD92"/>
                </a:solidFill>
                <a:latin typeface="Noto Sans"/>
              </a:rPr>
              <a:t>BOTTOM-UP · PAN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47688" y="1965960"/>
            <a:ext cx="2999232" cy="3200400"/>
          </a:xfrm>
          <a:prstGeom prst="round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42631" y="2194560"/>
            <a:ext cx="160020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59DD92"/>
                </a:solidFill>
                <a:latin typeface="Noto Sans"/>
              </a:rPr>
              <a:t>P3 fused</a:t>
            </a:r>
          </a:p>
        </p:txBody>
      </p:sp>
      <p:sp>
        <p:nvSpPr>
          <p:cNvPr id="33" name="Down Arrow 32"/>
          <p:cNvSpPr/>
          <p:nvPr/>
        </p:nvSpPr>
        <p:spPr>
          <a:xfrm>
            <a:off x="7763256" y="2633472"/>
            <a:ext cx="420624" cy="475488"/>
          </a:xfrm>
          <a:prstGeom prst="downArrow">
            <a:avLst/>
          </a:prstGeom>
          <a:solidFill>
            <a:srgbClr val="59DD92"/>
          </a:solidFill>
          <a:ln w="12700">
            <a:solidFill>
              <a:srgbClr val="59D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86600" y="3246120"/>
            <a:ext cx="1993392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1" i="0">
                <a:solidFill>
                  <a:srgbClr val="26D0CE"/>
                </a:solidFill>
                <a:latin typeface="Noto Sans"/>
              </a:rPr>
              <a:t>Conv s=2 + concat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7763256" y="3675887"/>
            <a:ext cx="420624" cy="475488"/>
          </a:xfrm>
          <a:prstGeom prst="downArrow">
            <a:avLst/>
          </a:prstGeom>
          <a:solidFill>
            <a:srgbClr val="26D0CE"/>
          </a:solidFill>
          <a:ln w="12700">
            <a:solidFill>
              <a:srgbClr val="26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42631" y="4416552"/>
            <a:ext cx="160020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9B7EFF"/>
                </a:solidFill>
                <a:latin typeface="Noto Sans"/>
              </a:rPr>
              <a:t>P5 fused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021824" y="1901952"/>
            <a:ext cx="1417320" cy="3328416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41280" y="2176272"/>
            <a:ext cx="969264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FFBE48"/>
                </a:solidFill>
                <a:latin typeface="Noto Sans"/>
              </a:rPr>
              <a:t>KẾT QUẢ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04704" y="2706624"/>
            <a:ext cx="1051560" cy="21305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F4F8FF"/>
                </a:solidFill>
                <a:latin typeface="Noto Sans"/>
              </a:rPr>
              <a:t>mỗi mức có cả
CHI TIẾT
không gian
+
NGỮ NGHĨA
sâu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70432" y="5650992"/>
            <a:ext cx="9893808" cy="47548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320" b="0">
                <a:solidFill>
                  <a:srgbClr val="9DB1CA"/>
                </a:solidFill>
                <a:latin typeface="Noto Sans"/>
              </a:rPr>
              <a:t>P3 không chỉ “nhìn vật nhỏ”. Nó còn nhận ngữ nghĩa từ P5; </a:t>
            </a:r>
            <a:r>
              <a:rPr sz="1320" b="1">
                <a:solidFill>
                  <a:srgbClr val="26D0CE"/>
                </a:solidFill>
                <a:latin typeface="Noto Sans"/>
              </a:rPr>
              <a:t>đó là lý do fusion đa tỉ lệ quan trọng.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881360" y="-292608"/>
            <a:ext cx="1600200" cy="896112"/>
          </a:xfrm>
          <a:prstGeom prst="roundRect">
            <a:avLst/>
          </a:prstGeom>
          <a:solidFill>
            <a:srgbClr val="26D0CE"/>
          </a:solidFill>
          <a:ln w="12700">
            <a:solidFill>
              <a:srgbClr val="26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384048" y="6345936"/>
            <a:ext cx="1920240" cy="804672"/>
          </a:xfrm>
          <a:prstGeom prst="roundRect">
            <a:avLst/>
          </a:prstGeom>
          <a:solidFill>
            <a:srgbClr val="9B7EFF"/>
          </a:solidFill>
          <a:ln w="12700">
            <a:solidFill>
              <a:srgbClr val="9B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749807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26D0CE"/>
                </a:solidFill>
                <a:latin typeface="Noto Sans"/>
              </a:rPr>
              <a:t>11 · DETECTION 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2648"/>
            <a:ext cx="106984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F4F8FF"/>
                </a:solidFill>
                <a:latin typeface="Noto Sans"/>
              </a:rPr>
              <a:t>Tại mỗi điểm lưới: một nhánh box, một nhánh 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27664" y="356616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9DB1CA"/>
                </a:solidFill>
                <a:latin typeface="Noto Sans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10899648" cy="15240"/>
          </a:xfrm>
          <a:prstGeom prst="rect">
            <a:avLst/>
          </a:prstGeom>
          <a:solidFill>
            <a:srgbClr val="344B66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9966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9DB1CA"/>
                </a:solidFill>
                <a:latin typeface="Noto Sans"/>
              </a:rPr>
              <a:t>Nguồn: Ultralytics Detect head; reg_max=16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78440" y="6492240"/>
            <a:ext cx="1152144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1" i="0">
                <a:solidFill>
                  <a:srgbClr val="9DB1CA"/>
                </a:solidFill>
                <a:latin typeface="Noto Sans"/>
              </a:rPr>
              <a:t>PIXEL → YOLOv8  ·  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55648"/>
            <a:ext cx="1993392" cy="841248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911095"/>
            <a:ext cx="438912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59DD92"/>
                </a:solidFill>
                <a:latin typeface="Noto Sans"/>
              </a:rPr>
              <a:t>P3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1911095"/>
            <a:ext cx="877824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50" b="1" i="0">
                <a:solidFill>
                  <a:srgbClr val="F4F8FF"/>
                </a:solidFill>
                <a:latin typeface="DejaVu Sans Mono"/>
              </a:rPr>
              <a:t>80×80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240280"/>
            <a:ext cx="138988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80" b="0" i="0">
                <a:solidFill>
                  <a:srgbClr val="9DB1CA"/>
                </a:solidFill>
                <a:latin typeface="DejaVu Sans Mono"/>
              </a:rPr>
              <a:t>6.400 điểm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" y="2779776"/>
            <a:ext cx="1993392" cy="841248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935224"/>
            <a:ext cx="438912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26D0CE"/>
                </a:solidFill>
                <a:latin typeface="Noto Sans"/>
              </a:rPr>
              <a:t>P4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08176" y="2935224"/>
            <a:ext cx="877824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50" b="1" i="0">
                <a:solidFill>
                  <a:srgbClr val="F4F8FF"/>
                </a:solidFill>
                <a:latin typeface="DejaVu Sans Mono"/>
              </a:rPr>
              <a:t>40×40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3264408"/>
            <a:ext cx="138988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80" b="0" i="0">
                <a:solidFill>
                  <a:srgbClr val="9DB1CA"/>
                </a:solidFill>
                <a:latin typeface="DejaVu Sans Mono"/>
              </a:rPr>
              <a:t>1.600 điểm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3803904"/>
            <a:ext cx="1993392" cy="841248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959352"/>
            <a:ext cx="438912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9B7EFF"/>
                </a:solidFill>
                <a:latin typeface="Noto Sans"/>
              </a:rPr>
              <a:t>P5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08176" y="3959352"/>
            <a:ext cx="877824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50" b="1" i="0">
                <a:solidFill>
                  <a:srgbClr val="F4F8FF"/>
                </a:solidFill>
                <a:latin typeface="DejaVu Sans Mono"/>
              </a:rPr>
              <a:t>20×20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4288536"/>
            <a:ext cx="138988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80" b="0" i="0">
                <a:solidFill>
                  <a:srgbClr val="9DB1CA"/>
                </a:solidFill>
                <a:latin typeface="DejaVu Sans Mono"/>
              </a:rPr>
              <a:t>400 điểm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4944" y="4974336"/>
            <a:ext cx="2606040" cy="576072"/>
          </a:xfrm>
          <a:prstGeom prst="round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94944" y="4974336"/>
            <a:ext cx="45720" cy="576072"/>
          </a:xfrm>
          <a:prstGeom prst="roundRect">
            <a:avLst/>
          </a:prstGeom>
          <a:solidFill>
            <a:srgbClr val="FFBE48"/>
          </a:solidFill>
          <a:ln w="12700">
            <a:solidFill>
              <a:srgbClr val="FFB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5065776"/>
            <a:ext cx="2350008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FFBE48"/>
                </a:solidFill>
                <a:latin typeface="DejaVu Sans Mono"/>
              </a:rPr>
              <a:t>6.400 + 1.600 + 400 = 8.400 điểm</a:t>
            </a:r>
          </a:p>
        </p:txBody>
      </p:sp>
      <p:sp>
        <p:nvSpPr>
          <p:cNvPr id="25" name="Chevron 24"/>
          <p:cNvSpPr/>
          <p:nvPr/>
        </p:nvSpPr>
        <p:spPr>
          <a:xfrm>
            <a:off x="3520440" y="2980944"/>
            <a:ext cx="502920" cy="548640"/>
          </a:xfrm>
          <a:prstGeom prst="chevron">
            <a:avLst/>
          </a:prstGeom>
          <a:solidFill>
            <a:srgbClr val="26D0CE"/>
          </a:solidFill>
          <a:ln w="12700">
            <a:solidFill>
              <a:srgbClr val="26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224528" y="1883664"/>
            <a:ext cx="1517904" cy="3364992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25696" y="2167128"/>
            <a:ext cx="111556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26D0CE"/>
                </a:solidFill>
                <a:latin typeface="Noto Sans"/>
              </a:rPr>
              <a:t>Một điểm</a:t>
            </a:r>
          </a:p>
        </p:txBody>
      </p:sp>
      <p:sp>
        <p:nvSpPr>
          <p:cNvPr id="28" name="Oval 27"/>
          <p:cNvSpPr/>
          <p:nvPr/>
        </p:nvSpPr>
        <p:spPr>
          <a:xfrm>
            <a:off x="4709160" y="2743200"/>
            <a:ext cx="548640" cy="548640"/>
          </a:xfrm>
          <a:prstGeom prst="ellipse">
            <a:avLst/>
          </a:prstGeom>
          <a:solidFill>
            <a:srgbClr val="26D0CE"/>
          </a:solidFill>
          <a:ln w="12700">
            <a:solidFill>
              <a:srgbClr val="26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0288" y="3438144"/>
            <a:ext cx="786384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F4F8FF"/>
                </a:solidFill>
                <a:latin typeface="DejaVu Sans Mono"/>
              </a:rPr>
              <a:t>(i,j)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25696" y="4096512"/>
            <a:ext cx="1115568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9DB1CA"/>
                </a:solidFill>
                <a:latin typeface="Noto Sans"/>
              </a:rPr>
              <a:t>anchor point
≠ anchor box</a:t>
            </a:r>
          </a:p>
        </p:txBody>
      </p:sp>
      <p:sp>
        <p:nvSpPr>
          <p:cNvPr id="31" name="Chevron 30"/>
          <p:cNvSpPr/>
          <p:nvPr/>
        </p:nvSpPr>
        <p:spPr>
          <a:xfrm>
            <a:off x="5961888" y="2980944"/>
            <a:ext cx="502920" cy="548640"/>
          </a:xfrm>
          <a:prstGeom prst="chevron">
            <a:avLst/>
          </a:prstGeom>
          <a:solidFill>
            <a:srgbClr val="26D0CE"/>
          </a:solidFill>
          <a:ln w="12700">
            <a:solidFill>
              <a:srgbClr val="26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675120" y="1755648"/>
            <a:ext cx="2011680" cy="3749039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967728" y="2057400"/>
            <a:ext cx="1426464" cy="329184"/>
          </a:xfrm>
          <a:prstGeom prst="roundRect">
            <a:avLst/>
          </a:prstGeom>
          <a:solidFill>
            <a:srgbClr val="FF844A"/>
          </a:solidFill>
          <a:ln w="12700">
            <a:solidFill>
              <a:srgbClr val="FF8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13448" y="2107692"/>
            <a:ext cx="1335024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F4F8FF"/>
                </a:solidFill>
                <a:latin typeface="Noto Sans"/>
              </a:rPr>
              <a:t>BOX BRANCH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76872" y="2670048"/>
            <a:ext cx="1417320" cy="16093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F4F8FF"/>
                </a:solidFill>
                <a:latin typeface="DejaVu Sans Mono"/>
              </a:rPr>
              <a:t>Conv 3×3
↓
Conv 3×3
↓
Conv 1×1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22008" y="4608576"/>
            <a:ext cx="1517904" cy="512064"/>
          </a:xfrm>
          <a:prstGeom prst="round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922008" y="4608576"/>
            <a:ext cx="45720" cy="512064"/>
          </a:xfrm>
          <a:prstGeom prst="roundRect">
            <a:avLst/>
          </a:prstGeom>
          <a:solidFill>
            <a:srgbClr val="FF844A"/>
          </a:solidFill>
          <a:ln w="12700">
            <a:solidFill>
              <a:srgbClr val="FF8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68312" y="4700016"/>
            <a:ext cx="1261872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50" b="1" i="0">
                <a:solidFill>
                  <a:srgbClr val="FF844A"/>
                </a:solidFill>
                <a:latin typeface="DejaVu Sans Mono"/>
              </a:rPr>
              <a:t>4 × 16 = 64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79408" y="1755648"/>
            <a:ext cx="2011680" cy="3749039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262872" y="2057400"/>
            <a:ext cx="1444752" cy="329184"/>
          </a:xfrm>
          <a:prstGeom prst="roundRect">
            <a:avLst/>
          </a:prstGeom>
          <a:solidFill>
            <a:srgbClr val="59DD92"/>
          </a:solidFill>
          <a:ln w="12700">
            <a:solidFill>
              <a:srgbClr val="59D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08592" y="2107692"/>
            <a:ext cx="135331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F4F8FF"/>
                </a:solidFill>
                <a:latin typeface="Noto Sans"/>
              </a:rPr>
              <a:t>CLASS BRANCH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81160" y="2670048"/>
            <a:ext cx="1417320" cy="16093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F4F8FF"/>
                </a:solidFill>
                <a:latin typeface="DejaVu Sans Mono"/>
              </a:rPr>
              <a:t>Conv 3×3
↓
Conv 3×3
↓
Conv 1×1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226296" y="4608576"/>
            <a:ext cx="1517904" cy="512064"/>
          </a:xfrm>
          <a:prstGeom prst="round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226296" y="4608576"/>
            <a:ext cx="45720" cy="512064"/>
          </a:xfrm>
          <a:prstGeom prst="roundRect">
            <a:avLst/>
          </a:prstGeom>
          <a:solidFill>
            <a:srgbClr val="59DD92"/>
          </a:solidFill>
          <a:ln w="12700">
            <a:solidFill>
              <a:srgbClr val="59D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72600" y="4700016"/>
            <a:ext cx="1261872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59DD92"/>
                </a:solidFill>
                <a:latin typeface="DejaVu Sans Mono"/>
              </a:rPr>
              <a:t>nc = 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83280" y="5788152"/>
            <a:ext cx="818387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F4F8FF"/>
                </a:solidFill>
                <a:latin typeface="Noto Sans"/>
              </a:rPr>
              <a:t>YOLOv8 detect head là anchor-free, decoupled và objectness-free.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89120" y="6153912"/>
            <a:ext cx="3931920" cy="329184"/>
          </a:xfrm>
          <a:prstGeom prst="roundRect">
            <a:avLst/>
          </a:prstGeom>
          <a:solidFill>
            <a:srgbClr val="FFBE48"/>
          </a:solidFill>
          <a:ln w="12700">
            <a:solidFill>
              <a:srgbClr val="FFB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34840" y="6204204"/>
            <a:ext cx="3840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F4F8FF"/>
                </a:solidFill>
                <a:latin typeface="Noto Sans"/>
              </a:rPr>
              <a:t>TỔNG / ĐIỂM = 64 + 7 = 71 LOGITS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881360" y="-292608"/>
            <a:ext cx="1600200" cy="896112"/>
          </a:xfrm>
          <a:prstGeom prst="roundRect">
            <a:avLst/>
          </a:prstGeom>
          <a:solidFill>
            <a:srgbClr val="26D0CE"/>
          </a:solidFill>
          <a:ln w="12700">
            <a:solidFill>
              <a:srgbClr val="26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384048" y="6345936"/>
            <a:ext cx="1920240" cy="804672"/>
          </a:xfrm>
          <a:prstGeom prst="roundRect">
            <a:avLst/>
          </a:prstGeom>
          <a:solidFill>
            <a:srgbClr val="9B7EFF"/>
          </a:solidFill>
          <a:ln w="12700">
            <a:solidFill>
              <a:srgbClr val="9B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749807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26D0CE"/>
                </a:solidFill>
                <a:latin typeface="Noto Sans"/>
              </a:rPr>
              <a:t>12 · DFL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2648"/>
            <a:ext cx="106984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F4F8FF"/>
                </a:solidFill>
                <a:latin typeface="Noto Sans"/>
              </a:rPr>
              <a:t>Mỗi cạnh box là một phân phối, không phải một số duy nhất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27664" y="356616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9DB1CA"/>
                </a:solidFill>
                <a:latin typeface="Noto Sans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10899648" cy="15240"/>
          </a:xfrm>
          <a:prstGeom prst="rect">
            <a:avLst/>
          </a:prstGeom>
          <a:solidFill>
            <a:srgbClr val="344B66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9966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9DB1CA"/>
                </a:solidFill>
                <a:latin typeface="Noto Sans"/>
              </a:rPr>
              <a:t>Nguồn: Generalized Focal Loss; Ultralytics DFL module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78440" y="6492240"/>
            <a:ext cx="1152144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1" i="0">
                <a:solidFill>
                  <a:srgbClr val="9DB1CA"/>
                </a:solidFill>
                <a:latin typeface="Noto Sans"/>
              </a:rPr>
              <a:t>PIXEL → YOLOv8  · 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1673352"/>
            <a:ext cx="495604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26D0CE"/>
                </a:solidFill>
                <a:latin typeface="Noto Sans"/>
              </a:rPr>
              <a:t>Ví dụ khoảng cách cạnh trái l ∈ {0,…,15}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" y="4261104"/>
            <a:ext cx="306323" cy="36576"/>
          </a:xfrm>
          <a:prstGeom prst="rect">
            <a:avLst/>
          </a:prstGeom>
          <a:solidFill>
            <a:srgbClr val="1B2F48"/>
          </a:solidFill>
          <a:ln w="12700">
            <a:solidFill>
              <a:srgbClr val="1B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4389120"/>
            <a:ext cx="306323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730" b="0" i="0">
                <a:solidFill>
                  <a:srgbClr val="9DB1CA"/>
                </a:solidFill>
                <a:latin typeface="DejaVu Sans Mono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4261104"/>
            <a:ext cx="306323" cy="36576"/>
          </a:xfrm>
          <a:prstGeom prst="rect">
            <a:avLst/>
          </a:prstGeom>
          <a:solidFill>
            <a:srgbClr val="1B2F48"/>
          </a:solidFill>
          <a:ln w="12700">
            <a:solidFill>
              <a:srgbClr val="1B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389120"/>
            <a:ext cx="306323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730" b="0" i="0">
                <a:solidFill>
                  <a:srgbClr val="9DB1CA"/>
                </a:solidFill>
                <a:latin typeface="DejaVu Sans Mono"/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81328" y="4233672"/>
            <a:ext cx="306323" cy="64008"/>
          </a:xfrm>
          <a:prstGeom prst="rect">
            <a:avLst/>
          </a:prstGeom>
          <a:solidFill>
            <a:srgbClr val="1B2F48"/>
          </a:solidFill>
          <a:ln w="12700">
            <a:solidFill>
              <a:srgbClr val="1B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81328" y="4389120"/>
            <a:ext cx="306323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730" b="0" i="0">
                <a:solidFill>
                  <a:srgbClr val="9DB1CA"/>
                </a:solidFill>
                <a:latin typeface="DejaVu Sans Mono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19655" y="4105656"/>
            <a:ext cx="306323" cy="192024"/>
          </a:xfrm>
          <a:prstGeom prst="rect">
            <a:avLst/>
          </a:prstGeom>
          <a:solidFill>
            <a:srgbClr val="1B2F48"/>
          </a:solidFill>
          <a:ln w="12700">
            <a:solidFill>
              <a:srgbClr val="1B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19655" y="4389120"/>
            <a:ext cx="306323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730" b="0" i="0">
                <a:solidFill>
                  <a:srgbClr val="9DB1CA"/>
                </a:solidFill>
                <a:latin typeface="DejaVu Sans Mono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57984" y="3721608"/>
            <a:ext cx="306323" cy="576072"/>
          </a:xfrm>
          <a:prstGeom prst="rect">
            <a:avLst/>
          </a:prstGeom>
          <a:solidFill>
            <a:srgbClr val="1B2F48"/>
          </a:solidFill>
          <a:ln w="12700">
            <a:solidFill>
              <a:srgbClr val="1B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57984" y="4389120"/>
            <a:ext cx="306323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730" b="0" i="0">
                <a:solidFill>
                  <a:srgbClr val="9DB1CA"/>
                </a:solidFill>
                <a:latin typeface="DejaVu Sans Mono"/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96312" y="3081528"/>
            <a:ext cx="306323" cy="1216152"/>
          </a:xfrm>
          <a:prstGeom prst="rect">
            <a:avLst/>
          </a:prstGeom>
          <a:solidFill>
            <a:srgbClr val="FF844A"/>
          </a:solidFill>
          <a:ln w="12700">
            <a:solidFill>
              <a:srgbClr val="FF8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96312" y="4389120"/>
            <a:ext cx="306323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730" b="0" i="0">
                <a:solidFill>
                  <a:srgbClr val="9DB1CA"/>
                </a:solidFill>
                <a:latin typeface="DejaVu Sans Mono"/>
              </a:rP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34639" y="2313432"/>
            <a:ext cx="306323" cy="1984248"/>
          </a:xfrm>
          <a:prstGeom prst="rect">
            <a:avLst/>
          </a:prstGeom>
          <a:solidFill>
            <a:srgbClr val="FF844A"/>
          </a:solidFill>
          <a:ln w="12700">
            <a:solidFill>
              <a:srgbClr val="FF8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34639" y="4389120"/>
            <a:ext cx="306323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730" b="0" i="0">
                <a:solidFill>
                  <a:srgbClr val="9DB1CA"/>
                </a:solidFill>
                <a:latin typeface="DejaVu Sans Mono"/>
              </a:rP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72968" y="2889504"/>
            <a:ext cx="306323" cy="1408176"/>
          </a:xfrm>
          <a:prstGeom prst="rect">
            <a:avLst/>
          </a:prstGeom>
          <a:solidFill>
            <a:srgbClr val="FF844A"/>
          </a:solidFill>
          <a:ln w="12700">
            <a:solidFill>
              <a:srgbClr val="FF8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72968" y="4389120"/>
            <a:ext cx="306323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730" b="0" i="0">
                <a:solidFill>
                  <a:srgbClr val="9DB1CA"/>
                </a:solidFill>
                <a:latin typeface="DejaVu Sans Mono"/>
              </a:rPr>
              <a:t>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11296" y="3657600"/>
            <a:ext cx="306323" cy="640080"/>
          </a:xfrm>
          <a:prstGeom prst="rect">
            <a:avLst/>
          </a:prstGeom>
          <a:solidFill>
            <a:srgbClr val="1B2F48"/>
          </a:solidFill>
          <a:ln w="12700">
            <a:solidFill>
              <a:srgbClr val="1B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11296" y="4389120"/>
            <a:ext cx="306323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730" b="0" i="0">
                <a:solidFill>
                  <a:srgbClr val="9DB1CA"/>
                </a:solidFill>
                <a:latin typeface="DejaVu Sans Mono"/>
              </a:rPr>
              <a:t>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9624" y="4041648"/>
            <a:ext cx="306323" cy="256032"/>
          </a:xfrm>
          <a:prstGeom prst="rect">
            <a:avLst/>
          </a:prstGeom>
          <a:solidFill>
            <a:srgbClr val="1B2F48"/>
          </a:solidFill>
          <a:ln w="12700">
            <a:solidFill>
              <a:srgbClr val="1B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9624" y="4389120"/>
            <a:ext cx="306323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730" b="0" i="0">
                <a:solidFill>
                  <a:srgbClr val="9DB1CA"/>
                </a:solidFill>
                <a:latin typeface="DejaVu Sans Mono"/>
              </a:rPr>
              <a:t>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87952" y="4233672"/>
            <a:ext cx="306323" cy="64008"/>
          </a:xfrm>
          <a:prstGeom prst="rect">
            <a:avLst/>
          </a:prstGeom>
          <a:solidFill>
            <a:srgbClr val="1B2F48"/>
          </a:solidFill>
          <a:ln w="12700">
            <a:solidFill>
              <a:srgbClr val="1B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87952" y="4389120"/>
            <a:ext cx="306323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730" b="0" i="0">
                <a:solidFill>
                  <a:srgbClr val="9DB1CA"/>
                </a:solidFill>
                <a:latin typeface="DejaVu Sans Mono"/>
              </a:rPr>
              <a:t>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26280" y="4261104"/>
            <a:ext cx="306323" cy="36576"/>
          </a:xfrm>
          <a:prstGeom prst="rect">
            <a:avLst/>
          </a:prstGeom>
          <a:solidFill>
            <a:srgbClr val="1B2F48"/>
          </a:solidFill>
          <a:ln w="12700">
            <a:solidFill>
              <a:srgbClr val="1B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26280" y="4389120"/>
            <a:ext cx="306323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730" b="0" i="0">
                <a:solidFill>
                  <a:srgbClr val="9DB1CA"/>
                </a:solidFill>
                <a:latin typeface="DejaVu Sans Mono"/>
              </a:rPr>
              <a:t>11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64607" y="4261104"/>
            <a:ext cx="306323" cy="36576"/>
          </a:xfrm>
          <a:prstGeom prst="rect">
            <a:avLst/>
          </a:prstGeom>
          <a:solidFill>
            <a:srgbClr val="1B2F48"/>
          </a:solidFill>
          <a:ln w="12700">
            <a:solidFill>
              <a:srgbClr val="1B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64607" y="4389120"/>
            <a:ext cx="306323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730" b="0" i="0">
                <a:solidFill>
                  <a:srgbClr val="9DB1CA"/>
                </a:solidFill>
                <a:latin typeface="DejaVu Sans Mono"/>
              </a:rPr>
              <a:t>12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02936" y="4261104"/>
            <a:ext cx="306323" cy="36576"/>
          </a:xfrm>
          <a:prstGeom prst="rect">
            <a:avLst/>
          </a:prstGeom>
          <a:solidFill>
            <a:srgbClr val="1B2F48"/>
          </a:solidFill>
          <a:ln w="12700">
            <a:solidFill>
              <a:srgbClr val="1B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02936" y="4389120"/>
            <a:ext cx="306323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730" b="0" i="0">
                <a:solidFill>
                  <a:srgbClr val="9DB1CA"/>
                </a:solidFill>
                <a:latin typeface="DejaVu Sans Mono"/>
              </a:rPr>
              <a:t>13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541264" y="4261104"/>
            <a:ext cx="306323" cy="36576"/>
          </a:xfrm>
          <a:prstGeom prst="rect">
            <a:avLst/>
          </a:prstGeom>
          <a:solidFill>
            <a:srgbClr val="1B2F48"/>
          </a:solidFill>
          <a:ln w="12700">
            <a:solidFill>
              <a:srgbClr val="1B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541264" y="4389120"/>
            <a:ext cx="306323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730" b="0" i="0">
                <a:solidFill>
                  <a:srgbClr val="9DB1CA"/>
                </a:solidFill>
                <a:latin typeface="DejaVu Sans Mono"/>
              </a:rPr>
              <a:t>14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79592" y="4261104"/>
            <a:ext cx="306323" cy="36576"/>
          </a:xfrm>
          <a:prstGeom prst="rect">
            <a:avLst/>
          </a:prstGeom>
          <a:solidFill>
            <a:srgbClr val="1B2F48"/>
          </a:solidFill>
          <a:ln w="12700">
            <a:solidFill>
              <a:srgbClr val="1B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79592" y="4389120"/>
            <a:ext cx="306323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730" b="0" i="0">
                <a:solidFill>
                  <a:srgbClr val="9DB1CA"/>
                </a:solidFill>
                <a:latin typeface="DejaVu Sans Mono"/>
              </a:rPr>
              <a:t>15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4672" y="4297680"/>
            <a:ext cx="5413248" cy="12700"/>
          </a:xfrm>
          <a:prstGeom prst="rect">
            <a:avLst/>
          </a:prstGeom>
          <a:solidFill>
            <a:srgbClr val="344B66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487168" y="4828032"/>
            <a:ext cx="195681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 i="0">
                <a:solidFill>
                  <a:srgbClr val="9DB1CA"/>
                </a:solidFill>
                <a:latin typeface="DejaVu Sans Mono"/>
              </a:rPr>
              <a:t>softmax(logits)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481328" y="5266944"/>
            <a:ext cx="4023360" cy="566928"/>
          </a:xfrm>
          <a:prstGeom prst="round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481328" y="5266944"/>
            <a:ext cx="45720" cy="566928"/>
          </a:xfrm>
          <a:prstGeom prst="roundRect">
            <a:avLst/>
          </a:prstGeom>
          <a:solidFill>
            <a:srgbClr val="FF844A"/>
          </a:solidFill>
          <a:ln w="12700">
            <a:solidFill>
              <a:srgbClr val="FF8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27632" y="5358383"/>
            <a:ext cx="3767328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 i="0">
                <a:solidFill>
                  <a:srgbClr val="F4F8FF"/>
                </a:solidFill>
                <a:latin typeface="DejaVu Sans Mono"/>
              </a:rPr>
              <a:t>E[l] = Σᵢ i·pᵢ ≈ 6.24 ô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638544" y="1719072"/>
            <a:ext cx="4736592" cy="4005072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67728" y="1993392"/>
            <a:ext cx="4078224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BE48"/>
                </a:solidFill>
                <a:latin typeface="Noto Sans"/>
              </a:rPr>
              <a:t>4 CẠNH × 16 BINS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040880" y="2578608"/>
            <a:ext cx="438912" cy="329184"/>
          </a:xfrm>
          <a:prstGeom prst="roundRect">
            <a:avLst/>
          </a:prstGeom>
          <a:solidFill>
            <a:srgbClr val="FF844A"/>
          </a:solidFill>
          <a:ln w="12700">
            <a:solidFill>
              <a:srgbClr val="FF8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086600" y="2628900"/>
            <a:ext cx="34747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4F8FF"/>
                </a:solidFill>
                <a:latin typeface="Noto Sans"/>
              </a:rPr>
              <a:t>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662672" y="2615184"/>
            <a:ext cx="164592" cy="256032"/>
          </a:xfrm>
          <a:prstGeom prst="rect">
            <a:avLst/>
          </a:prstGeom>
          <a:solidFill>
            <a:srgbClr val="5E301B"/>
          </a:solidFill>
          <a:ln w="12700">
            <a:solidFill>
              <a:srgbClr val="5E30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863840" y="2615184"/>
            <a:ext cx="164592" cy="256032"/>
          </a:xfrm>
          <a:prstGeom prst="rect">
            <a:avLst/>
          </a:prstGeom>
          <a:solidFill>
            <a:srgbClr val="824325"/>
          </a:solidFill>
          <a:ln w="12700">
            <a:solidFill>
              <a:srgbClr val="824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065008" y="2615184"/>
            <a:ext cx="164592" cy="256032"/>
          </a:xfrm>
          <a:prstGeom prst="rect">
            <a:avLst/>
          </a:prstGeom>
          <a:solidFill>
            <a:srgbClr val="BC6136"/>
          </a:solidFill>
          <a:ln w="12700">
            <a:solidFill>
              <a:srgbClr val="BC61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266176" y="2615184"/>
            <a:ext cx="164592" cy="256032"/>
          </a:xfrm>
          <a:prstGeom prst="rect">
            <a:avLst/>
          </a:prstGeom>
          <a:solidFill>
            <a:srgbClr val="FD8349"/>
          </a:solidFill>
          <a:ln w="12700">
            <a:solidFill>
              <a:srgbClr val="FD8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467344" y="2615184"/>
            <a:ext cx="164592" cy="256032"/>
          </a:xfrm>
          <a:prstGeom prst="rect">
            <a:avLst/>
          </a:prstGeom>
          <a:solidFill>
            <a:srgbClr val="FFA059"/>
          </a:solidFill>
          <a:ln w="12700">
            <a:solidFill>
              <a:srgbClr val="FF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668512" y="2615184"/>
            <a:ext cx="164592" cy="256032"/>
          </a:xfrm>
          <a:prstGeom prst="rect">
            <a:avLst/>
          </a:prstGeom>
          <a:solidFill>
            <a:srgbClr val="FFAB60"/>
          </a:solidFill>
          <a:ln w="12700">
            <a:solidFill>
              <a:srgbClr val="FFA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869680" y="2615184"/>
            <a:ext cx="164592" cy="256032"/>
          </a:xfrm>
          <a:prstGeom prst="rect">
            <a:avLst/>
          </a:prstGeom>
          <a:solidFill>
            <a:srgbClr val="FFA059"/>
          </a:solidFill>
          <a:ln w="12700">
            <a:solidFill>
              <a:srgbClr val="FF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070848" y="2615184"/>
            <a:ext cx="164592" cy="256032"/>
          </a:xfrm>
          <a:prstGeom prst="rect">
            <a:avLst/>
          </a:prstGeom>
          <a:solidFill>
            <a:srgbClr val="FD8349"/>
          </a:solidFill>
          <a:ln w="12700">
            <a:solidFill>
              <a:srgbClr val="FD8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272016" y="2615184"/>
            <a:ext cx="164592" cy="256032"/>
          </a:xfrm>
          <a:prstGeom prst="rect">
            <a:avLst/>
          </a:prstGeom>
          <a:solidFill>
            <a:srgbClr val="BC6136"/>
          </a:solidFill>
          <a:ln w="12700">
            <a:solidFill>
              <a:srgbClr val="BC61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473184" y="2615184"/>
            <a:ext cx="164592" cy="256032"/>
          </a:xfrm>
          <a:prstGeom prst="rect">
            <a:avLst/>
          </a:prstGeom>
          <a:solidFill>
            <a:srgbClr val="824325"/>
          </a:solidFill>
          <a:ln w="12700">
            <a:solidFill>
              <a:srgbClr val="824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674352" y="2615184"/>
            <a:ext cx="164592" cy="256032"/>
          </a:xfrm>
          <a:prstGeom prst="rect">
            <a:avLst/>
          </a:prstGeom>
          <a:solidFill>
            <a:srgbClr val="5E301B"/>
          </a:solidFill>
          <a:ln w="12700">
            <a:solidFill>
              <a:srgbClr val="5E30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875520" y="2615184"/>
            <a:ext cx="164592" cy="256032"/>
          </a:xfrm>
          <a:prstGeom prst="rect">
            <a:avLst/>
          </a:prstGeom>
          <a:solidFill>
            <a:srgbClr val="492515"/>
          </a:solidFill>
          <a:ln w="12700">
            <a:solidFill>
              <a:srgbClr val="492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076688" y="2615184"/>
            <a:ext cx="164592" cy="256032"/>
          </a:xfrm>
          <a:prstGeom prst="rect">
            <a:avLst/>
          </a:prstGeom>
          <a:solidFill>
            <a:srgbClr val="3F2112"/>
          </a:solidFill>
          <a:ln w="12700">
            <a:solidFill>
              <a:srgbClr val="3F21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277856" y="2615184"/>
            <a:ext cx="164592" cy="256032"/>
          </a:xfrm>
          <a:prstGeom prst="rect">
            <a:avLst/>
          </a:prstGeom>
          <a:solidFill>
            <a:srgbClr val="3C1F11"/>
          </a:solidFill>
          <a:ln w="12700">
            <a:solidFill>
              <a:srgbClr val="3C1F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479024" y="2615184"/>
            <a:ext cx="164592" cy="256032"/>
          </a:xfrm>
          <a:prstGeom prst="rect">
            <a:avLst/>
          </a:prstGeom>
          <a:solidFill>
            <a:srgbClr val="3C1F11"/>
          </a:solidFill>
          <a:ln w="12700">
            <a:solidFill>
              <a:srgbClr val="3C1F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680192" y="2615184"/>
            <a:ext cx="164592" cy="256032"/>
          </a:xfrm>
          <a:prstGeom prst="rect">
            <a:avLst/>
          </a:prstGeom>
          <a:solidFill>
            <a:srgbClr val="3C1F11"/>
          </a:solidFill>
          <a:ln w="12700">
            <a:solidFill>
              <a:srgbClr val="3C1F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7040880" y="3255263"/>
            <a:ext cx="438912" cy="329184"/>
          </a:xfrm>
          <a:prstGeom prst="roundRect">
            <a:avLst/>
          </a:prstGeom>
          <a:solidFill>
            <a:srgbClr val="FFBE48"/>
          </a:solidFill>
          <a:ln w="12700">
            <a:solidFill>
              <a:srgbClr val="FFB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086600" y="3305556"/>
            <a:ext cx="34747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4F8FF"/>
                </a:solidFill>
                <a:latin typeface="Noto Sans"/>
              </a:rPr>
              <a:t>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662672" y="3291839"/>
            <a:ext cx="164592" cy="256032"/>
          </a:xfrm>
          <a:prstGeom prst="rect">
            <a:avLst/>
          </a:prstGeom>
          <a:solidFill>
            <a:srgbClr val="5E461A"/>
          </a:solidFill>
          <a:ln w="12700">
            <a:solidFill>
              <a:srgbClr val="5E46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863840" y="3291839"/>
            <a:ext cx="164592" cy="256032"/>
          </a:xfrm>
          <a:prstGeom prst="rect">
            <a:avLst/>
          </a:prstGeom>
          <a:solidFill>
            <a:srgbClr val="826124"/>
          </a:solidFill>
          <a:ln w="12700">
            <a:solidFill>
              <a:srgbClr val="826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065008" y="3291839"/>
            <a:ext cx="164592" cy="256032"/>
          </a:xfrm>
          <a:prstGeom prst="rect">
            <a:avLst/>
          </a:prstGeom>
          <a:solidFill>
            <a:srgbClr val="BC8C35"/>
          </a:solidFill>
          <a:ln w="12700">
            <a:solidFill>
              <a:srgbClr val="BC8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266176" y="3291839"/>
            <a:ext cx="164592" cy="256032"/>
          </a:xfrm>
          <a:prstGeom prst="rect">
            <a:avLst/>
          </a:prstGeom>
          <a:solidFill>
            <a:srgbClr val="FDBC47"/>
          </a:solidFill>
          <a:ln w="12700">
            <a:solidFill>
              <a:srgbClr val="FDBC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467344" y="3291839"/>
            <a:ext cx="164592" cy="256032"/>
          </a:xfrm>
          <a:prstGeom prst="rect">
            <a:avLst/>
          </a:prstGeom>
          <a:solidFill>
            <a:srgbClr val="FFE657"/>
          </a:solidFill>
          <a:ln w="12700">
            <a:solidFill>
              <a:srgbClr val="FFE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668512" y="3291839"/>
            <a:ext cx="164592" cy="256032"/>
          </a:xfrm>
          <a:prstGeom prst="rect">
            <a:avLst/>
          </a:prstGeom>
          <a:solidFill>
            <a:srgbClr val="FFF75D"/>
          </a:solidFill>
          <a:ln w="12700">
            <a:solidFill>
              <a:srgbClr val="FFF7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869680" y="3291839"/>
            <a:ext cx="164592" cy="256032"/>
          </a:xfrm>
          <a:prstGeom prst="rect">
            <a:avLst/>
          </a:prstGeom>
          <a:solidFill>
            <a:srgbClr val="FFE657"/>
          </a:solidFill>
          <a:ln w="12700">
            <a:solidFill>
              <a:srgbClr val="FFE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070848" y="3291839"/>
            <a:ext cx="164592" cy="256032"/>
          </a:xfrm>
          <a:prstGeom prst="rect">
            <a:avLst/>
          </a:prstGeom>
          <a:solidFill>
            <a:srgbClr val="FDBC47"/>
          </a:solidFill>
          <a:ln w="12700">
            <a:solidFill>
              <a:srgbClr val="FDBC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272016" y="3291839"/>
            <a:ext cx="164592" cy="256032"/>
          </a:xfrm>
          <a:prstGeom prst="rect">
            <a:avLst/>
          </a:prstGeom>
          <a:solidFill>
            <a:srgbClr val="BC8C35"/>
          </a:solidFill>
          <a:ln w="12700">
            <a:solidFill>
              <a:srgbClr val="BC8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473184" y="3291839"/>
            <a:ext cx="164592" cy="256032"/>
          </a:xfrm>
          <a:prstGeom prst="rect">
            <a:avLst/>
          </a:prstGeom>
          <a:solidFill>
            <a:srgbClr val="826124"/>
          </a:solidFill>
          <a:ln w="12700">
            <a:solidFill>
              <a:srgbClr val="826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674352" y="3291839"/>
            <a:ext cx="164592" cy="256032"/>
          </a:xfrm>
          <a:prstGeom prst="rect">
            <a:avLst/>
          </a:prstGeom>
          <a:solidFill>
            <a:srgbClr val="5E461A"/>
          </a:solidFill>
          <a:ln w="12700">
            <a:solidFill>
              <a:srgbClr val="5E46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875520" y="3291839"/>
            <a:ext cx="164592" cy="256032"/>
          </a:xfrm>
          <a:prstGeom prst="rect">
            <a:avLst/>
          </a:prstGeom>
          <a:solidFill>
            <a:srgbClr val="493614"/>
          </a:solidFill>
          <a:ln w="12700">
            <a:solidFill>
              <a:srgbClr val="493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076688" y="3291839"/>
            <a:ext cx="164592" cy="256032"/>
          </a:xfrm>
          <a:prstGeom prst="rect">
            <a:avLst/>
          </a:prstGeom>
          <a:solidFill>
            <a:srgbClr val="3F2F12"/>
          </a:solidFill>
          <a:ln w="12700">
            <a:solidFill>
              <a:srgbClr val="3F2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0277856" y="3291839"/>
            <a:ext cx="164592" cy="256032"/>
          </a:xfrm>
          <a:prstGeom prst="rect">
            <a:avLst/>
          </a:prstGeom>
          <a:solidFill>
            <a:srgbClr val="3C2D11"/>
          </a:solidFill>
          <a:ln w="12700">
            <a:solidFill>
              <a:srgbClr val="3C2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479024" y="3291839"/>
            <a:ext cx="164592" cy="256032"/>
          </a:xfrm>
          <a:prstGeom prst="rect">
            <a:avLst/>
          </a:prstGeom>
          <a:solidFill>
            <a:srgbClr val="3C2D11"/>
          </a:solidFill>
          <a:ln w="12700">
            <a:solidFill>
              <a:srgbClr val="3C2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680192" y="3291839"/>
            <a:ext cx="164592" cy="256032"/>
          </a:xfrm>
          <a:prstGeom prst="rect">
            <a:avLst/>
          </a:prstGeom>
          <a:solidFill>
            <a:srgbClr val="3C2D11"/>
          </a:solidFill>
          <a:ln w="12700">
            <a:solidFill>
              <a:srgbClr val="3C2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7040880" y="3931920"/>
            <a:ext cx="438912" cy="329184"/>
          </a:xfrm>
          <a:prstGeom prst="roundRect">
            <a:avLst/>
          </a:prstGeom>
          <a:solidFill>
            <a:srgbClr val="59DD92"/>
          </a:solidFill>
          <a:ln w="12700">
            <a:solidFill>
              <a:srgbClr val="59D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086600" y="3982211"/>
            <a:ext cx="34747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4F8FF"/>
                </a:solidFill>
                <a:latin typeface="Noto Sans"/>
              </a:rPr>
              <a:t>r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662672" y="3968496"/>
            <a:ext cx="164592" cy="256032"/>
          </a:xfrm>
          <a:prstGeom prst="rect">
            <a:avLst/>
          </a:prstGeom>
          <a:solidFill>
            <a:srgbClr val="205135"/>
          </a:solidFill>
          <a:ln w="12700">
            <a:solidFill>
              <a:srgbClr val="205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863840" y="3968496"/>
            <a:ext cx="164592" cy="256032"/>
          </a:xfrm>
          <a:prstGeom prst="rect">
            <a:avLst/>
          </a:prstGeom>
          <a:solidFill>
            <a:srgbClr val="2D714A"/>
          </a:solidFill>
          <a:ln w="12700">
            <a:solidFill>
              <a:srgbClr val="2D7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065008" y="3968496"/>
            <a:ext cx="164592" cy="256032"/>
          </a:xfrm>
          <a:prstGeom prst="rect">
            <a:avLst/>
          </a:prstGeom>
          <a:solidFill>
            <a:srgbClr val="41A26B"/>
          </a:solidFill>
          <a:ln w="12700">
            <a:solidFill>
              <a:srgbClr val="41A2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66176" y="3968496"/>
            <a:ext cx="164592" cy="256032"/>
          </a:xfrm>
          <a:prstGeom prst="rect">
            <a:avLst/>
          </a:prstGeom>
          <a:solidFill>
            <a:srgbClr val="58DB91"/>
          </a:solidFill>
          <a:ln w="12700">
            <a:solidFill>
              <a:srgbClr val="58D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467344" y="3968496"/>
            <a:ext cx="164592" cy="256032"/>
          </a:xfrm>
          <a:prstGeom prst="rect">
            <a:avLst/>
          </a:prstGeom>
          <a:solidFill>
            <a:srgbClr val="6BFFB1"/>
          </a:solidFill>
          <a:ln w="12700">
            <a:solidFill>
              <a:srgbClr val="6BFF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668512" y="3968496"/>
            <a:ext cx="164592" cy="256032"/>
          </a:xfrm>
          <a:prstGeom prst="rect">
            <a:avLst/>
          </a:prstGeom>
          <a:solidFill>
            <a:srgbClr val="73FFBD"/>
          </a:solidFill>
          <a:ln w="12700">
            <a:solidFill>
              <a:srgbClr val="73FF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869680" y="3968496"/>
            <a:ext cx="164592" cy="256032"/>
          </a:xfrm>
          <a:prstGeom prst="rect">
            <a:avLst/>
          </a:prstGeom>
          <a:solidFill>
            <a:srgbClr val="6BFFB1"/>
          </a:solidFill>
          <a:ln w="12700">
            <a:solidFill>
              <a:srgbClr val="6BFF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9070848" y="3968496"/>
            <a:ext cx="164592" cy="256032"/>
          </a:xfrm>
          <a:prstGeom prst="rect">
            <a:avLst/>
          </a:prstGeom>
          <a:solidFill>
            <a:srgbClr val="58DB91"/>
          </a:solidFill>
          <a:ln w="12700">
            <a:solidFill>
              <a:srgbClr val="58D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9272016" y="3968496"/>
            <a:ext cx="164592" cy="256032"/>
          </a:xfrm>
          <a:prstGeom prst="rect">
            <a:avLst/>
          </a:prstGeom>
          <a:solidFill>
            <a:srgbClr val="41A26B"/>
          </a:solidFill>
          <a:ln w="12700">
            <a:solidFill>
              <a:srgbClr val="41A2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9473184" y="3968496"/>
            <a:ext cx="164592" cy="256032"/>
          </a:xfrm>
          <a:prstGeom prst="rect">
            <a:avLst/>
          </a:prstGeom>
          <a:solidFill>
            <a:srgbClr val="2D714A"/>
          </a:solidFill>
          <a:ln w="12700">
            <a:solidFill>
              <a:srgbClr val="2D7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9674352" y="3968496"/>
            <a:ext cx="164592" cy="256032"/>
          </a:xfrm>
          <a:prstGeom prst="rect">
            <a:avLst/>
          </a:prstGeom>
          <a:solidFill>
            <a:srgbClr val="205135"/>
          </a:solidFill>
          <a:ln w="12700">
            <a:solidFill>
              <a:srgbClr val="205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875520" y="3968496"/>
            <a:ext cx="164592" cy="256032"/>
          </a:xfrm>
          <a:prstGeom prst="rect">
            <a:avLst/>
          </a:prstGeom>
          <a:solidFill>
            <a:srgbClr val="193F29"/>
          </a:solidFill>
          <a:ln w="12700">
            <a:solidFill>
              <a:srgbClr val="193F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076688" y="3968496"/>
            <a:ext cx="164592" cy="256032"/>
          </a:xfrm>
          <a:prstGeom prst="rect">
            <a:avLst/>
          </a:prstGeom>
          <a:solidFill>
            <a:srgbClr val="163724"/>
          </a:solidFill>
          <a:ln w="12700">
            <a:solidFill>
              <a:srgbClr val="1637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0277856" y="3968496"/>
            <a:ext cx="164592" cy="256032"/>
          </a:xfrm>
          <a:prstGeom prst="rect">
            <a:avLst/>
          </a:prstGeom>
          <a:solidFill>
            <a:srgbClr val="153422"/>
          </a:solidFill>
          <a:ln w="12700">
            <a:solidFill>
              <a:srgbClr val="153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479024" y="3968496"/>
            <a:ext cx="164592" cy="256032"/>
          </a:xfrm>
          <a:prstGeom prst="rect">
            <a:avLst/>
          </a:prstGeom>
          <a:solidFill>
            <a:srgbClr val="153422"/>
          </a:solidFill>
          <a:ln w="12700">
            <a:solidFill>
              <a:srgbClr val="153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0680192" y="3968496"/>
            <a:ext cx="164592" cy="256032"/>
          </a:xfrm>
          <a:prstGeom prst="rect">
            <a:avLst/>
          </a:prstGeom>
          <a:solidFill>
            <a:srgbClr val="153422"/>
          </a:solidFill>
          <a:ln w="12700">
            <a:solidFill>
              <a:srgbClr val="153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7040880" y="4608576"/>
            <a:ext cx="438912" cy="329184"/>
          </a:xfrm>
          <a:prstGeom prst="roundRect">
            <a:avLst/>
          </a:prstGeom>
          <a:solidFill>
            <a:srgbClr val="26D0CE"/>
          </a:solidFill>
          <a:ln w="12700">
            <a:solidFill>
              <a:srgbClr val="26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086600" y="4658868"/>
            <a:ext cx="34747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4F8FF"/>
                </a:solidFill>
                <a:latin typeface="Noto Sans"/>
              </a:rPr>
              <a:t>b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662672" y="4645152"/>
            <a:ext cx="164592" cy="256032"/>
          </a:xfrm>
          <a:prstGeom prst="rect">
            <a:avLst/>
          </a:prstGeom>
          <a:solidFill>
            <a:srgbClr val="0E4C4B"/>
          </a:solidFill>
          <a:ln w="12700">
            <a:solidFill>
              <a:srgbClr val="0E4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7863840" y="4645152"/>
            <a:ext cx="164592" cy="256032"/>
          </a:xfrm>
          <a:prstGeom prst="rect">
            <a:avLst/>
          </a:prstGeom>
          <a:solidFill>
            <a:srgbClr val="136A69"/>
          </a:solidFill>
          <a:ln w="12700">
            <a:solidFill>
              <a:srgbClr val="136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8065008" y="4645152"/>
            <a:ext cx="164592" cy="256032"/>
          </a:xfrm>
          <a:prstGeom prst="rect">
            <a:avLst/>
          </a:prstGeom>
          <a:solidFill>
            <a:srgbClr val="1C9997"/>
          </a:solidFill>
          <a:ln w="12700">
            <a:solidFill>
              <a:srgbClr val="1C9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8266176" y="4645152"/>
            <a:ext cx="164592" cy="256032"/>
          </a:xfrm>
          <a:prstGeom prst="rect">
            <a:avLst/>
          </a:prstGeom>
          <a:solidFill>
            <a:srgbClr val="25CECC"/>
          </a:solidFill>
          <a:ln w="12700">
            <a:solidFill>
              <a:srgbClr val="25C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8467344" y="4645152"/>
            <a:ext cx="164592" cy="256032"/>
          </a:xfrm>
          <a:prstGeom prst="rect">
            <a:avLst/>
          </a:prstGeom>
          <a:solidFill>
            <a:srgbClr val="2EFCF9"/>
          </a:solidFill>
          <a:ln w="12700">
            <a:solidFill>
              <a:srgbClr val="2EF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8668512" y="4645152"/>
            <a:ext cx="164592" cy="256032"/>
          </a:xfrm>
          <a:prstGeom prst="rect">
            <a:avLst/>
          </a:prstGeom>
          <a:solidFill>
            <a:srgbClr val="31FFFF"/>
          </a:solidFill>
          <a:ln w="12700">
            <a:solidFill>
              <a:srgbClr val="31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8869680" y="4645152"/>
            <a:ext cx="164592" cy="256032"/>
          </a:xfrm>
          <a:prstGeom prst="rect">
            <a:avLst/>
          </a:prstGeom>
          <a:solidFill>
            <a:srgbClr val="2EFCF9"/>
          </a:solidFill>
          <a:ln w="12700">
            <a:solidFill>
              <a:srgbClr val="2EF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070848" y="4645152"/>
            <a:ext cx="164592" cy="256032"/>
          </a:xfrm>
          <a:prstGeom prst="rect">
            <a:avLst/>
          </a:prstGeom>
          <a:solidFill>
            <a:srgbClr val="25CECC"/>
          </a:solidFill>
          <a:ln w="12700">
            <a:solidFill>
              <a:srgbClr val="25C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272016" y="4645152"/>
            <a:ext cx="164592" cy="256032"/>
          </a:xfrm>
          <a:prstGeom prst="rect">
            <a:avLst/>
          </a:prstGeom>
          <a:solidFill>
            <a:srgbClr val="1C9997"/>
          </a:solidFill>
          <a:ln w="12700">
            <a:solidFill>
              <a:srgbClr val="1C9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473184" y="4645152"/>
            <a:ext cx="164592" cy="256032"/>
          </a:xfrm>
          <a:prstGeom prst="rect">
            <a:avLst/>
          </a:prstGeom>
          <a:solidFill>
            <a:srgbClr val="136A69"/>
          </a:solidFill>
          <a:ln w="12700">
            <a:solidFill>
              <a:srgbClr val="136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674352" y="4645152"/>
            <a:ext cx="164592" cy="256032"/>
          </a:xfrm>
          <a:prstGeom prst="rect">
            <a:avLst/>
          </a:prstGeom>
          <a:solidFill>
            <a:srgbClr val="0E4C4B"/>
          </a:solidFill>
          <a:ln w="12700">
            <a:solidFill>
              <a:srgbClr val="0E4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75520" y="4645152"/>
            <a:ext cx="164592" cy="256032"/>
          </a:xfrm>
          <a:prstGeom prst="rect">
            <a:avLst/>
          </a:prstGeom>
          <a:solidFill>
            <a:srgbClr val="0A3B3B"/>
          </a:solidFill>
          <a:ln w="12700">
            <a:solidFill>
              <a:srgbClr val="0A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0076688" y="4645152"/>
            <a:ext cx="164592" cy="256032"/>
          </a:xfrm>
          <a:prstGeom prst="rect">
            <a:avLst/>
          </a:prstGeom>
          <a:solidFill>
            <a:srgbClr val="093433"/>
          </a:solidFill>
          <a:ln w="12700">
            <a:solidFill>
              <a:srgbClr val="093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0277856" y="4645152"/>
            <a:ext cx="164592" cy="256032"/>
          </a:xfrm>
          <a:prstGeom prst="rect">
            <a:avLst/>
          </a:prstGeom>
          <a:solidFill>
            <a:srgbClr val="093130"/>
          </a:solidFill>
          <a:ln w="12700">
            <a:solidFill>
              <a:srgbClr val="093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0479024" y="4645152"/>
            <a:ext cx="164592" cy="256032"/>
          </a:xfrm>
          <a:prstGeom prst="rect">
            <a:avLst/>
          </a:prstGeom>
          <a:solidFill>
            <a:srgbClr val="093130"/>
          </a:solidFill>
          <a:ln w="12700">
            <a:solidFill>
              <a:srgbClr val="093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10680192" y="4645152"/>
            <a:ext cx="164592" cy="256032"/>
          </a:xfrm>
          <a:prstGeom prst="rect">
            <a:avLst/>
          </a:prstGeom>
          <a:solidFill>
            <a:srgbClr val="093130"/>
          </a:solidFill>
          <a:ln w="12700">
            <a:solidFill>
              <a:srgbClr val="093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7022592" y="5321808"/>
            <a:ext cx="39319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1" i="0">
                <a:solidFill>
                  <a:srgbClr val="59DD92"/>
                </a:solidFill>
                <a:latin typeface="Noto Sans"/>
              </a:rPr>
              <a:t>Softmax → kỳ vọng → 4 khoảng cách liên tục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60120" y="5925312"/>
            <a:ext cx="10241280" cy="40233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250" b="0">
                <a:solidFill>
                  <a:srgbClr val="9DB1CA"/>
                </a:solidFill>
                <a:latin typeface="Noto Sans"/>
              </a:rPr>
              <a:t>Lợi ích trực giác: </a:t>
            </a:r>
            <a:r>
              <a:rPr sz="1250" b="1">
                <a:solidFill>
                  <a:srgbClr val="26D0CE"/>
                </a:solidFill>
                <a:latin typeface="Noto Sans"/>
              </a:rPr>
              <a:t>biểu diễn được sự không chắc chắn giữa hai giá trị lân cận</a:t>
            </a:r>
            <a:r>
              <a:rPr sz="1250" b="0">
                <a:solidFill>
                  <a:srgbClr val="9DB1CA"/>
                </a:solidFill>
                <a:latin typeface="Noto Sans"/>
              </a:rPr>
              <a:t> và cho tín hiệu học mịn hơn.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881360" y="-292608"/>
            <a:ext cx="1600200" cy="896112"/>
          </a:xfrm>
          <a:prstGeom prst="roundRect">
            <a:avLst/>
          </a:prstGeom>
          <a:solidFill>
            <a:srgbClr val="26D0CE"/>
          </a:solidFill>
          <a:ln w="12700">
            <a:solidFill>
              <a:srgbClr val="26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384048" y="6345936"/>
            <a:ext cx="1920240" cy="804672"/>
          </a:xfrm>
          <a:prstGeom prst="roundRect">
            <a:avLst/>
          </a:prstGeom>
          <a:solidFill>
            <a:srgbClr val="9B7EFF"/>
          </a:solidFill>
          <a:ln w="12700">
            <a:solidFill>
              <a:srgbClr val="9B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749807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26D0CE"/>
                </a:solidFill>
                <a:latin typeface="Noto Sans"/>
              </a:rPr>
              <a:t>13 · GIẢI MÃ 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2648"/>
            <a:ext cx="106984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F4F8FF"/>
                </a:solidFill>
                <a:latin typeface="Noto Sans"/>
              </a:rPr>
              <a:t>Từ điểm trên feature map về tọa độ pixel ảnh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27664" y="356616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9DB1CA"/>
                </a:solidFill>
                <a:latin typeface="Noto Sans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10899648" cy="15240"/>
          </a:xfrm>
          <a:prstGeom prst="rect">
            <a:avLst/>
          </a:prstGeom>
          <a:solidFill>
            <a:srgbClr val="344B66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9966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9DB1CA"/>
                </a:solidFill>
                <a:latin typeface="Noto Sans"/>
              </a:rPr>
              <a:t>Nguồn: make_anchors(), dist2bbox(), Detect._inference()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78440" y="6492240"/>
            <a:ext cx="1152144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1" i="0">
                <a:solidFill>
                  <a:srgbClr val="9DB1CA"/>
                </a:solidFill>
                <a:latin typeface="Noto Sans"/>
              </a:rPr>
              <a:t>PIXEL → YOLOv8  · 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" y="1737360"/>
            <a:ext cx="502919" cy="502919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89304" y="1737360"/>
            <a:ext cx="502919" cy="502919"/>
          </a:xfrm>
          <a:prstGeom prst="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10512" y="1737360"/>
            <a:ext cx="502919" cy="502919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31720" y="1737360"/>
            <a:ext cx="502919" cy="502919"/>
          </a:xfrm>
          <a:prstGeom prst="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52927" y="1737360"/>
            <a:ext cx="502919" cy="502919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74135" y="1737360"/>
            <a:ext cx="502919" cy="502919"/>
          </a:xfrm>
          <a:prstGeom prst="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95344" y="1737360"/>
            <a:ext cx="502919" cy="502919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16552" y="1737360"/>
            <a:ext cx="502919" cy="502919"/>
          </a:xfrm>
          <a:prstGeom prst="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2258568"/>
            <a:ext cx="502919" cy="502919"/>
          </a:xfrm>
          <a:prstGeom prst="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89304" y="2258568"/>
            <a:ext cx="502919" cy="502919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10512" y="2258568"/>
            <a:ext cx="502919" cy="502919"/>
          </a:xfrm>
          <a:prstGeom prst="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31720" y="2258568"/>
            <a:ext cx="502919" cy="502919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52927" y="2258568"/>
            <a:ext cx="502919" cy="502919"/>
          </a:xfrm>
          <a:prstGeom prst="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74135" y="2258568"/>
            <a:ext cx="502919" cy="502919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895344" y="2258568"/>
            <a:ext cx="502919" cy="502919"/>
          </a:xfrm>
          <a:prstGeom prst="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16552" y="2258568"/>
            <a:ext cx="502919" cy="502919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8096" y="2779776"/>
            <a:ext cx="502919" cy="502919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289304" y="2779776"/>
            <a:ext cx="502919" cy="502919"/>
          </a:xfrm>
          <a:prstGeom prst="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810512" y="2779776"/>
            <a:ext cx="502919" cy="502919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331720" y="2779776"/>
            <a:ext cx="502919" cy="502919"/>
          </a:xfrm>
          <a:prstGeom prst="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52927" y="2779776"/>
            <a:ext cx="502919" cy="502919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74135" y="2779776"/>
            <a:ext cx="502919" cy="502919"/>
          </a:xfrm>
          <a:prstGeom prst="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95344" y="2779776"/>
            <a:ext cx="502919" cy="502919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416552" y="2779776"/>
            <a:ext cx="502919" cy="502919"/>
          </a:xfrm>
          <a:prstGeom prst="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68096" y="3300984"/>
            <a:ext cx="502919" cy="502919"/>
          </a:xfrm>
          <a:prstGeom prst="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289304" y="3300984"/>
            <a:ext cx="502919" cy="502919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810512" y="3300984"/>
            <a:ext cx="502919" cy="502919"/>
          </a:xfrm>
          <a:prstGeom prst="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331720" y="3300984"/>
            <a:ext cx="502919" cy="502919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852927" y="3300984"/>
            <a:ext cx="502919" cy="502919"/>
          </a:xfrm>
          <a:prstGeom prst="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374135" y="3300984"/>
            <a:ext cx="502919" cy="502919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895344" y="3300984"/>
            <a:ext cx="502919" cy="502919"/>
          </a:xfrm>
          <a:prstGeom prst="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16552" y="3300984"/>
            <a:ext cx="502919" cy="502919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8096" y="3822191"/>
            <a:ext cx="502919" cy="502919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289304" y="3822191"/>
            <a:ext cx="502919" cy="502919"/>
          </a:xfrm>
          <a:prstGeom prst="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810512" y="3822191"/>
            <a:ext cx="502919" cy="502919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331720" y="3822191"/>
            <a:ext cx="502919" cy="502919"/>
          </a:xfrm>
          <a:prstGeom prst="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852927" y="3822191"/>
            <a:ext cx="502919" cy="502919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374135" y="3822191"/>
            <a:ext cx="502919" cy="502919"/>
          </a:xfrm>
          <a:prstGeom prst="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895344" y="3822191"/>
            <a:ext cx="502919" cy="502919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416552" y="3822191"/>
            <a:ext cx="502919" cy="502919"/>
          </a:xfrm>
          <a:prstGeom prst="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68096" y="4343400"/>
            <a:ext cx="502919" cy="502919"/>
          </a:xfrm>
          <a:prstGeom prst="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289304" y="4343400"/>
            <a:ext cx="502919" cy="502919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810512" y="4343400"/>
            <a:ext cx="502919" cy="502919"/>
          </a:xfrm>
          <a:prstGeom prst="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331720" y="4343400"/>
            <a:ext cx="502919" cy="502919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852927" y="4343400"/>
            <a:ext cx="502919" cy="502919"/>
          </a:xfrm>
          <a:prstGeom prst="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374135" y="4343400"/>
            <a:ext cx="502919" cy="502919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895344" y="4343400"/>
            <a:ext cx="502919" cy="502919"/>
          </a:xfrm>
          <a:prstGeom prst="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416552" y="4343400"/>
            <a:ext cx="502919" cy="502919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68096" y="4864608"/>
            <a:ext cx="502919" cy="502919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289304" y="4864608"/>
            <a:ext cx="502919" cy="502919"/>
          </a:xfrm>
          <a:prstGeom prst="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810512" y="4864608"/>
            <a:ext cx="502919" cy="502919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331720" y="4864608"/>
            <a:ext cx="502919" cy="502919"/>
          </a:xfrm>
          <a:prstGeom prst="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852927" y="4864608"/>
            <a:ext cx="502919" cy="502919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374135" y="4864608"/>
            <a:ext cx="502919" cy="502919"/>
          </a:xfrm>
          <a:prstGeom prst="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895344" y="4864608"/>
            <a:ext cx="502919" cy="502919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416552" y="4864608"/>
            <a:ext cx="502919" cy="502919"/>
          </a:xfrm>
          <a:prstGeom prst="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3566982" y="3493830"/>
            <a:ext cx="164592" cy="164592"/>
          </a:xfrm>
          <a:prstGeom prst="ellipse">
            <a:avLst/>
          </a:prstGeom>
          <a:solidFill>
            <a:srgbClr val="26D0CE"/>
          </a:solidFill>
          <a:ln w="12700">
            <a:solidFill>
              <a:srgbClr val="26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331720" y="2779776"/>
            <a:ext cx="1824228" cy="1980590"/>
          </a:xfrm>
          <a:prstGeom prst="rect">
            <a:avLst/>
          </a:prstGeom>
          <a:noFill/>
          <a:ln w="25400">
            <a:solidFill>
              <a:srgbClr val="59D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261872" y="5577840"/>
            <a:ext cx="30175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1" i="0">
                <a:solidFill>
                  <a:srgbClr val="9DB1CA"/>
                </a:solidFill>
                <a:latin typeface="DejaVu Sans Mono"/>
              </a:rPr>
              <a:t>cell (i=5, j=3)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413248" y="1719072"/>
            <a:ext cx="5971032" cy="4407408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715000" y="1984248"/>
            <a:ext cx="534924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26D0CE"/>
                </a:solidFill>
                <a:latin typeface="Noto Sans"/>
              </a:rPr>
              <a:t>BƯỚC 1 · TỌA ĐỘ ĐIỂM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724144" y="2359152"/>
            <a:ext cx="5303520" cy="502920"/>
          </a:xfrm>
          <a:prstGeom prst="round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5724144" y="2359152"/>
            <a:ext cx="45720" cy="502920"/>
          </a:xfrm>
          <a:prstGeom prst="roundRect">
            <a:avLst/>
          </a:prstGeom>
          <a:solidFill>
            <a:srgbClr val="26D0CE"/>
          </a:solidFill>
          <a:ln w="12700">
            <a:solidFill>
              <a:srgbClr val="26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870448" y="2450592"/>
            <a:ext cx="5047488" cy="3383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30" b="1" i="0">
                <a:solidFill>
                  <a:srgbClr val="F4F8FF"/>
                </a:solidFill>
                <a:latin typeface="DejaVu Sans Mono"/>
              </a:rPr>
              <a:t>aₓ=(i+0.5)·s=(5+0.5)·8=44 px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724144" y="2971800"/>
            <a:ext cx="5303520" cy="502920"/>
          </a:xfrm>
          <a:prstGeom prst="round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5724144" y="2971800"/>
            <a:ext cx="45720" cy="502920"/>
          </a:xfrm>
          <a:prstGeom prst="roundRect">
            <a:avLst/>
          </a:prstGeom>
          <a:solidFill>
            <a:srgbClr val="26D0CE"/>
          </a:solidFill>
          <a:ln w="12700">
            <a:solidFill>
              <a:srgbClr val="26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870448" y="3063240"/>
            <a:ext cx="5047488" cy="3383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30" b="1" i="0">
                <a:solidFill>
                  <a:srgbClr val="F4F8FF"/>
                </a:solidFill>
                <a:latin typeface="DejaVu Sans Mono"/>
              </a:rPr>
              <a:t>aᵧ=(j+0.5)·s=(3+0.5)·8=28 px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715000" y="3712463"/>
            <a:ext cx="534924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F844A"/>
                </a:solidFill>
                <a:latin typeface="Noto Sans"/>
              </a:rPr>
              <a:t>BƯỚC 2 · DFL DỰ ĐOÁN KHOẢNG CÁCH (đơn vị ô)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724144" y="4087368"/>
            <a:ext cx="5303520" cy="502920"/>
          </a:xfrm>
          <a:prstGeom prst="round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5724144" y="4087368"/>
            <a:ext cx="45720" cy="502920"/>
          </a:xfrm>
          <a:prstGeom prst="roundRect">
            <a:avLst/>
          </a:prstGeom>
          <a:solidFill>
            <a:srgbClr val="FF844A"/>
          </a:solidFill>
          <a:ln w="12700">
            <a:solidFill>
              <a:srgbClr val="FF8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870448" y="4178807"/>
            <a:ext cx="5047488" cy="3383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 i="0">
                <a:solidFill>
                  <a:srgbClr val="F4F8FF"/>
                </a:solidFill>
                <a:latin typeface="DejaVu Sans Mono"/>
              </a:rPr>
              <a:t>[l,t,r,b] = [2.5, 1.0, 3.0, 4.0]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715000" y="4828032"/>
            <a:ext cx="534924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59DD92"/>
                </a:solidFill>
                <a:latin typeface="Noto Sans"/>
              </a:rPr>
              <a:t>BƯỚC 3 · NHÂN STRIDE VÀ TRỪ / CỘNG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5724144" y="5202936"/>
            <a:ext cx="5303520" cy="566928"/>
          </a:xfrm>
          <a:prstGeom prst="round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5724144" y="5202936"/>
            <a:ext cx="45720" cy="566928"/>
          </a:xfrm>
          <a:prstGeom prst="roundRect">
            <a:avLst/>
          </a:prstGeom>
          <a:solidFill>
            <a:srgbClr val="59DD92"/>
          </a:solidFill>
          <a:ln w="12700">
            <a:solidFill>
              <a:srgbClr val="59D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870448" y="5294376"/>
            <a:ext cx="5047488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59DD92"/>
                </a:solidFill>
                <a:latin typeface="DejaVu Sans Mono"/>
              </a:rPr>
              <a:t>[x₁,y₁,x₂,y₂] = [24,20,68,60] px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24128" y="6062472"/>
            <a:ext cx="102229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9DB1CA"/>
                </a:solidFill>
                <a:latin typeface="DejaVu Sans Mono"/>
              </a:rPr>
              <a:t>x₁=aₓ−l·s; y₁=aᵧ−t·s; x₂=aₓ+r·s; y₂=aᵧ+b·s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881360" y="-292608"/>
            <a:ext cx="1600200" cy="896112"/>
          </a:xfrm>
          <a:prstGeom prst="roundRect">
            <a:avLst/>
          </a:prstGeom>
          <a:solidFill>
            <a:srgbClr val="26D0CE"/>
          </a:solidFill>
          <a:ln w="12700">
            <a:solidFill>
              <a:srgbClr val="26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384048" y="6345936"/>
            <a:ext cx="1920240" cy="804672"/>
          </a:xfrm>
          <a:prstGeom prst="roundRect">
            <a:avLst/>
          </a:prstGeom>
          <a:solidFill>
            <a:srgbClr val="9B7EFF"/>
          </a:solidFill>
          <a:ln w="12700">
            <a:solidFill>
              <a:srgbClr val="9B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749807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26D0CE"/>
                </a:solidFill>
                <a:latin typeface="Noto Sans"/>
              </a:rPr>
              <a:t>14 · PHÂN LOẠI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2648"/>
            <a:ext cx="106984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F4F8FF"/>
                </a:solidFill>
                <a:latin typeface="Noto Sans"/>
              </a:rPr>
              <a:t>Logit trở thành xác suất qua sigmoid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27664" y="356616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9DB1CA"/>
                </a:solidFill>
                <a:latin typeface="Noto Sans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10899648" cy="15240"/>
          </a:xfrm>
          <a:prstGeom prst="rect">
            <a:avLst/>
          </a:prstGeom>
          <a:solidFill>
            <a:srgbClr val="344B66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9966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9DB1CA"/>
                </a:solidFill>
                <a:latin typeface="Noto Sans"/>
              </a:rPr>
              <a:t>Nguồn: Ultralytics Detect head inference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78440" y="6492240"/>
            <a:ext cx="1152144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1" i="0">
                <a:solidFill>
                  <a:srgbClr val="9DB1CA"/>
                </a:solidFill>
                <a:latin typeface="Noto Sans"/>
              </a:rPr>
              <a:t>PIXEL → YOLOv8  · 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709928"/>
            <a:ext cx="204825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F4F8FF"/>
                </a:solidFill>
                <a:latin typeface="Noto Sans"/>
              </a:rPr>
              <a:t>mango_ripe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62072" y="1709928"/>
            <a:ext cx="85039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50" b="0" i="0">
                <a:solidFill>
                  <a:srgbClr val="9DB1CA"/>
                </a:solidFill>
                <a:latin typeface="DejaVu Sans Mono"/>
              </a:rPr>
              <a:t>z=+2.60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41063" y="1691640"/>
            <a:ext cx="5440680" cy="256032"/>
          </a:xfrm>
          <a:prstGeom prst="roundRect">
            <a:avLst/>
          </a:prstGeom>
          <a:solidFill>
            <a:srgbClr val="0E1B2E"/>
          </a:solidFill>
          <a:ln w="12700">
            <a:solidFill>
              <a:srgbClr val="0E1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941063" y="1691640"/>
            <a:ext cx="5064519" cy="256032"/>
          </a:xfrm>
          <a:prstGeom prst="roundRect">
            <a:avLst/>
          </a:prstGeom>
          <a:solidFill>
            <a:srgbClr val="59DD92"/>
          </a:solidFill>
          <a:ln w="12700">
            <a:solidFill>
              <a:srgbClr val="59D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73768" y="1691640"/>
            <a:ext cx="65836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59DD92"/>
                </a:solidFill>
                <a:latin typeface="DejaVu Sans Mono"/>
              </a:rPr>
              <a:t>0.931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2322576"/>
            <a:ext cx="204825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F4F8FF"/>
                </a:solidFill>
                <a:latin typeface="Noto Sans"/>
              </a:rPr>
              <a:t>mango_unripe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62072" y="2322576"/>
            <a:ext cx="85039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50" b="0" i="0">
                <a:solidFill>
                  <a:srgbClr val="9DB1CA"/>
                </a:solidFill>
                <a:latin typeface="DejaVu Sans Mono"/>
              </a:rPr>
              <a:t>z=-0.85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41063" y="2304288"/>
            <a:ext cx="5440680" cy="256032"/>
          </a:xfrm>
          <a:prstGeom prst="roundRect">
            <a:avLst/>
          </a:prstGeom>
          <a:solidFill>
            <a:srgbClr val="0E1B2E"/>
          </a:solidFill>
          <a:ln w="12700">
            <a:solidFill>
              <a:srgbClr val="0E1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941063" y="2304288"/>
            <a:ext cx="1629118" cy="256032"/>
          </a:xfrm>
          <a:prstGeom prst="roundRect">
            <a:avLst/>
          </a:prstGeom>
          <a:solidFill>
            <a:srgbClr val="FFBE48"/>
          </a:solidFill>
          <a:ln w="12700">
            <a:solidFill>
              <a:srgbClr val="FFB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73768" y="2304288"/>
            <a:ext cx="65836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FFBE48"/>
                </a:solidFill>
                <a:latin typeface="DejaVu Sans Mono"/>
              </a:rPr>
              <a:t>0.299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2935224"/>
            <a:ext cx="204825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F4F8FF"/>
                </a:solidFill>
                <a:latin typeface="Noto Sans"/>
              </a:rPr>
              <a:t>dragon_ripe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62072" y="2935224"/>
            <a:ext cx="85039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50" b="0" i="0">
                <a:solidFill>
                  <a:srgbClr val="9DB1CA"/>
                </a:solidFill>
                <a:latin typeface="DejaVu Sans Mono"/>
              </a:rPr>
              <a:t>z=-2.10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41063" y="2916936"/>
            <a:ext cx="5440680" cy="256032"/>
          </a:xfrm>
          <a:prstGeom prst="roundRect">
            <a:avLst/>
          </a:prstGeom>
          <a:solidFill>
            <a:srgbClr val="0E1B2E"/>
          </a:solidFill>
          <a:ln w="12700">
            <a:solidFill>
              <a:srgbClr val="0E1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941063" y="2916936"/>
            <a:ext cx="593560" cy="256032"/>
          </a:xfrm>
          <a:prstGeom prst="roundRect">
            <a:avLst/>
          </a:prstGeom>
          <a:solidFill>
            <a:srgbClr val="FF5B6F"/>
          </a:solidFill>
          <a:ln w="12700">
            <a:solidFill>
              <a:srgbClr val="FF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73768" y="2916936"/>
            <a:ext cx="65836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FF5B6F"/>
                </a:solidFill>
                <a:latin typeface="DejaVu Sans Mono"/>
              </a:rPr>
              <a:t>0.109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" y="3547872"/>
            <a:ext cx="204825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F4F8FF"/>
                </a:solidFill>
                <a:latin typeface="Noto Sans"/>
              </a:rPr>
              <a:t>dragon_unripe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62072" y="3547872"/>
            <a:ext cx="85039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50" b="0" i="0">
                <a:solidFill>
                  <a:srgbClr val="9DB1CA"/>
                </a:solidFill>
                <a:latin typeface="DejaVu Sans Mono"/>
              </a:rPr>
              <a:t>z=-1.72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941063" y="3529584"/>
            <a:ext cx="5440680" cy="256032"/>
          </a:xfrm>
          <a:prstGeom prst="roundRect">
            <a:avLst/>
          </a:prstGeom>
          <a:solidFill>
            <a:srgbClr val="0E1B2E"/>
          </a:solidFill>
          <a:ln w="12700">
            <a:solidFill>
              <a:srgbClr val="0E1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941063" y="3529584"/>
            <a:ext cx="826282" cy="256032"/>
          </a:xfrm>
          <a:prstGeom prst="roundRect">
            <a:avLst/>
          </a:prstGeom>
          <a:solidFill>
            <a:srgbClr val="9B7EFF"/>
          </a:solidFill>
          <a:ln w="12700">
            <a:solidFill>
              <a:srgbClr val="9B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73768" y="3529584"/>
            <a:ext cx="65836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9B7EFF"/>
                </a:solidFill>
                <a:latin typeface="DejaVu Sans Mono"/>
              </a:rPr>
              <a:t>0.152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" y="4160520"/>
            <a:ext cx="204825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F4F8FF"/>
                </a:solidFill>
                <a:latin typeface="Noto Sans"/>
              </a:rPr>
              <a:t>apple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62072" y="4160520"/>
            <a:ext cx="85039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50" b="0" i="0">
                <a:solidFill>
                  <a:srgbClr val="9DB1CA"/>
                </a:solidFill>
                <a:latin typeface="DejaVu Sans Mono"/>
              </a:rPr>
              <a:t>z=-2.65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941063" y="4142232"/>
            <a:ext cx="5440680" cy="256032"/>
          </a:xfrm>
          <a:prstGeom prst="roundRect">
            <a:avLst/>
          </a:prstGeom>
          <a:solidFill>
            <a:srgbClr val="0E1B2E"/>
          </a:solidFill>
          <a:ln w="12700">
            <a:solidFill>
              <a:srgbClr val="0E1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941063" y="4142232"/>
            <a:ext cx="359025" cy="256032"/>
          </a:xfrm>
          <a:prstGeom prst="roundRect">
            <a:avLst/>
          </a:prstGeom>
          <a:solidFill>
            <a:srgbClr val="26D0CE"/>
          </a:solidFill>
          <a:ln w="12700">
            <a:solidFill>
              <a:srgbClr val="26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73768" y="4142232"/>
            <a:ext cx="65836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26D0CE"/>
                </a:solidFill>
                <a:latin typeface="DejaVu Sans Mono"/>
              </a:rPr>
              <a:t>0.066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" y="4773168"/>
            <a:ext cx="204825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F4F8FF"/>
                </a:solidFill>
                <a:latin typeface="Noto Sans"/>
              </a:rPr>
              <a:t>orange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62072" y="4773168"/>
            <a:ext cx="85039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50" b="0" i="0">
                <a:solidFill>
                  <a:srgbClr val="9DB1CA"/>
                </a:solidFill>
                <a:latin typeface="DejaVu Sans Mono"/>
              </a:rPr>
              <a:t>z=-3.10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941063" y="4754880"/>
            <a:ext cx="5440680" cy="256032"/>
          </a:xfrm>
          <a:prstGeom prst="roundRect">
            <a:avLst/>
          </a:prstGeom>
          <a:solidFill>
            <a:srgbClr val="0E1B2E"/>
          </a:solidFill>
          <a:ln w="12700">
            <a:solidFill>
              <a:srgbClr val="0E1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941063" y="4754880"/>
            <a:ext cx="234532" cy="256032"/>
          </a:xfrm>
          <a:prstGeom prst="roundRect">
            <a:avLst/>
          </a:prstGeom>
          <a:solidFill>
            <a:srgbClr val="FF844A"/>
          </a:solidFill>
          <a:ln w="12700">
            <a:solidFill>
              <a:srgbClr val="FF8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73768" y="4754880"/>
            <a:ext cx="65836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FF844A"/>
                </a:solidFill>
                <a:latin typeface="DejaVu Sans Mono"/>
              </a:rPr>
              <a:t>0.043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" y="5385816"/>
            <a:ext cx="204825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F4F8FF"/>
                </a:solidFill>
                <a:latin typeface="Noto Sans"/>
              </a:rPr>
              <a:t>banana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62072" y="5385816"/>
            <a:ext cx="85039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50" b="0" i="0">
                <a:solidFill>
                  <a:srgbClr val="9DB1CA"/>
                </a:solidFill>
                <a:latin typeface="DejaVu Sans Mono"/>
              </a:rPr>
              <a:t>z=-2.35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941063" y="5367528"/>
            <a:ext cx="5440680" cy="256032"/>
          </a:xfrm>
          <a:prstGeom prst="roundRect">
            <a:avLst/>
          </a:prstGeom>
          <a:solidFill>
            <a:srgbClr val="0E1B2E"/>
          </a:solidFill>
          <a:ln w="12700">
            <a:solidFill>
              <a:srgbClr val="0E1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941063" y="5367528"/>
            <a:ext cx="473697" cy="256032"/>
          </a:xfrm>
          <a:prstGeom prst="roundRect">
            <a:avLst/>
          </a:prstGeom>
          <a:solidFill>
            <a:srgbClr val="4B96FF"/>
          </a:solidFill>
          <a:ln w="12700">
            <a:solidFill>
              <a:srgbClr val="4B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73768" y="5367528"/>
            <a:ext cx="65836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4B96FF"/>
                </a:solidFill>
                <a:latin typeface="DejaVu Sans Mono"/>
              </a:rPr>
              <a:t>0.087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874519" y="5769864"/>
            <a:ext cx="7891272" cy="566928"/>
          </a:xfrm>
          <a:prstGeom prst="round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874519" y="5769864"/>
            <a:ext cx="45720" cy="566928"/>
          </a:xfrm>
          <a:prstGeom prst="roundRect">
            <a:avLst/>
          </a:prstGeom>
          <a:solidFill>
            <a:srgbClr val="59DD92"/>
          </a:solidFill>
          <a:ln w="12700">
            <a:solidFill>
              <a:srgbClr val="59D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5861303"/>
            <a:ext cx="7635240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 i="0">
                <a:solidFill>
                  <a:srgbClr val="F4F8FF"/>
                </a:solidFill>
                <a:latin typeface="DejaVu Sans Mono"/>
              </a:rPr>
              <a:t>p(c|point) = sigmoid(z_c) = 1 / (1 + e^(−z_c))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533888" y="1810512"/>
            <a:ext cx="713232" cy="3977639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625328" y="2148840"/>
            <a:ext cx="530352" cy="32735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69" b="1" i="0">
                <a:solidFill>
                  <a:srgbClr val="FFBE48"/>
                </a:solidFill>
                <a:latin typeface="Noto Sans"/>
              </a:rPr>
              <a:t>Không có
softmax
→ các lớp
không bị ép
tổng = 1
Không có
objectness
riêng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881360" y="-292608"/>
            <a:ext cx="1600200" cy="896112"/>
          </a:xfrm>
          <a:prstGeom prst="roundRect">
            <a:avLst/>
          </a:prstGeom>
          <a:solidFill>
            <a:srgbClr val="26D0CE"/>
          </a:solidFill>
          <a:ln w="12700">
            <a:solidFill>
              <a:srgbClr val="26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384048" y="6345936"/>
            <a:ext cx="1920240" cy="804672"/>
          </a:xfrm>
          <a:prstGeom prst="roundRect">
            <a:avLst/>
          </a:prstGeom>
          <a:solidFill>
            <a:srgbClr val="9B7EFF"/>
          </a:solidFill>
          <a:ln w="12700">
            <a:solidFill>
              <a:srgbClr val="9B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749807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26D0CE"/>
                </a:solidFill>
                <a:latin typeface="Noto Sans"/>
              </a:rPr>
              <a:t>15 · GÁN MỤC TIÊU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2648"/>
            <a:ext cx="106984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F4F8FF"/>
                </a:solidFill>
                <a:latin typeface="Noto Sans"/>
              </a:rPr>
              <a:t>Task-Aligned Assigner: điểm nào chịu trách nhiệm học quả này?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27664" y="356616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9DB1CA"/>
                </a:solidFill>
                <a:latin typeface="Noto Sans"/>
              </a:rP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10899648" cy="15240"/>
          </a:xfrm>
          <a:prstGeom prst="rect">
            <a:avLst/>
          </a:prstGeom>
          <a:solidFill>
            <a:srgbClr val="344B66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9966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9DB1CA"/>
                </a:solidFill>
                <a:latin typeface="Noto Sans"/>
              </a:rPr>
              <a:t>Nguồn: Ultralytics utils/tal.py; TOOD (ICCV 2021)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78440" y="6492240"/>
            <a:ext cx="1152144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1" i="0">
                <a:solidFill>
                  <a:srgbClr val="9DB1CA"/>
                </a:solidFill>
                <a:latin typeface="Noto Sans"/>
              </a:rPr>
              <a:t>PIXEL → YOLOv8  ·  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" y="1700784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865376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568" y="1700784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80160" y="1865376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54480" y="1700784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719072" y="1865376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93391" y="1700784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157984" y="1865376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32304" y="1700784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596896" y="1865376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71215" y="1700784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5808" y="1865376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10128" y="1700784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474720" y="1865376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749039" y="1700784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913631" y="1865376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87952" y="1700784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352544" y="1865376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626864" y="1700784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791456" y="1865376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76656" y="2139696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41247" y="2304288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15568" y="2139696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280160" y="2304288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554480" y="2139696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719072" y="2304288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993391" y="2139696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157984" y="2304288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432304" y="2139696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596896" y="2304288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871215" y="2139696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035808" y="2304288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310128" y="2139696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474720" y="2304288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749039" y="2139696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913631" y="2304288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187952" y="2139696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352544" y="2304288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626864" y="2139696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791456" y="2304288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76656" y="2578608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41247" y="2743200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15568" y="2578608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280160" y="2743200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554480" y="2578608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719072" y="2743200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993391" y="2578608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157984" y="2743200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432304" y="2578608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596896" y="2743200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871215" y="2578608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3035808" y="2743200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310128" y="2578608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3474720" y="2743200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749039" y="2578608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3913631" y="2743200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187952" y="2578608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4352544" y="2743200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626864" y="2578608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791456" y="2743200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76656" y="3017520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841247" y="3182112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115568" y="3017520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280160" y="3182112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554480" y="3017520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719072" y="3182112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993391" y="3017520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2157984" y="3182112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432304" y="3017520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2596896" y="3182112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871215" y="3017520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035808" y="3182112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310128" y="3017520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474720" y="3182112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749039" y="3017520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913631" y="3182112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187952" y="3017520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4352544" y="3182112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4626864" y="3017520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4791456" y="3182112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676656" y="3456432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841247" y="3621024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115568" y="3456432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280160" y="3621024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554480" y="3456432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719072" y="3621024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993391" y="3456432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2157984" y="3621024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2432304" y="3456432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2596896" y="3621024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2871215" y="3456432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3035808" y="3621024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3310128" y="3456432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3474720" y="3621024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3749039" y="3456432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3913631" y="3621024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4187952" y="3456432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4352544" y="3621024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4626864" y="3456432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4791456" y="3621024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676656" y="3895344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841247" y="4059935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115568" y="3895344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280160" y="4059935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554480" y="3895344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1719072" y="4059935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993391" y="3895344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2157984" y="4059935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432304" y="3895344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2596896" y="4059935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2871215" y="3895344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3035808" y="4059935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310128" y="3895344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3474720" y="4059935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749039" y="3895344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3913631" y="4059935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187952" y="3895344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4352544" y="4059935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626864" y="3895344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4791456" y="4059935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676656" y="4334256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841247" y="4498848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115568" y="4334256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1280160" y="4498848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1554480" y="4334256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1719072" y="4498848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1993391" y="4334256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2157984" y="4498848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2432304" y="4334256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2596896" y="4498848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2871215" y="4334256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3035808" y="4498848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3310128" y="4334256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3474720" y="4498848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3749039" y="4334256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3913631" y="4498848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4187952" y="4334256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4352544" y="4498848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4626864" y="4334256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4791456" y="4498848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676656" y="4773168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841247" y="4937759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1115568" y="4773168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1280160" y="4937759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1554480" y="4773168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1719072" y="4937759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1993391" y="4773168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2157984" y="4937759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2432304" y="4773168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2596896" y="4937759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2871215" y="4773168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3035808" y="4937759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3310128" y="4773168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3474720" y="4937759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3749039" y="4773168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3913631" y="4937759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4187952" y="4773168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4352544" y="4937759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4626864" y="4773168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4791456" y="4937759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676656" y="5212080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841247" y="5376672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1115568" y="5212080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1280160" y="5376672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1554480" y="5212080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1719072" y="5376672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1993391" y="5212080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2157984" y="5376672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2432304" y="5212080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2596896" y="5376672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2871215" y="5212080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3035808" y="5376672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3310128" y="5212080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3474720" y="5376672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3749039" y="5212080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3913631" y="5376672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4187952" y="5212080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4352544" y="5376672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4626864" y="5212080"/>
            <a:ext cx="416051" cy="416051"/>
          </a:xfrm>
          <a:prstGeom prst="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4791456" y="5376672"/>
            <a:ext cx="73152" cy="73152"/>
          </a:xfrm>
          <a:prstGeom prst="ellipse">
            <a:avLst/>
          </a:prstGeom>
          <a:solidFill>
            <a:srgbClr val="9DB1CA"/>
          </a:solidFill>
          <a:ln w="12700">
            <a:solidFill>
              <a:srgbClr val="9DB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1642262" y="2403043"/>
            <a:ext cx="2501798" cy="2282342"/>
          </a:xfrm>
          <a:prstGeom prst="rect">
            <a:avLst/>
          </a:prstGeom>
          <a:noFill/>
          <a:ln w="31750">
            <a:solidFill>
              <a:srgbClr val="59D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2551176" y="3575304"/>
            <a:ext cx="164592" cy="164592"/>
          </a:xfrm>
          <a:prstGeom prst="ellipse">
            <a:avLst/>
          </a:prstGeom>
          <a:solidFill>
            <a:srgbClr val="FFBE48"/>
          </a:solidFill>
          <a:ln w="12700">
            <a:solidFill>
              <a:srgbClr val="FFB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2990087" y="3575304"/>
            <a:ext cx="164592" cy="164592"/>
          </a:xfrm>
          <a:prstGeom prst="ellipse">
            <a:avLst/>
          </a:prstGeom>
          <a:solidFill>
            <a:srgbClr val="FFBE48"/>
          </a:solidFill>
          <a:ln w="12700">
            <a:solidFill>
              <a:srgbClr val="FFB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3429000" y="3575304"/>
            <a:ext cx="164592" cy="164592"/>
          </a:xfrm>
          <a:prstGeom prst="ellipse">
            <a:avLst/>
          </a:prstGeom>
          <a:solidFill>
            <a:srgbClr val="FFBE48"/>
          </a:solidFill>
          <a:ln w="12700">
            <a:solidFill>
              <a:srgbClr val="FFB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2551176" y="4014215"/>
            <a:ext cx="164592" cy="164592"/>
          </a:xfrm>
          <a:prstGeom prst="ellipse">
            <a:avLst/>
          </a:prstGeom>
          <a:solidFill>
            <a:srgbClr val="FFBE48"/>
          </a:solidFill>
          <a:ln w="12700">
            <a:solidFill>
              <a:srgbClr val="FFB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2990087" y="4014215"/>
            <a:ext cx="164592" cy="164592"/>
          </a:xfrm>
          <a:prstGeom prst="ellipse">
            <a:avLst/>
          </a:prstGeom>
          <a:solidFill>
            <a:srgbClr val="FFBE48"/>
          </a:solidFill>
          <a:ln w="12700">
            <a:solidFill>
              <a:srgbClr val="FFB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3429000" y="4014215"/>
            <a:ext cx="164592" cy="164592"/>
          </a:xfrm>
          <a:prstGeom prst="ellipse">
            <a:avLst/>
          </a:prstGeom>
          <a:solidFill>
            <a:srgbClr val="FFBE48"/>
          </a:solidFill>
          <a:ln w="12700">
            <a:solidFill>
              <a:srgbClr val="FFB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2990087" y="3136391"/>
            <a:ext cx="164592" cy="164592"/>
          </a:xfrm>
          <a:prstGeom prst="ellipse">
            <a:avLst/>
          </a:prstGeom>
          <a:solidFill>
            <a:srgbClr val="FFBE48"/>
          </a:solidFill>
          <a:ln w="12700">
            <a:solidFill>
              <a:srgbClr val="FFB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2990087" y="4453128"/>
            <a:ext cx="164592" cy="164592"/>
          </a:xfrm>
          <a:prstGeom prst="ellipse">
            <a:avLst/>
          </a:prstGeom>
          <a:solidFill>
            <a:srgbClr val="FFBE48"/>
          </a:solidFill>
          <a:ln w="12700">
            <a:solidFill>
              <a:srgbClr val="FFB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ounded Rectangle 198"/>
          <p:cNvSpPr/>
          <p:nvPr/>
        </p:nvSpPr>
        <p:spPr>
          <a:xfrm>
            <a:off x="1673352" y="2029968"/>
            <a:ext cx="1444752" cy="329184"/>
          </a:xfrm>
          <a:prstGeom prst="roundRect">
            <a:avLst/>
          </a:prstGeom>
          <a:solidFill>
            <a:srgbClr val="59DD92"/>
          </a:solidFill>
          <a:ln w="12700">
            <a:solidFill>
              <a:srgbClr val="59D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1719072" y="2080260"/>
            <a:ext cx="135331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1" i="0">
                <a:solidFill>
                  <a:srgbClr val="F4F8FF"/>
                </a:solidFill>
                <a:latin typeface="Noto Sans"/>
              </a:rPr>
              <a:t>GROUND TRUTH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1005840" y="5815584"/>
            <a:ext cx="35844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 i="0">
                <a:solidFill>
                  <a:srgbClr val="FFBE48"/>
                </a:solidFill>
                <a:latin typeface="Noto Sans"/>
              </a:rPr>
              <a:t>điểm vàng = positive candidates</a:t>
            </a:r>
          </a:p>
        </p:txBody>
      </p:sp>
      <p:sp>
        <p:nvSpPr>
          <p:cNvPr id="202" name="Rounded Rectangle 201"/>
          <p:cNvSpPr/>
          <p:nvPr/>
        </p:nvSpPr>
        <p:spPr>
          <a:xfrm>
            <a:off x="5394960" y="1682496"/>
            <a:ext cx="6016752" cy="4480560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5669280" y="1993392"/>
            <a:ext cx="356616" cy="356616"/>
          </a:xfrm>
          <a:prstGeom prst="ellipse">
            <a:avLst/>
          </a:prstGeom>
          <a:solidFill>
            <a:srgbClr val="26D0CE"/>
          </a:solidFill>
          <a:ln w="12700">
            <a:solidFill>
              <a:srgbClr val="26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5669280" y="2066544"/>
            <a:ext cx="356616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1" i="0">
                <a:solidFill>
                  <a:srgbClr val="08101E"/>
                </a:solidFill>
                <a:latin typeface="Noto Sans"/>
              </a:rPr>
              <a:t>1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6199632" y="1938528"/>
            <a:ext cx="1481328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26D0CE"/>
                </a:solidFill>
                <a:latin typeface="Noto Sans"/>
              </a:rPr>
              <a:t>Inside GT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7680960" y="1938528"/>
            <a:ext cx="3346704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9DB1CA"/>
                </a:solidFill>
                <a:latin typeface="Noto Sans"/>
              </a:rPr>
              <a:t>chỉ xét điểm có tâm nằm trong ground-truth box</a:t>
            </a:r>
          </a:p>
        </p:txBody>
      </p:sp>
      <p:sp>
        <p:nvSpPr>
          <p:cNvPr id="207" name="Oval 206"/>
          <p:cNvSpPr/>
          <p:nvPr/>
        </p:nvSpPr>
        <p:spPr>
          <a:xfrm>
            <a:off x="5669280" y="2798064"/>
            <a:ext cx="356616" cy="356616"/>
          </a:xfrm>
          <a:prstGeom prst="ellipse">
            <a:avLst/>
          </a:prstGeom>
          <a:solidFill>
            <a:srgbClr val="9B7EFF"/>
          </a:solidFill>
          <a:ln w="12700">
            <a:solidFill>
              <a:srgbClr val="9B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5669280" y="2871216"/>
            <a:ext cx="356616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1" i="0">
                <a:solidFill>
                  <a:srgbClr val="08101E"/>
                </a:solidFill>
                <a:latin typeface="Noto Sans"/>
              </a:rPr>
              <a:t>2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6199632" y="2743200"/>
            <a:ext cx="1481328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9B7EFF"/>
                </a:solidFill>
                <a:latin typeface="Noto Sans"/>
              </a:rPr>
              <a:t>Alignment metric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7680960" y="2743200"/>
            <a:ext cx="3346704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9DB1CA"/>
                </a:solidFill>
                <a:latin typeface="Noto Sans"/>
              </a:rPr>
              <a:t>t = s^α · IoU^β, với α=0.5 và β=6</a:t>
            </a:r>
          </a:p>
        </p:txBody>
      </p:sp>
      <p:sp>
        <p:nvSpPr>
          <p:cNvPr id="211" name="Oval 210"/>
          <p:cNvSpPr/>
          <p:nvPr/>
        </p:nvSpPr>
        <p:spPr>
          <a:xfrm>
            <a:off x="5669280" y="3602736"/>
            <a:ext cx="356616" cy="356616"/>
          </a:xfrm>
          <a:prstGeom prst="ellipse">
            <a:avLst/>
          </a:prstGeom>
          <a:solidFill>
            <a:srgbClr val="FFBE48"/>
          </a:solidFill>
          <a:ln w="12700">
            <a:solidFill>
              <a:srgbClr val="FFB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5669280" y="3675887"/>
            <a:ext cx="356616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1" i="0">
                <a:solidFill>
                  <a:srgbClr val="08101E"/>
                </a:solidFill>
                <a:latin typeface="Noto Sans"/>
              </a:rPr>
              <a:t>3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6199632" y="3547872"/>
            <a:ext cx="1481328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FFBE48"/>
                </a:solidFill>
                <a:latin typeface="Noto Sans"/>
              </a:rPr>
              <a:t>Top-k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7680960" y="3547872"/>
            <a:ext cx="3346704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9DB1CA"/>
                </a:solidFill>
                <a:latin typeface="Noto Sans"/>
              </a:rPr>
              <a:t>chọn các điểm có t cao nhất cho mỗi ground truth</a:t>
            </a:r>
          </a:p>
        </p:txBody>
      </p:sp>
      <p:sp>
        <p:nvSpPr>
          <p:cNvPr id="215" name="Oval 214"/>
          <p:cNvSpPr/>
          <p:nvPr/>
        </p:nvSpPr>
        <p:spPr>
          <a:xfrm>
            <a:off x="5669280" y="4407407"/>
            <a:ext cx="356616" cy="356616"/>
          </a:xfrm>
          <a:prstGeom prst="ellipse">
            <a:avLst/>
          </a:prstGeom>
          <a:solidFill>
            <a:srgbClr val="FF844A"/>
          </a:solidFill>
          <a:ln w="12700">
            <a:solidFill>
              <a:srgbClr val="FF8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5669280" y="4480559"/>
            <a:ext cx="356616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1" i="0">
                <a:solidFill>
                  <a:srgbClr val="08101E"/>
                </a:solidFill>
                <a:latin typeface="Noto Sans"/>
              </a:rPr>
              <a:t>4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6199632" y="4352544"/>
            <a:ext cx="1481328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FF844A"/>
                </a:solidFill>
                <a:latin typeface="Noto Sans"/>
              </a:rPr>
              <a:t>Resolve conflict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7680960" y="4352544"/>
            <a:ext cx="3346704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9DB1CA"/>
                </a:solidFill>
                <a:latin typeface="Noto Sans"/>
              </a:rPr>
              <a:t>một điểm khớp nhiều GT → giữ GT có overlap phù hợp</a:t>
            </a:r>
          </a:p>
        </p:txBody>
      </p:sp>
      <p:sp>
        <p:nvSpPr>
          <p:cNvPr id="219" name="Oval 218"/>
          <p:cNvSpPr/>
          <p:nvPr/>
        </p:nvSpPr>
        <p:spPr>
          <a:xfrm>
            <a:off x="5669280" y="5212079"/>
            <a:ext cx="356616" cy="356616"/>
          </a:xfrm>
          <a:prstGeom prst="ellipse">
            <a:avLst/>
          </a:prstGeom>
          <a:solidFill>
            <a:srgbClr val="59DD92"/>
          </a:solidFill>
          <a:ln w="12700">
            <a:solidFill>
              <a:srgbClr val="59D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5669280" y="5285231"/>
            <a:ext cx="356616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1" i="0">
                <a:solidFill>
                  <a:srgbClr val="08101E"/>
                </a:solidFill>
                <a:latin typeface="Noto Sans"/>
              </a:rPr>
              <a:t>5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6199632" y="5157216"/>
            <a:ext cx="1481328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59DD92"/>
                </a:solidFill>
                <a:latin typeface="Noto Sans"/>
              </a:rPr>
              <a:t>Targets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7680960" y="5157216"/>
            <a:ext cx="3346704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9DB1CA"/>
                </a:solidFill>
                <a:latin typeface="Noto Sans"/>
              </a:rPr>
              <a:t>tạo target class score, box và foreground mask</a:t>
            </a:r>
          </a:p>
        </p:txBody>
      </p:sp>
      <p:sp>
        <p:nvSpPr>
          <p:cNvPr id="223" name="Rounded Rectangle 222"/>
          <p:cNvSpPr/>
          <p:nvPr/>
        </p:nvSpPr>
        <p:spPr>
          <a:xfrm>
            <a:off x="6053328" y="5733288"/>
            <a:ext cx="4727448" cy="502920"/>
          </a:xfrm>
          <a:prstGeom prst="round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ounded Rectangle 223"/>
          <p:cNvSpPr/>
          <p:nvPr/>
        </p:nvSpPr>
        <p:spPr>
          <a:xfrm>
            <a:off x="6053328" y="5733288"/>
            <a:ext cx="45720" cy="502920"/>
          </a:xfrm>
          <a:prstGeom prst="roundRect">
            <a:avLst/>
          </a:prstGeom>
          <a:solidFill>
            <a:srgbClr val="9B7EFF"/>
          </a:solidFill>
          <a:ln w="12700">
            <a:solidFill>
              <a:srgbClr val="9B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6199632" y="5824727"/>
            <a:ext cx="4471416" cy="3383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 i="0">
                <a:solidFill>
                  <a:srgbClr val="F4F8FF"/>
                </a:solidFill>
                <a:latin typeface="DejaVu Sans Mono"/>
              </a:rPr>
              <a:t>t = classification_score^0.5 × CIoU^6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960120" y="6236208"/>
            <a:ext cx="10222992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20" b="1" i="0">
                <a:solidFill>
                  <a:srgbClr val="9DB1CA"/>
                </a:solidFill>
                <a:latin typeface="Noto Sans"/>
              </a:rPr>
              <a:t>Ý nghĩa: điểm positive phải vừa đoán đúng lớp, vừa định vị tốt — hai nhiệm vụ được căn chỉnh.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881360" y="-292608"/>
            <a:ext cx="1600200" cy="896112"/>
          </a:xfrm>
          <a:prstGeom prst="roundRect">
            <a:avLst/>
          </a:prstGeom>
          <a:solidFill>
            <a:srgbClr val="26D0CE"/>
          </a:solidFill>
          <a:ln w="12700">
            <a:solidFill>
              <a:srgbClr val="26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384048" y="6345936"/>
            <a:ext cx="1920240" cy="804672"/>
          </a:xfrm>
          <a:prstGeom prst="roundRect">
            <a:avLst/>
          </a:prstGeom>
          <a:solidFill>
            <a:srgbClr val="9B7EFF"/>
          </a:solidFill>
          <a:ln w="12700">
            <a:solidFill>
              <a:srgbClr val="9B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749807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26D0CE"/>
                </a:solidFill>
                <a:latin typeface="Noto Sans"/>
              </a:rPr>
              <a:t>16 · HÀM MẤT MÁT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2648"/>
            <a:ext cx="106984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F4F8FF"/>
                </a:solidFill>
                <a:latin typeface="Noto Sans"/>
              </a:rPr>
              <a:t>YOLOv8 học bằng ba tín hiệu sai số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27664" y="356616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9DB1CA"/>
                </a:solidFill>
                <a:latin typeface="Noto Sans"/>
              </a:rP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10899648" cy="15240"/>
          </a:xfrm>
          <a:prstGeom prst="rect">
            <a:avLst/>
          </a:prstGeom>
          <a:solidFill>
            <a:srgbClr val="344B66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9966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9DB1CA"/>
                </a:solidFill>
                <a:latin typeface="Noto Sans"/>
              </a:rPr>
              <a:t>Nguồn: Ultralytics v8DetectionLoss; BboxLoss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78440" y="6492240"/>
            <a:ext cx="1152144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1" i="0">
                <a:solidFill>
                  <a:srgbClr val="9DB1CA"/>
                </a:solidFill>
                <a:latin typeface="Noto Sans"/>
              </a:rPr>
              <a:t>PIXEL → YOLOv8  ·  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" y="1801368"/>
            <a:ext cx="3493008" cy="3182112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2011680"/>
            <a:ext cx="1005840" cy="3566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 i="0">
                <a:solidFill>
                  <a:srgbClr val="59DD92"/>
                </a:solidFill>
                <a:latin typeface="DejaVu Sans Mono"/>
              </a:rPr>
              <a:t>L_cls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578608"/>
            <a:ext cx="30175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 i="0">
                <a:solidFill>
                  <a:srgbClr val="F4F8FF"/>
                </a:solidFill>
                <a:latin typeface="Noto Sans"/>
              </a:rPr>
              <a:t>BCEWithLogits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3182112"/>
            <a:ext cx="299008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9DB1CA"/>
                </a:solidFill>
                <a:latin typeface="Noto Sans"/>
              </a:rPr>
              <a:t>Sai lớp bao nhiêu?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" y="4187952"/>
            <a:ext cx="1591056" cy="329184"/>
          </a:xfrm>
          <a:prstGeom prst="roundRect">
            <a:avLst/>
          </a:prstGeom>
          <a:solidFill>
            <a:srgbClr val="59DD92"/>
          </a:solidFill>
          <a:ln w="12700">
            <a:solidFill>
              <a:srgbClr val="59D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4238244"/>
            <a:ext cx="149961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1" i="0">
                <a:solidFill>
                  <a:srgbClr val="F4F8FF"/>
                </a:solidFill>
                <a:latin typeface="Noto Sans"/>
              </a:rPr>
              <a:t>mọi điểm / lớp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52544" y="1801368"/>
            <a:ext cx="3493008" cy="3182112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81144" y="2011680"/>
            <a:ext cx="1005840" cy="3566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 i="0">
                <a:solidFill>
                  <a:srgbClr val="26D0CE"/>
                </a:solidFill>
                <a:latin typeface="DejaVu Sans Mono"/>
              </a:rPr>
              <a:t>L_box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144" y="2578608"/>
            <a:ext cx="30175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 i="0">
                <a:solidFill>
                  <a:srgbClr val="F4F8FF"/>
                </a:solidFill>
                <a:latin typeface="Noto Sans"/>
              </a:rPr>
              <a:t>1 − CIoU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1144" y="3182112"/>
            <a:ext cx="299008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9DB1CA"/>
                </a:solidFill>
                <a:latin typeface="Noto Sans"/>
              </a:rPr>
              <a:t>Box lệch vị trí, tỉ lệ, tâm?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81144" y="4187952"/>
            <a:ext cx="1591056" cy="329184"/>
          </a:xfrm>
          <a:prstGeom prst="roundRect">
            <a:avLst/>
          </a:prstGeom>
          <a:solidFill>
            <a:srgbClr val="26D0CE"/>
          </a:solidFill>
          <a:ln w="12700">
            <a:solidFill>
              <a:srgbClr val="26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26864" y="4238244"/>
            <a:ext cx="149961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1" i="0">
                <a:solidFill>
                  <a:srgbClr val="F4F8FF"/>
                </a:solidFill>
                <a:latin typeface="Noto Sans"/>
              </a:rPr>
              <a:t>positive points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28431" y="1801368"/>
            <a:ext cx="3493008" cy="3182112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7031" y="2011680"/>
            <a:ext cx="1005840" cy="3566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 i="0">
                <a:solidFill>
                  <a:srgbClr val="FF844A"/>
                </a:solidFill>
                <a:latin typeface="DejaVu Sans Mono"/>
              </a:rPr>
              <a:t>L_dfl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031" y="2578608"/>
            <a:ext cx="30175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 i="0">
                <a:solidFill>
                  <a:srgbClr val="F4F8FF"/>
                </a:solidFill>
                <a:latin typeface="Noto Sans"/>
              </a:rPr>
              <a:t>Distribution Focal Loss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7031" y="3182112"/>
            <a:ext cx="299008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9DB1CA"/>
                </a:solidFill>
                <a:latin typeface="Noto Sans"/>
              </a:rPr>
              <a:t>Phân phối 16 bins lệch bao nhiêu?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57031" y="4187952"/>
            <a:ext cx="1591056" cy="329184"/>
          </a:xfrm>
          <a:prstGeom prst="roundRect">
            <a:avLst/>
          </a:prstGeom>
          <a:solidFill>
            <a:srgbClr val="FF844A"/>
          </a:solidFill>
          <a:ln w="12700">
            <a:solidFill>
              <a:srgbClr val="FF8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2752" y="4238244"/>
            <a:ext cx="149961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1" i="0">
                <a:solidFill>
                  <a:srgbClr val="F4F8FF"/>
                </a:solidFill>
                <a:latin typeface="Noto Sans"/>
              </a:rPr>
              <a:t>positive points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554480" y="5358384"/>
            <a:ext cx="9070848" cy="658368"/>
          </a:xfrm>
          <a:prstGeom prst="round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554480" y="5358384"/>
            <a:ext cx="45720" cy="658368"/>
          </a:xfrm>
          <a:prstGeom prst="roundRect">
            <a:avLst/>
          </a:prstGeom>
          <a:solidFill>
            <a:srgbClr val="FFBE48"/>
          </a:solidFill>
          <a:ln w="12700">
            <a:solidFill>
              <a:srgbClr val="FFB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00784" y="5449824"/>
            <a:ext cx="8814816" cy="4937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600" b="1" i="0">
                <a:solidFill>
                  <a:srgbClr val="F4F8FF"/>
                </a:solidFill>
                <a:latin typeface="DejaVu Sans Mono"/>
              </a:rPr>
              <a:t>L_total = λ_box·L_box + λ_cls·L_cls + λ_dfl·L_dfl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" y="6217920"/>
            <a:ext cx="1010412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50" b="1" i="0">
                <a:solidFill>
                  <a:srgbClr val="9DB1CA"/>
                </a:solidFill>
                <a:latin typeface="Noto Sans"/>
              </a:rPr>
              <a:t>Loss chỉ dùng khi train. Khi inference, model chỉ forward → decode → threshold → NMS.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881360" y="-292608"/>
            <a:ext cx="1600200" cy="896112"/>
          </a:xfrm>
          <a:prstGeom prst="roundRect">
            <a:avLst/>
          </a:prstGeom>
          <a:solidFill>
            <a:srgbClr val="26D0CE"/>
          </a:solidFill>
          <a:ln w="12700">
            <a:solidFill>
              <a:srgbClr val="26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384048" y="6345936"/>
            <a:ext cx="1920240" cy="804672"/>
          </a:xfrm>
          <a:prstGeom prst="roundRect">
            <a:avLst/>
          </a:prstGeom>
          <a:solidFill>
            <a:srgbClr val="9B7EFF"/>
          </a:solidFill>
          <a:ln w="12700">
            <a:solidFill>
              <a:srgbClr val="9B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749807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26D0CE"/>
                </a:solidFill>
                <a:latin typeface="Noto Sans"/>
              </a:rPr>
              <a:t>17 · HỌC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2648"/>
            <a:ext cx="106984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F4F8FF"/>
                </a:solidFill>
                <a:latin typeface="Noto Sans"/>
              </a:rPr>
              <a:t>Backpropagation biến lỗi cuối thành thay đổi ở từng kernel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27664" y="356616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9DB1CA"/>
                </a:solidFill>
                <a:latin typeface="Noto Sans"/>
              </a:rPr>
              <a:t>19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10899648" cy="15240"/>
          </a:xfrm>
          <a:prstGeom prst="rect">
            <a:avLst/>
          </a:prstGeom>
          <a:solidFill>
            <a:srgbClr val="344B66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78440" y="6492240"/>
            <a:ext cx="1152144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1" i="0">
                <a:solidFill>
                  <a:srgbClr val="9DB1CA"/>
                </a:solidFill>
                <a:latin typeface="Noto Sans"/>
              </a:rPr>
              <a:t>PIXEL → YOLOv8  · 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1865376"/>
            <a:ext cx="1892807" cy="1371600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112264"/>
            <a:ext cx="1600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26D0CE"/>
                </a:solidFill>
                <a:latin typeface="Noto Sans"/>
              </a:rPr>
              <a:t>Forward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633472"/>
            <a:ext cx="1600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20" b="1" i="0">
                <a:solidFill>
                  <a:srgbClr val="F4F8FF"/>
                </a:solidFill>
                <a:latin typeface="DejaVu Sans Mono"/>
              </a:rPr>
              <a:t>X → ŷ</a:t>
            </a:r>
          </a:p>
        </p:txBody>
      </p:sp>
      <p:sp>
        <p:nvSpPr>
          <p:cNvPr id="12" name="Chevron 11"/>
          <p:cNvSpPr/>
          <p:nvPr/>
        </p:nvSpPr>
        <p:spPr>
          <a:xfrm>
            <a:off x="2542032" y="2313432"/>
            <a:ext cx="310896" cy="438912"/>
          </a:xfrm>
          <a:prstGeom prst="chevron">
            <a:avLst/>
          </a:prstGeom>
          <a:solidFill>
            <a:srgbClr val="344B66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26080" y="1865376"/>
            <a:ext cx="1892807" cy="1371600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72384" y="2112264"/>
            <a:ext cx="1600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FF5B6F"/>
                </a:solidFill>
                <a:latin typeface="Noto Sans"/>
              </a:rPr>
              <a:t>Loss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72384" y="2633472"/>
            <a:ext cx="1600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20" b="1" i="0">
                <a:solidFill>
                  <a:srgbClr val="F4F8FF"/>
                </a:solidFill>
                <a:latin typeface="DejaVu Sans Mono"/>
              </a:rPr>
              <a:t>L(ŷ,y)</a:t>
            </a:r>
          </a:p>
        </p:txBody>
      </p:sp>
      <p:sp>
        <p:nvSpPr>
          <p:cNvPr id="16" name="Chevron 15"/>
          <p:cNvSpPr/>
          <p:nvPr/>
        </p:nvSpPr>
        <p:spPr>
          <a:xfrm>
            <a:off x="4864608" y="2313432"/>
            <a:ext cx="310896" cy="438912"/>
          </a:xfrm>
          <a:prstGeom prst="chevron">
            <a:avLst/>
          </a:prstGeom>
          <a:solidFill>
            <a:srgbClr val="344B66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248656" y="1865376"/>
            <a:ext cx="1892807" cy="1371600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60" y="2112264"/>
            <a:ext cx="1600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9B7EFF"/>
                </a:solidFill>
                <a:latin typeface="Noto Sans"/>
              </a:rPr>
              <a:t>Gradient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2633472"/>
            <a:ext cx="1600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20" b="1" i="0">
                <a:solidFill>
                  <a:srgbClr val="F4F8FF"/>
                </a:solidFill>
                <a:latin typeface="DejaVu Sans Mono"/>
              </a:rPr>
              <a:t>∂L/∂W</a:t>
            </a:r>
          </a:p>
        </p:txBody>
      </p:sp>
      <p:sp>
        <p:nvSpPr>
          <p:cNvPr id="20" name="Chevron 19"/>
          <p:cNvSpPr/>
          <p:nvPr/>
        </p:nvSpPr>
        <p:spPr>
          <a:xfrm>
            <a:off x="7187184" y="2313432"/>
            <a:ext cx="310896" cy="438912"/>
          </a:xfrm>
          <a:prstGeom prst="chevron">
            <a:avLst/>
          </a:prstGeom>
          <a:solidFill>
            <a:srgbClr val="344B66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571232" y="1865376"/>
            <a:ext cx="1892807" cy="1371600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17536" y="2112264"/>
            <a:ext cx="1600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FFBE48"/>
                </a:solidFill>
                <a:latin typeface="Noto Sans"/>
              </a:rPr>
              <a:t>Optimizer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17536" y="2633472"/>
            <a:ext cx="1600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20" b="1" i="0">
                <a:solidFill>
                  <a:srgbClr val="F4F8FF"/>
                </a:solidFill>
                <a:latin typeface="DejaVu Sans Mono"/>
              </a:rPr>
              <a:t>W ← W − η·g</a:t>
            </a:r>
          </a:p>
        </p:txBody>
      </p:sp>
      <p:sp>
        <p:nvSpPr>
          <p:cNvPr id="24" name="Chevron 23"/>
          <p:cNvSpPr/>
          <p:nvPr/>
        </p:nvSpPr>
        <p:spPr>
          <a:xfrm>
            <a:off x="9509760" y="2313432"/>
            <a:ext cx="310896" cy="438912"/>
          </a:xfrm>
          <a:prstGeom prst="chevron">
            <a:avLst/>
          </a:prstGeom>
          <a:solidFill>
            <a:srgbClr val="344B66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893808" y="1865376"/>
            <a:ext cx="1892807" cy="1371600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40112" y="2112264"/>
            <a:ext cx="1600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59DD92"/>
                </a:solidFill>
                <a:latin typeface="Noto Sans"/>
              </a:rPr>
              <a:t>Lặp lại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40112" y="2633472"/>
            <a:ext cx="1600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20" b="1" i="0">
                <a:solidFill>
                  <a:srgbClr val="F4F8FF"/>
                </a:solidFill>
                <a:latin typeface="DejaVu Sans Mono"/>
              </a:rPr>
              <a:t>nhiều batch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36192" y="3959352"/>
            <a:ext cx="9290304" cy="27940"/>
          </a:xfrm>
          <a:prstGeom prst="rect">
            <a:avLst/>
          </a:prstGeom>
          <a:solidFill>
            <a:srgbClr val="9B7EFF"/>
          </a:solidFill>
          <a:ln w="12700">
            <a:solidFill>
              <a:srgbClr val="9B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Left Arrow 28"/>
          <p:cNvSpPr/>
          <p:nvPr/>
        </p:nvSpPr>
        <p:spPr>
          <a:xfrm>
            <a:off x="896112" y="3730752"/>
            <a:ext cx="566928" cy="502920"/>
          </a:xfrm>
          <a:prstGeom prst="leftArrow">
            <a:avLst/>
          </a:prstGeom>
          <a:solidFill>
            <a:srgbClr val="9B7EFF"/>
          </a:solidFill>
          <a:ln w="12700">
            <a:solidFill>
              <a:srgbClr val="9B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95928" y="4142232"/>
            <a:ext cx="418795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9B7EFF"/>
                </a:solidFill>
                <a:latin typeface="Noto Sans"/>
              </a:rPr>
              <a:t>gradient đi ngược qua chain rule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956816" y="4718304"/>
            <a:ext cx="8266175" cy="640080"/>
          </a:xfrm>
          <a:prstGeom prst="round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956816" y="4718304"/>
            <a:ext cx="45720" cy="640080"/>
          </a:xfrm>
          <a:prstGeom prst="roundRect">
            <a:avLst/>
          </a:prstGeom>
          <a:solidFill>
            <a:srgbClr val="9B7EFF"/>
          </a:solidFill>
          <a:ln w="12700">
            <a:solidFill>
              <a:srgbClr val="9B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03120" y="4809744"/>
            <a:ext cx="8010144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 i="0">
                <a:solidFill>
                  <a:srgbClr val="F4F8FF"/>
                </a:solidFill>
                <a:latin typeface="DejaVu Sans Mono"/>
              </a:rPr>
              <a:t>∂L/∂W₁ = ∂L/∂ŷ · ∂ŷ/∂hₙ · … · ∂h₁/∂W₁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705856"/>
            <a:ext cx="10222992" cy="512064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320" b="0">
                <a:solidFill>
                  <a:srgbClr val="9DB1CA"/>
                </a:solidFill>
                <a:latin typeface="Noto Sans"/>
              </a:rPr>
              <a:t>Một kernel không được lập trình để tìm “cạnh quả”. </a:t>
            </a:r>
            <a:r>
              <a:rPr sz="1320" b="1">
                <a:solidFill>
                  <a:srgbClr val="59DD92"/>
                </a:solidFill>
                <a:latin typeface="Noto Sans"/>
              </a:rPr>
              <a:t>Nó trở thành hữu ích vì các cập nhật gradient lặp đi lặp lại làm loss giảm.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881360" y="-292608"/>
            <a:ext cx="1600200" cy="896112"/>
          </a:xfrm>
          <a:prstGeom prst="roundRect">
            <a:avLst/>
          </a:prstGeom>
          <a:solidFill>
            <a:srgbClr val="26D0CE"/>
          </a:solidFill>
          <a:ln w="12700">
            <a:solidFill>
              <a:srgbClr val="26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384048" y="6345936"/>
            <a:ext cx="1920240" cy="804672"/>
          </a:xfrm>
          <a:prstGeom prst="roundRect">
            <a:avLst/>
          </a:prstGeom>
          <a:solidFill>
            <a:srgbClr val="9B7EFF"/>
          </a:solidFill>
          <a:ln w="12700">
            <a:solidFill>
              <a:srgbClr val="9B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749807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26D0CE"/>
                </a:solidFill>
                <a:latin typeface="Noto Sans"/>
              </a:rPr>
              <a:t>18 · SUY LUẬN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2648"/>
            <a:ext cx="106984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F4F8FF"/>
                </a:solidFill>
                <a:latin typeface="Noto Sans"/>
              </a:rPr>
              <a:t>Từ 8.400 điểm đến vài detection cuối cùng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27664" y="356616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9DB1CA"/>
                </a:solidFill>
                <a:latin typeface="Noto Sans"/>
              </a:rPr>
              <a:t>20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10899648" cy="15240"/>
          </a:xfrm>
          <a:prstGeom prst="rect">
            <a:avLst/>
          </a:prstGeom>
          <a:solidFill>
            <a:srgbClr val="344B66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9966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9DB1CA"/>
                </a:solidFill>
                <a:latin typeface="Noto Sans"/>
              </a:rPr>
              <a:t>Nguồn: Ultralytics prediction post-processing; IoU/NMS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78440" y="6492240"/>
            <a:ext cx="1152144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1" i="0">
                <a:solidFill>
                  <a:srgbClr val="9DB1CA"/>
                </a:solidFill>
                <a:latin typeface="Noto Sans"/>
              </a:rPr>
              <a:t>PIXEL → YOLOv8  ·  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" y="1737360"/>
            <a:ext cx="1618488" cy="1188720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" y="1984248"/>
            <a:ext cx="143560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50" b="1" i="0">
                <a:solidFill>
                  <a:srgbClr val="26D0CE"/>
                </a:solidFill>
                <a:latin typeface="Noto Sans"/>
              </a:rPr>
              <a:t>8.400 điểm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" y="2468880"/>
            <a:ext cx="143560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19" b="0" i="0">
                <a:solidFill>
                  <a:srgbClr val="9DB1CA"/>
                </a:solidFill>
                <a:latin typeface="Noto Sans"/>
              </a:rPr>
              <a:t>box + 7 scores</a:t>
            </a:r>
          </a:p>
        </p:txBody>
      </p:sp>
      <p:sp>
        <p:nvSpPr>
          <p:cNvPr id="13" name="Chevron 12"/>
          <p:cNvSpPr/>
          <p:nvPr/>
        </p:nvSpPr>
        <p:spPr>
          <a:xfrm>
            <a:off x="2103120" y="2139696"/>
            <a:ext cx="256032" cy="393192"/>
          </a:xfrm>
          <a:prstGeom prst="chevron">
            <a:avLst/>
          </a:prstGeom>
          <a:solidFill>
            <a:srgbClr val="344B66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377439" y="1737360"/>
            <a:ext cx="1618488" cy="1188720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68879" y="1984248"/>
            <a:ext cx="143560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50" b="1" i="0">
                <a:solidFill>
                  <a:srgbClr val="59DD92"/>
                </a:solidFill>
                <a:latin typeface="Noto Sans"/>
              </a:rPr>
              <a:t>Sigmoid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79" y="2468880"/>
            <a:ext cx="143560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19" b="0" i="0">
                <a:solidFill>
                  <a:srgbClr val="9DB1CA"/>
                </a:solidFill>
                <a:latin typeface="Noto Sans"/>
              </a:rPr>
              <a:t>xác suất lớp</a:t>
            </a:r>
          </a:p>
        </p:txBody>
      </p:sp>
      <p:sp>
        <p:nvSpPr>
          <p:cNvPr id="17" name="Chevron 16"/>
          <p:cNvSpPr/>
          <p:nvPr/>
        </p:nvSpPr>
        <p:spPr>
          <a:xfrm>
            <a:off x="4032504" y="2139696"/>
            <a:ext cx="256032" cy="393192"/>
          </a:xfrm>
          <a:prstGeom prst="chevron">
            <a:avLst/>
          </a:prstGeom>
          <a:solidFill>
            <a:srgbClr val="344B66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06823" y="1737360"/>
            <a:ext cx="1618488" cy="1188720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98263" y="1984248"/>
            <a:ext cx="143560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50" b="1" i="0">
                <a:solidFill>
                  <a:srgbClr val="FFBE48"/>
                </a:solidFill>
                <a:latin typeface="Noto Sans"/>
              </a:rPr>
              <a:t>Threshold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98263" y="2468880"/>
            <a:ext cx="143560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19" b="0" i="0">
                <a:solidFill>
                  <a:srgbClr val="9DB1CA"/>
                </a:solidFill>
                <a:latin typeface="Noto Sans"/>
              </a:rPr>
              <a:t>bỏ score thấp</a:t>
            </a:r>
          </a:p>
        </p:txBody>
      </p:sp>
      <p:sp>
        <p:nvSpPr>
          <p:cNvPr id="21" name="Chevron 20"/>
          <p:cNvSpPr/>
          <p:nvPr/>
        </p:nvSpPr>
        <p:spPr>
          <a:xfrm>
            <a:off x="5961888" y="2139696"/>
            <a:ext cx="256032" cy="393192"/>
          </a:xfrm>
          <a:prstGeom prst="chevron">
            <a:avLst/>
          </a:prstGeom>
          <a:solidFill>
            <a:srgbClr val="344B66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36207" y="1737360"/>
            <a:ext cx="1618488" cy="1188720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7647" y="1984248"/>
            <a:ext cx="143560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50" b="1" i="0">
                <a:solidFill>
                  <a:srgbClr val="FF844A"/>
                </a:solidFill>
                <a:latin typeface="Noto Sans"/>
              </a:rPr>
              <a:t>Sort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7" y="2468880"/>
            <a:ext cx="143560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19" b="0" i="0">
                <a:solidFill>
                  <a:srgbClr val="9DB1CA"/>
                </a:solidFill>
                <a:latin typeface="Noto Sans"/>
              </a:rPr>
              <a:t>cao → thấp</a:t>
            </a:r>
          </a:p>
        </p:txBody>
      </p:sp>
      <p:sp>
        <p:nvSpPr>
          <p:cNvPr id="25" name="Chevron 24"/>
          <p:cNvSpPr/>
          <p:nvPr/>
        </p:nvSpPr>
        <p:spPr>
          <a:xfrm>
            <a:off x="7891271" y="2139696"/>
            <a:ext cx="256032" cy="393192"/>
          </a:xfrm>
          <a:prstGeom prst="chevron">
            <a:avLst/>
          </a:prstGeom>
          <a:solidFill>
            <a:srgbClr val="344B66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165591" y="1737360"/>
            <a:ext cx="1618488" cy="1188720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1" y="1984248"/>
            <a:ext cx="143560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50" b="1" i="0">
                <a:solidFill>
                  <a:srgbClr val="9B7EFF"/>
                </a:solidFill>
                <a:latin typeface="Noto Sans"/>
              </a:rPr>
              <a:t>NMS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7031" y="2468880"/>
            <a:ext cx="143560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19" b="0" i="0">
                <a:solidFill>
                  <a:srgbClr val="9DB1CA"/>
                </a:solidFill>
                <a:latin typeface="Noto Sans"/>
              </a:rPr>
              <a:t>bỏ box trùng</a:t>
            </a:r>
          </a:p>
        </p:txBody>
      </p:sp>
      <p:sp>
        <p:nvSpPr>
          <p:cNvPr id="29" name="Chevron 28"/>
          <p:cNvSpPr/>
          <p:nvPr/>
        </p:nvSpPr>
        <p:spPr>
          <a:xfrm>
            <a:off x="9820655" y="2139696"/>
            <a:ext cx="256032" cy="393192"/>
          </a:xfrm>
          <a:prstGeom prst="chevron">
            <a:avLst/>
          </a:prstGeom>
          <a:solidFill>
            <a:srgbClr val="344B66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094975" y="1737360"/>
            <a:ext cx="1618488" cy="1188720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86415" y="1984248"/>
            <a:ext cx="143560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50" b="1" i="0">
                <a:solidFill>
                  <a:srgbClr val="FF5B6F"/>
                </a:solidFill>
                <a:latin typeface="Noto Sans"/>
              </a:rPr>
              <a:t>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86415" y="2468880"/>
            <a:ext cx="143560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19" b="0" i="0">
                <a:solidFill>
                  <a:srgbClr val="9DB1CA"/>
                </a:solidFill>
                <a:latin typeface="Noto Sans"/>
              </a:rPr>
              <a:t>xyxy + class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3429000"/>
            <a:ext cx="4681728" cy="2450592"/>
          </a:xfrm>
          <a:prstGeom prst="round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276856" y="4005072"/>
            <a:ext cx="1005840" cy="1005840"/>
          </a:xfrm>
          <a:prstGeom prst="ellipse">
            <a:avLst/>
          </a:prstGeom>
          <a:solidFill>
            <a:srgbClr val="FF844A"/>
          </a:solidFill>
          <a:ln w="12700">
            <a:solidFill>
              <a:srgbClr val="FF8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18488" y="3703320"/>
            <a:ext cx="2267712" cy="1664208"/>
          </a:xfrm>
          <a:prstGeom prst="rect">
            <a:avLst/>
          </a:prstGeom>
          <a:noFill/>
          <a:ln w="38100">
            <a:solidFill>
              <a:srgbClr val="59D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773936" y="3822191"/>
            <a:ext cx="2267712" cy="1664208"/>
          </a:xfrm>
          <a:prstGeom prst="rect">
            <a:avLst/>
          </a:prstGeom>
          <a:noFill/>
          <a:ln w="25400">
            <a:solidFill>
              <a:srgbClr val="26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984248" y="3675887"/>
            <a:ext cx="2267712" cy="1664208"/>
          </a:xfrm>
          <a:prstGeom prst="rect">
            <a:avLst/>
          </a:prstGeom>
          <a:noFill/>
          <a:ln w="25400">
            <a:solidFill>
              <a:srgbClr val="9B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618488" y="3438144"/>
            <a:ext cx="658368" cy="329184"/>
          </a:xfrm>
          <a:prstGeom prst="roundRect">
            <a:avLst/>
          </a:prstGeom>
          <a:solidFill>
            <a:srgbClr val="59DD92"/>
          </a:solidFill>
          <a:ln w="12700">
            <a:solidFill>
              <a:srgbClr val="59D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664208" y="3488436"/>
            <a:ext cx="56692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1" i="0">
                <a:solidFill>
                  <a:srgbClr val="F4F8FF"/>
                </a:solidFill>
                <a:latin typeface="Noto Sans"/>
              </a:rPr>
              <a:t>0.93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414016" y="3438144"/>
            <a:ext cx="658368" cy="329184"/>
          </a:xfrm>
          <a:prstGeom prst="roundRect">
            <a:avLst/>
          </a:prstGeom>
          <a:solidFill>
            <a:srgbClr val="26D0CE"/>
          </a:solidFill>
          <a:ln w="12700">
            <a:solidFill>
              <a:srgbClr val="26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459736" y="3488436"/>
            <a:ext cx="56692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1" i="0">
                <a:solidFill>
                  <a:srgbClr val="F4F8FF"/>
                </a:solidFill>
                <a:latin typeface="Noto Sans"/>
              </a:rPr>
              <a:t>0.88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209544" y="3438144"/>
            <a:ext cx="658368" cy="329184"/>
          </a:xfrm>
          <a:prstGeom prst="roundRect">
            <a:avLst/>
          </a:prstGeom>
          <a:solidFill>
            <a:srgbClr val="9B7EFF"/>
          </a:solidFill>
          <a:ln w="12700">
            <a:solidFill>
              <a:srgbClr val="9B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55263" y="3488436"/>
            <a:ext cx="56692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1" i="0">
                <a:solidFill>
                  <a:srgbClr val="F4F8FF"/>
                </a:solidFill>
                <a:latin typeface="Noto Sans"/>
              </a:rPr>
              <a:t>0.74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80160" y="5532120"/>
            <a:ext cx="35661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 i="0">
                <a:solidFill>
                  <a:srgbClr val="9DB1CA"/>
                </a:solidFill>
                <a:latin typeface="Noto Sans"/>
              </a:rPr>
              <a:t>3 box cùng mô tả một quả</a:t>
            </a:r>
          </a:p>
        </p:txBody>
      </p:sp>
      <p:sp>
        <p:nvSpPr>
          <p:cNvPr id="45" name="Chevron 44"/>
          <p:cNvSpPr/>
          <p:nvPr/>
        </p:nvSpPr>
        <p:spPr>
          <a:xfrm>
            <a:off x="5696712" y="4261104"/>
            <a:ext cx="621792" cy="594360"/>
          </a:xfrm>
          <a:prstGeom prst="chevron">
            <a:avLst/>
          </a:prstGeom>
          <a:solidFill>
            <a:srgbClr val="9B7EFF"/>
          </a:solidFill>
          <a:ln w="12700">
            <a:solidFill>
              <a:srgbClr val="9B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675120" y="3429000"/>
            <a:ext cx="4681728" cy="2450592"/>
          </a:xfrm>
          <a:prstGeom prst="round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458200" y="4005072"/>
            <a:ext cx="1005840" cy="1005840"/>
          </a:xfrm>
          <a:prstGeom prst="ellipse">
            <a:avLst/>
          </a:prstGeom>
          <a:solidFill>
            <a:srgbClr val="FF844A"/>
          </a:solidFill>
          <a:ln w="12700">
            <a:solidFill>
              <a:srgbClr val="FF8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9831" y="3703320"/>
            <a:ext cx="2267712" cy="1664208"/>
          </a:xfrm>
          <a:prstGeom prst="rect">
            <a:avLst/>
          </a:prstGeom>
          <a:noFill/>
          <a:ln w="38100">
            <a:solidFill>
              <a:srgbClr val="59D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7799831" y="3438144"/>
            <a:ext cx="1353312" cy="329184"/>
          </a:xfrm>
          <a:prstGeom prst="roundRect">
            <a:avLst/>
          </a:prstGeom>
          <a:solidFill>
            <a:srgbClr val="59DD92"/>
          </a:solidFill>
          <a:ln w="12700">
            <a:solidFill>
              <a:srgbClr val="59D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45552" y="3488436"/>
            <a:ext cx="126187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1" i="0">
                <a:solidFill>
                  <a:srgbClr val="F4F8FF"/>
                </a:solidFill>
                <a:latin typeface="Noto Sans"/>
              </a:rPr>
              <a:t>MANGO 0.93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59752" y="5504688"/>
            <a:ext cx="373075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80" b="1" i="0">
                <a:solidFill>
                  <a:srgbClr val="9DB1CA"/>
                </a:solidFill>
                <a:latin typeface="Noto Sans"/>
              </a:rPr>
              <a:t>giữ box score cao nhất; loại box cùng lớp có IoU lớn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383280" y="6080760"/>
            <a:ext cx="5422392" cy="475488"/>
          </a:xfrm>
          <a:prstGeom prst="round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3383280" y="6080760"/>
            <a:ext cx="45720" cy="475488"/>
          </a:xfrm>
          <a:prstGeom prst="roundRect">
            <a:avLst/>
          </a:prstGeom>
          <a:solidFill>
            <a:srgbClr val="9B7EFF"/>
          </a:solidFill>
          <a:ln w="12700">
            <a:solidFill>
              <a:srgbClr val="9B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529584" y="6172200"/>
            <a:ext cx="5166359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F4F8FF"/>
                </a:solidFill>
                <a:latin typeface="DejaVu Sans Mono"/>
              </a:rPr>
              <a:t>IoU(A,B) = area(A∩B) / area(A∪B)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881360" y="-292608"/>
            <a:ext cx="1600200" cy="896112"/>
          </a:xfrm>
          <a:prstGeom prst="roundRect">
            <a:avLst/>
          </a:prstGeom>
          <a:solidFill>
            <a:srgbClr val="26D0CE"/>
          </a:solidFill>
          <a:ln w="12700">
            <a:solidFill>
              <a:srgbClr val="26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384048" y="6345936"/>
            <a:ext cx="1920240" cy="804672"/>
          </a:xfrm>
          <a:prstGeom prst="roundRect">
            <a:avLst/>
          </a:prstGeom>
          <a:solidFill>
            <a:srgbClr val="9B7EFF"/>
          </a:solidFill>
          <a:ln w="12700">
            <a:solidFill>
              <a:srgbClr val="9B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749807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26D0CE"/>
                </a:solidFill>
                <a:latin typeface="Noto Sans"/>
              </a:rPr>
              <a:t>19 · TỔNG HỢP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2648"/>
            <a:ext cx="106984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F4F8FF"/>
                </a:solidFill>
                <a:latin typeface="Noto Sans"/>
              </a:rPr>
              <a:t>Theo dấu một quả xoài từ pixel đến kết quả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27664" y="356616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9DB1CA"/>
                </a:solidFill>
                <a:latin typeface="Noto Sans"/>
              </a:rPr>
              <a:t>21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10899648" cy="15240"/>
          </a:xfrm>
          <a:prstGeom prst="rect">
            <a:avLst/>
          </a:prstGeom>
          <a:solidFill>
            <a:srgbClr val="344B66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78440" y="6492240"/>
            <a:ext cx="1152144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1" i="0">
                <a:solidFill>
                  <a:srgbClr val="9DB1CA"/>
                </a:solidFill>
                <a:latin typeface="Noto Sans"/>
              </a:rPr>
              <a:t>PIXEL → YOLOv8  ·  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46504"/>
            <a:ext cx="2331720" cy="1298448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59" y="1911095"/>
            <a:ext cx="384048" cy="384048"/>
          </a:xfrm>
          <a:prstGeom prst="ellipse">
            <a:avLst/>
          </a:prstGeom>
          <a:solidFill>
            <a:srgbClr val="FF5B6F"/>
          </a:solidFill>
          <a:ln w="12700">
            <a:solidFill>
              <a:srgbClr val="FF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993391"/>
            <a:ext cx="384048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1" i="0">
                <a:solidFill>
                  <a:srgbClr val="08101E"/>
                </a:solidFill>
                <a:latin typeface="Noto San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1920240"/>
            <a:ext cx="140817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F4F8FF"/>
                </a:solidFill>
                <a:latin typeface="Noto Sans"/>
              </a:rPr>
              <a:t>Pixel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60" b="1" i="0">
                <a:solidFill>
                  <a:srgbClr val="FF5B6F"/>
                </a:solidFill>
                <a:latin typeface="DejaVu Sans Mono"/>
              </a:rPr>
              <a:t>[214,98,37]</a:t>
            </a:r>
          </a:p>
        </p:txBody>
      </p:sp>
      <p:sp>
        <p:nvSpPr>
          <p:cNvPr id="14" name="Chevron 13"/>
          <p:cNvSpPr/>
          <p:nvPr/>
        </p:nvSpPr>
        <p:spPr>
          <a:xfrm>
            <a:off x="3054096" y="2139696"/>
            <a:ext cx="320040" cy="438912"/>
          </a:xfrm>
          <a:prstGeom prst="chevron">
            <a:avLst/>
          </a:prstGeom>
          <a:solidFill>
            <a:srgbClr val="344B66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74720" y="1746504"/>
            <a:ext cx="2331720" cy="1298448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39312" y="1911095"/>
            <a:ext cx="384048" cy="384048"/>
          </a:xfrm>
          <a:prstGeom prst="ellipse">
            <a:avLst/>
          </a:prstGeom>
          <a:solidFill>
            <a:srgbClr val="FF844A"/>
          </a:solidFill>
          <a:ln w="12700">
            <a:solidFill>
              <a:srgbClr val="FF8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39312" y="1993391"/>
            <a:ext cx="384048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1" i="0">
                <a:solidFill>
                  <a:srgbClr val="08101E"/>
                </a:solidFill>
                <a:latin typeface="Noto San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9663" y="1920240"/>
            <a:ext cx="140817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F4F8FF"/>
                </a:solidFill>
                <a:latin typeface="Noto Sans"/>
              </a:rPr>
              <a:t>Normalize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514600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60" b="1" i="0">
                <a:solidFill>
                  <a:srgbClr val="FF844A"/>
                </a:solidFill>
                <a:latin typeface="DejaVu Sans Mono"/>
              </a:rPr>
              <a:t>[.839,.384,.145]</a:t>
            </a:r>
          </a:p>
        </p:txBody>
      </p:sp>
      <p:sp>
        <p:nvSpPr>
          <p:cNvPr id="20" name="Chevron 19"/>
          <p:cNvSpPr/>
          <p:nvPr/>
        </p:nvSpPr>
        <p:spPr>
          <a:xfrm>
            <a:off x="5870448" y="2139696"/>
            <a:ext cx="320040" cy="438912"/>
          </a:xfrm>
          <a:prstGeom prst="chevron">
            <a:avLst/>
          </a:prstGeom>
          <a:solidFill>
            <a:srgbClr val="344B66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91072" y="1746504"/>
            <a:ext cx="2331720" cy="1298448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55664" y="1911095"/>
            <a:ext cx="384048" cy="384048"/>
          </a:xfrm>
          <a:prstGeom prst="ellipse">
            <a:avLst/>
          </a:prstGeom>
          <a:solidFill>
            <a:srgbClr val="FFBE48"/>
          </a:solidFill>
          <a:ln w="12700">
            <a:solidFill>
              <a:srgbClr val="FFB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55664" y="1993391"/>
            <a:ext cx="384048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1" i="0">
                <a:solidFill>
                  <a:srgbClr val="08101E"/>
                </a:solidFill>
                <a:latin typeface="Noto San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1920240"/>
            <a:ext cx="140817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F4F8FF"/>
                </a:solidFill>
                <a:latin typeface="Noto Sans"/>
              </a:rPr>
              <a:t>Conv/C2f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2514600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60" b="1" i="0">
                <a:solidFill>
                  <a:srgbClr val="FFBE48"/>
                </a:solidFill>
                <a:latin typeface="DejaVu Sans Mono"/>
              </a:rPr>
              <a:t>feature patterns</a:t>
            </a:r>
          </a:p>
        </p:txBody>
      </p:sp>
      <p:sp>
        <p:nvSpPr>
          <p:cNvPr id="26" name="Chevron 25"/>
          <p:cNvSpPr/>
          <p:nvPr/>
        </p:nvSpPr>
        <p:spPr>
          <a:xfrm>
            <a:off x="8686800" y="2139696"/>
            <a:ext cx="320040" cy="438912"/>
          </a:xfrm>
          <a:prstGeom prst="chevron">
            <a:avLst/>
          </a:prstGeom>
          <a:solidFill>
            <a:srgbClr val="344B66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07424" y="1746504"/>
            <a:ext cx="2331720" cy="1298448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272016" y="1911095"/>
            <a:ext cx="384048" cy="384048"/>
          </a:xfrm>
          <a:prstGeom prst="ellipse">
            <a:avLst/>
          </a:prstGeom>
          <a:solidFill>
            <a:srgbClr val="59DD92"/>
          </a:solidFill>
          <a:ln w="12700">
            <a:solidFill>
              <a:srgbClr val="59D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72016" y="1993391"/>
            <a:ext cx="384048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1" i="0">
                <a:solidFill>
                  <a:srgbClr val="08101E"/>
                </a:solidFill>
                <a:latin typeface="Noto San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02368" y="1920240"/>
            <a:ext cx="140817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F4F8FF"/>
                </a:solidFill>
                <a:latin typeface="Noto Sans"/>
              </a:rPr>
              <a:t>P3/P4/P5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90304" y="2514600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60" b="1" i="0">
                <a:solidFill>
                  <a:srgbClr val="59DD92"/>
                </a:solidFill>
                <a:latin typeface="DejaVu Sans Mono"/>
              </a:rPr>
              <a:t>multi-scale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10040112" y="3163824"/>
            <a:ext cx="457200" cy="438912"/>
          </a:xfrm>
          <a:prstGeom prst="downArrow">
            <a:avLst/>
          </a:prstGeom>
          <a:solidFill>
            <a:srgbClr val="344B66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107424" y="3895344"/>
            <a:ext cx="2331720" cy="1298448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272016" y="4059935"/>
            <a:ext cx="384048" cy="384048"/>
          </a:xfrm>
          <a:prstGeom prst="ellipse">
            <a:avLst/>
          </a:prstGeom>
          <a:solidFill>
            <a:srgbClr val="26D0CE"/>
          </a:solidFill>
          <a:ln w="12700">
            <a:solidFill>
              <a:srgbClr val="26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72016" y="4142231"/>
            <a:ext cx="384048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1" i="0">
                <a:solidFill>
                  <a:srgbClr val="08101E"/>
                </a:solidFill>
                <a:latin typeface="Noto Sans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02368" y="4069080"/>
            <a:ext cx="140817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F4F8FF"/>
                </a:solidFill>
                <a:latin typeface="Noto Sans"/>
              </a:rPr>
              <a:t>Head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90304" y="4663440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60" b="1" i="0">
                <a:solidFill>
                  <a:srgbClr val="26D0CE"/>
                </a:solidFill>
                <a:latin typeface="DejaVu Sans Mono"/>
              </a:rPr>
              <a:t>64 box + 7 cls</a:t>
            </a:r>
          </a:p>
        </p:txBody>
      </p:sp>
      <p:sp>
        <p:nvSpPr>
          <p:cNvPr id="38" name="Left Arrow 37"/>
          <p:cNvSpPr/>
          <p:nvPr/>
        </p:nvSpPr>
        <p:spPr>
          <a:xfrm>
            <a:off x="8686800" y="4288536"/>
            <a:ext cx="320040" cy="438912"/>
          </a:xfrm>
          <a:prstGeom prst="leftArrow">
            <a:avLst/>
          </a:prstGeom>
          <a:solidFill>
            <a:srgbClr val="344B66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291072" y="3895344"/>
            <a:ext cx="2331720" cy="1298448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455664" y="4059935"/>
            <a:ext cx="384048" cy="384048"/>
          </a:xfrm>
          <a:prstGeom prst="ellipse">
            <a:avLst/>
          </a:prstGeom>
          <a:solidFill>
            <a:srgbClr val="4B96FF"/>
          </a:solidFill>
          <a:ln w="12700">
            <a:solidFill>
              <a:srgbClr val="4B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55664" y="4142231"/>
            <a:ext cx="384048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1" i="0">
                <a:solidFill>
                  <a:srgbClr val="08101E"/>
                </a:solidFill>
                <a:latin typeface="Noto Sans"/>
              </a:rPr>
              <a:t>06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86016" y="4069080"/>
            <a:ext cx="140817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F4F8FF"/>
                </a:solidFill>
                <a:latin typeface="Noto Sans"/>
              </a:rPr>
              <a:t>Decode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73952" y="4663440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60" b="1" i="0">
                <a:solidFill>
                  <a:srgbClr val="4B96FF"/>
                </a:solidFill>
                <a:latin typeface="DejaVu Sans Mono"/>
              </a:rPr>
              <a:t>[x₁,y₁,x₂,y₂]</a:t>
            </a:r>
          </a:p>
        </p:txBody>
      </p:sp>
      <p:sp>
        <p:nvSpPr>
          <p:cNvPr id="44" name="Left Arrow 43"/>
          <p:cNvSpPr/>
          <p:nvPr/>
        </p:nvSpPr>
        <p:spPr>
          <a:xfrm>
            <a:off x="5870448" y="4288536"/>
            <a:ext cx="320040" cy="438912"/>
          </a:xfrm>
          <a:prstGeom prst="leftArrow">
            <a:avLst/>
          </a:prstGeom>
          <a:solidFill>
            <a:srgbClr val="344B66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474720" y="3895344"/>
            <a:ext cx="2331720" cy="1298448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639312" y="4059935"/>
            <a:ext cx="384048" cy="384048"/>
          </a:xfrm>
          <a:prstGeom prst="ellipse">
            <a:avLst/>
          </a:prstGeom>
          <a:solidFill>
            <a:srgbClr val="9B7EFF"/>
          </a:solidFill>
          <a:ln w="12700">
            <a:solidFill>
              <a:srgbClr val="9B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39312" y="4142231"/>
            <a:ext cx="384048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1" i="0">
                <a:solidFill>
                  <a:srgbClr val="08101E"/>
                </a:solidFill>
                <a:latin typeface="Noto Sans"/>
              </a:rPr>
              <a:t>07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69663" y="4069080"/>
            <a:ext cx="140817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F4F8FF"/>
                </a:solidFill>
                <a:latin typeface="Noto Sans"/>
              </a:rPr>
              <a:t>Score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0" y="4663440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60" b="1" i="0">
                <a:solidFill>
                  <a:srgbClr val="9B7EFF"/>
                </a:solidFill>
                <a:latin typeface="DejaVu Sans Mono"/>
              </a:rPr>
              <a:t>mango=0.93</a:t>
            </a:r>
          </a:p>
        </p:txBody>
      </p:sp>
      <p:sp>
        <p:nvSpPr>
          <p:cNvPr id="50" name="Left Arrow 49"/>
          <p:cNvSpPr/>
          <p:nvPr/>
        </p:nvSpPr>
        <p:spPr>
          <a:xfrm>
            <a:off x="3054096" y="4288536"/>
            <a:ext cx="320040" cy="438912"/>
          </a:xfrm>
          <a:prstGeom prst="leftArrow">
            <a:avLst/>
          </a:prstGeom>
          <a:solidFill>
            <a:srgbClr val="344B66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58368" y="3895344"/>
            <a:ext cx="2331720" cy="1298448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22959" y="4059935"/>
            <a:ext cx="384048" cy="384048"/>
          </a:xfrm>
          <a:prstGeom prst="ellipse">
            <a:avLst/>
          </a:prstGeom>
          <a:solidFill>
            <a:srgbClr val="FF5B6F"/>
          </a:solidFill>
          <a:ln w="12700">
            <a:solidFill>
              <a:srgbClr val="FF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2959" y="4142231"/>
            <a:ext cx="384048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1" i="0">
                <a:solidFill>
                  <a:srgbClr val="08101E"/>
                </a:solidFill>
                <a:latin typeface="Noto Sans"/>
              </a:rPr>
              <a:t>08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53312" y="4069080"/>
            <a:ext cx="140817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F4F8FF"/>
                </a:solidFill>
                <a:latin typeface="Noto Sans"/>
              </a:rPr>
              <a:t>NMS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7" y="4663440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60" b="1" i="0">
                <a:solidFill>
                  <a:srgbClr val="FF5B6F"/>
                </a:solidFill>
                <a:latin typeface="DejaVu Sans Mono"/>
              </a:rPr>
              <a:t>1 detection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41832" y="5806440"/>
            <a:ext cx="10287000" cy="566928"/>
          </a:xfrm>
          <a:prstGeom prst="roundRect">
            <a:avLst/>
          </a:prstGeom>
          <a:solidFill>
            <a:srgbClr val="0E1B2E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41832" y="5806440"/>
            <a:ext cx="45720" cy="566928"/>
          </a:xfrm>
          <a:prstGeom prst="roundRect">
            <a:avLst/>
          </a:prstGeom>
          <a:solidFill>
            <a:srgbClr val="59DD92"/>
          </a:solidFill>
          <a:ln w="12700">
            <a:solidFill>
              <a:srgbClr val="59D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88136" y="5897879"/>
            <a:ext cx="10030968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 i="0">
                <a:solidFill>
                  <a:srgbClr val="F4F8FF"/>
                </a:solidFill>
                <a:latin typeface="DejaVu Sans Mono"/>
              </a:rPr>
              <a:t>YOLO = learned feature extractor + dense predictor + geometric decoding + filtering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2688" y="6382512"/>
            <a:ext cx="1027785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80" b="1" i="0">
                <a:solidFill>
                  <a:srgbClr val="9DB1CA"/>
                </a:solidFill>
                <a:latin typeface="Noto Sans"/>
              </a:rPr>
              <a:t>Không có bước nào “nhận diện bằng mắt”. Mỗi bước là phép biến đổi số học đã được học từ dữ liệu.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881360" y="-292608"/>
            <a:ext cx="1600200" cy="896112"/>
          </a:xfrm>
          <a:prstGeom prst="roundRect">
            <a:avLst/>
          </a:prstGeom>
          <a:solidFill>
            <a:srgbClr val="26D0CE"/>
          </a:solidFill>
          <a:ln w="12700">
            <a:solidFill>
              <a:srgbClr val="26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384048" y="6345936"/>
            <a:ext cx="1920240" cy="804672"/>
          </a:xfrm>
          <a:prstGeom prst="roundRect">
            <a:avLst/>
          </a:prstGeom>
          <a:solidFill>
            <a:srgbClr val="9B7EFF"/>
          </a:solidFill>
          <a:ln w="12700">
            <a:solidFill>
              <a:srgbClr val="9B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749807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26D0CE"/>
                </a:solidFill>
                <a:latin typeface="Noto Sans"/>
              </a:rPr>
              <a:t>20 · KẾT LUẬN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2648"/>
            <a:ext cx="106984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F4F8FF"/>
                </a:solidFill>
                <a:latin typeface="Noto Sans"/>
              </a:rPr>
              <a:t>Năm ý phải giải thích được khi bị hỏi sâu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27664" y="356616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9DB1CA"/>
                </a:solidFill>
                <a:latin typeface="Noto Sans"/>
              </a:rPr>
              <a:t>22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10899648" cy="15240"/>
          </a:xfrm>
          <a:prstGeom prst="rect">
            <a:avLst/>
          </a:prstGeom>
          <a:solidFill>
            <a:srgbClr val="344B66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78440" y="6492240"/>
            <a:ext cx="1152144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1" i="0">
                <a:solidFill>
                  <a:srgbClr val="9DB1CA"/>
                </a:solidFill>
                <a:latin typeface="Noto Sans"/>
              </a:rPr>
              <a:t>PIXEL → YOLOv8  · 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591056"/>
            <a:ext cx="10698480" cy="786384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7552" y="1773936"/>
            <a:ext cx="420624" cy="420624"/>
          </a:xfrm>
          <a:prstGeom prst="ellipse">
            <a:avLst/>
          </a:prstGeom>
          <a:solidFill>
            <a:srgbClr val="FF5B6F"/>
          </a:solidFill>
          <a:ln w="12700">
            <a:solidFill>
              <a:srgbClr val="FF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865376"/>
            <a:ext cx="420624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1" i="0">
                <a:solidFill>
                  <a:srgbClr val="08101E"/>
                </a:solidFill>
                <a:latin typeface="Noto San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36776" y="1737360"/>
            <a:ext cx="212140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FF5B6F"/>
                </a:solidFill>
                <a:latin typeface="Noto Sans"/>
              </a:rPr>
              <a:t>Pixel → tensor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1737360"/>
            <a:ext cx="72237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0" i="0">
                <a:solidFill>
                  <a:srgbClr val="9DB1CA"/>
                </a:solidFill>
                <a:latin typeface="Noto Sans"/>
              </a:rPr>
              <a:t>RGB là số; preprocessing tạo B×3×H×W.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2487168"/>
            <a:ext cx="10698480" cy="786384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87552" y="2670048"/>
            <a:ext cx="420624" cy="420624"/>
          </a:xfrm>
          <a:prstGeom prst="ellipse">
            <a:avLst/>
          </a:prstGeom>
          <a:solidFill>
            <a:srgbClr val="FF844A"/>
          </a:solidFill>
          <a:ln w="12700">
            <a:solidFill>
              <a:srgbClr val="FF8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2761487"/>
            <a:ext cx="420624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1" i="0">
                <a:solidFill>
                  <a:srgbClr val="08101E"/>
                </a:solidFill>
                <a:latin typeface="Noto San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36776" y="2633472"/>
            <a:ext cx="212140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FF844A"/>
                </a:solidFill>
                <a:latin typeface="Noto Sans"/>
              </a:rPr>
              <a:t>Tensor → feature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2633472"/>
            <a:ext cx="72237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0" i="0">
                <a:solidFill>
                  <a:srgbClr val="9DB1CA"/>
                </a:solidFill>
                <a:latin typeface="Noto Sans"/>
              </a:rPr>
              <a:t>Convolution học kernel; C2f duy trì nhiều đường đặc trưng.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383279"/>
            <a:ext cx="10698480" cy="786384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87552" y="3566160"/>
            <a:ext cx="420624" cy="420624"/>
          </a:xfrm>
          <a:prstGeom prst="ellipse">
            <a:avLst/>
          </a:prstGeom>
          <a:solidFill>
            <a:srgbClr val="59DD92"/>
          </a:solidFill>
          <a:ln w="12700">
            <a:solidFill>
              <a:srgbClr val="59D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3657599"/>
            <a:ext cx="420624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1" i="0">
                <a:solidFill>
                  <a:srgbClr val="08101E"/>
                </a:solidFill>
                <a:latin typeface="Noto San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36776" y="3529584"/>
            <a:ext cx="212140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59DD92"/>
                </a:solidFill>
                <a:latin typeface="Noto Sans"/>
              </a:rPr>
              <a:t>Feature → đa tỉ lệ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3529584"/>
            <a:ext cx="72237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0" i="0">
                <a:solidFill>
                  <a:srgbClr val="9DB1CA"/>
                </a:solidFill>
                <a:latin typeface="Noto Sans"/>
              </a:rPr>
              <a:t>Backbone giảm H,W; neck hợp nhất chi tiết và ngữ nghĩa.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4279392"/>
            <a:ext cx="10698480" cy="786384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7552" y="4462272"/>
            <a:ext cx="420624" cy="420624"/>
          </a:xfrm>
          <a:prstGeom prst="ellipse">
            <a:avLst/>
          </a:prstGeom>
          <a:solidFill>
            <a:srgbClr val="26D0CE"/>
          </a:solidFill>
          <a:ln w="12700">
            <a:solidFill>
              <a:srgbClr val="26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" y="4553712"/>
            <a:ext cx="420624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1" i="0">
                <a:solidFill>
                  <a:srgbClr val="08101E"/>
                </a:solidFill>
                <a:latin typeface="Noto San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36776" y="4425696"/>
            <a:ext cx="212140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26D0CE"/>
                </a:solidFill>
                <a:latin typeface="Noto Sans"/>
              </a:rPr>
              <a:t>Điểm → box + class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4425696"/>
            <a:ext cx="72237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0" i="0">
                <a:solidFill>
                  <a:srgbClr val="9DB1CA"/>
                </a:solidFill>
                <a:latin typeface="Noto Sans"/>
              </a:rPr>
              <a:t>Head anchor-free tách regression và classification; DFL dự đoán 4 phân phối.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8" y="5175504"/>
            <a:ext cx="10698480" cy="786384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7552" y="5358384"/>
            <a:ext cx="420624" cy="420624"/>
          </a:xfrm>
          <a:prstGeom prst="ellipse">
            <a:avLst/>
          </a:prstGeom>
          <a:solidFill>
            <a:srgbClr val="9B7EFF"/>
          </a:solidFill>
          <a:ln w="12700">
            <a:solidFill>
              <a:srgbClr val="9B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552" y="5449824"/>
            <a:ext cx="420624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1" i="0">
                <a:solidFill>
                  <a:srgbClr val="08101E"/>
                </a:solidFill>
                <a:latin typeface="Noto Sans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36776" y="5321808"/>
            <a:ext cx="212140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9B7EFF"/>
                </a:solidFill>
                <a:latin typeface="Noto Sans"/>
              </a:rPr>
              <a:t>Học và suy luận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5321808"/>
            <a:ext cx="72237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0" i="0">
                <a:solidFill>
                  <a:srgbClr val="9DB1CA"/>
                </a:solidFill>
                <a:latin typeface="Noto Sans"/>
              </a:rPr>
              <a:t>TAL + 3 loss + backprop khi train; threshold + NMS khi predict.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98264" y="6199632"/>
            <a:ext cx="1764792" cy="329184"/>
          </a:xfrm>
          <a:prstGeom prst="roundRect">
            <a:avLst/>
          </a:prstGeom>
          <a:solidFill>
            <a:srgbClr val="FFBE48"/>
          </a:solidFill>
          <a:ln w="12700">
            <a:solidFill>
              <a:srgbClr val="FFB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43983" y="6249924"/>
            <a:ext cx="1673351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1" i="0">
                <a:solidFill>
                  <a:srgbClr val="F4F8FF"/>
                </a:solidFill>
                <a:latin typeface="Noto Sans"/>
              </a:rPr>
              <a:t>CÂU TRẢ LỜI CỐT LÕI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5751576"/>
            <a:ext cx="835761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50" b="1" i="0">
                <a:solidFill>
                  <a:srgbClr val="F4F8FF"/>
                </a:solidFill>
                <a:latin typeface="Noto Sans"/>
              </a:rPr>
              <a:t>YOLO biến pixel thành đặc trưng, đặc trưng thành phân phối và phân phối thành hình học.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881360" y="-292608"/>
            <a:ext cx="1600200" cy="896112"/>
          </a:xfrm>
          <a:prstGeom prst="roundRect">
            <a:avLst/>
          </a:prstGeom>
          <a:solidFill>
            <a:srgbClr val="26D0CE"/>
          </a:solidFill>
          <a:ln w="12700">
            <a:solidFill>
              <a:srgbClr val="26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384048" y="6345936"/>
            <a:ext cx="1920240" cy="804672"/>
          </a:xfrm>
          <a:prstGeom prst="roundRect">
            <a:avLst/>
          </a:prstGeom>
          <a:solidFill>
            <a:srgbClr val="9B7EFF"/>
          </a:solidFill>
          <a:ln w="12700">
            <a:solidFill>
              <a:srgbClr val="9B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749807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26D0CE"/>
                </a:solidFill>
                <a:latin typeface="Noto Sans"/>
              </a:rPr>
              <a:t>PHỤ LỤC · NGUỒN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2648"/>
            <a:ext cx="106984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F4F8FF"/>
                </a:solidFill>
                <a:latin typeface="Noto Sans"/>
              </a:rPr>
              <a:t>Nguồn kỹ thuật dùng để kiểm chứng nội dung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27664" y="356616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9DB1CA"/>
                </a:solidFill>
                <a:latin typeface="Noto Sans"/>
              </a:rPr>
              <a:t>23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10899648" cy="15240"/>
          </a:xfrm>
          <a:prstGeom prst="rect">
            <a:avLst/>
          </a:prstGeom>
          <a:solidFill>
            <a:srgbClr val="344B66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78440" y="6492240"/>
            <a:ext cx="1152144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1" i="0">
                <a:solidFill>
                  <a:srgbClr val="9DB1CA"/>
                </a:solidFill>
                <a:latin typeface="Noto Sans"/>
              </a:rPr>
              <a:t>PIXEL → YOLOv8  ·  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545336"/>
            <a:ext cx="5257800" cy="932688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691639"/>
            <a:ext cx="1499616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26D0CE"/>
                </a:solidFill>
                <a:latin typeface="Noto Sans"/>
              </a:rPr>
              <a:t>Kiến trúc YOLOv8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87168" y="1673352"/>
            <a:ext cx="3236976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 i="0">
                <a:solidFill>
                  <a:srgbClr val="9DB1CA"/>
                </a:solidFill>
                <a:latin typeface="DejaVu Sans Mono"/>
              </a:rPr>
              <a:t>github.com/ultralytics/ultralytics/blob/main/ultralytics/cfg/models/v8/yolov8.yaml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706624"/>
            <a:ext cx="5257800" cy="932688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852928"/>
            <a:ext cx="1499616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59DD92"/>
                </a:solidFill>
                <a:latin typeface="Noto Sans"/>
              </a:rPr>
              <a:t>Conv / C2f / SPPF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87168" y="2834640"/>
            <a:ext cx="3236976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 i="0">
                <a:solidFill>
                  <a:srgbClr val="9DB1CA"/>
                </a:solidFill>
                <a:latin typeface="DejaVu Sans Mono"/>
              </a:rPr>
              <a:t>github.com/ultralytics/ultralytics/tree/main/ultralytics/nn/modules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3867912"/>
            <a:ext cx="5257800" cy="932688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014216"/>
            <a:ext cx="1499616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FF844A"/>
                </a:solidFill>
                <a:latin typeface="Noto Sans"/>
              </a:rPr>
              <a:t>Detect head / DFL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87168" y="3995928"/>
            <a:ext cx="3236976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 i="0">
                <a:solidFill>
                  <a:srgbClr val="9DB1CA"/>
                </a:solidFill>
                <a:latin typeface="DejaVu Sans Mono"/>
              </a:rPr>
              <a:t>github.com/ultralytics/ultralytics/blob/main/ultralytics/nn/modules/head.py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5029200"/>
            <a:ext cx="5257800" cy="932688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5175504"/>
            <a:ext cx="1499616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9B7EFF"/>
                </a:solidFill>
                <a:latin typeface="Noto Sans"/>
              </a:rPr>
              <a:t>TAL / box decoding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87168" y="5157216"/>
            <a:ext cx="3236976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 i="0">
                <a:solidFill>
                  <a:srgbClr val="9DB1CA"/>
                </a:solidFill>
                <a:latin typeface="DejaVu Sans Mono"/>
              </a:rPr>
              <a:t>github.com/ultralytics/ultralytics/blob/main/ultralytics/utils/tal.py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1545336"/>
            <a:ext cx="5257800" cy="932688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1691639"/>
            <a:ext cx="1499616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FF5B6F"/>
                </a:solidFill>
                <a:latin typeface="Noto Sans"/>
              </a:rPr>
              <a:t>Loss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73568" y="1673352"/>
            <a:ext cx="3236976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 i="0">
                <a:solidFill>
                  <a:srgbClr val="9DB1CA"/>
                </a:solidFill>
                <a:latin typeface="DejaVu Sans Mono"/>
              </a:rPr>
              <a:t>github.com/ultralytics/ultralytics/blob/main/ultralytics/utils/loss.py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2" y="2706624"/>
            <a:ext cx="5257800" cy="932688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2852928"/>
            <a:ext cx="1499616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FFBE48"/>
                </a:solidFill>
                <a:latin typeface="Noto Sans"/>
              </a:rPr>
              <a:t>YOLO gốc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73568" y="2834640"/>
            <a:ext cx="3236976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 i="0">
                <a:solidFill>
                  <a:srgbClr val="9DB1CA"/>
                </a:solidFill>
                <a:latin typeface="DejaVu Sans Mono"/>
              </a:rPr>
              <a:t>Redmon et al., CVPR 2016 — You Only Look Once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9632" y="3867912"/>
            <a:ext cx="5257800" cy="932688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4014216"/>
            <a:ext cx="1499616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4B96FF"/>
                </a:solidFill>
                <a:latin typeface="Noto Sans"/>
              </a:rPr>
              <a:t>DFL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73568" y="3995928"/>
            <a:ext cx="3236976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 i="0">
                <a:solidFill>
                  <a:srgbClr val="9DB1CA"/>
                </a:solidFill>
                <a:latin typeface="DejaVu Sans Mono"/>
              </a:rPr>
              <a:t>Li et al., NeurIPS 2020 — Generalized Focal Loss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5029200"/>
            <a:ext cx="5257800" cy="932688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34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5175504"/>
            <a:ext cx="1499616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26D0CE"/>
                </a:solidFill>
                <a:latin typeface="Noto Sans"/>
              </a:rPr>
              <a:t>Task alignment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73568" y="5157216"/>
            <a:ext cx="3236976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 i="0">
                <a:solidFill>
                  <a:srgbClr val="9DB1CA"/>
                </a:solidFill>
                <a:latin typeface="DejaVu Sans Mono"/>
              </a:rPr>
              <a:t>Feng et al., ICCV 2021 — TOOD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" y="6254496"/>
            <a:ext cx="144475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FFBE48"/>
                </a:solidFill>
                <a:latin typeface="Noto Sans"/>
              </a:rPr>
              <a:t>Ghi chú phiên bản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67712" y="6217920"/>
            <a:ext cx="88422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9DB1CA"/>
                </a:solidFill>
                <a:latin typeface="Noto Sans"/>
              </a:rPr>
              <a:t>Slide mô tả YOLOv8 detect head cổ điển: anchor-free, decoupled, reg_max=16 và NMS.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Từ Pixel đến Bounding Box — Cốt lõi YOLOv8</dc:title>
  <dc:subject>Giải thích cơ chế YOLOv8 từ RGB, convolution, feature maps đến loss và NMS</dc:subject>
  <dc:creator>Machine Learning Group Project</dc:creator>
  <cp:keywords>YOLOv8, pixel, convolution, C2f, SPPF, FPN, PAN, DFL, TAL, NMS</cp:keywords>
  <dc:description>Editable PowerPoint generated with python-pptx.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