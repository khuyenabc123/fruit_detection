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v2</c:v>
                </c:pt>
              </c:strCache>
            </c:strRef>
          </c:tx>
          <c:spPr>
            <a:solidFill>
              <a:srgbClr val="AAB8BE"/>
            </a:solidFill>
          </c:spPr>
          <c:cat>
            <c:strRef>
              <c:f>Sheet1!$A$2:$A$5</c:f>
              <c:strCache>
                <c:ptCount val="4"/>
                <c:pt idx="0">
                  <c:v>Cả cây xoài</c:v>
                </c:pt>
                <c:pt idx="1">
                  <c:v>Hàng thanh long</c:v>
                </c:pt>
                <c:pt idx="2">
                  <c:v>Trụ thanh long</c:v>
                </c:pt>
                <c:pt idx="3">
                  <c:v>Xoài chụp xa</c:v>
                </c:pt>
              </c:strCache>
            </c:strRef>
          </c:cat>
          <c:val>
            <c:numRef>
              <c:f>Sheet1!$B$2:$B$5</c:f>
              <c:numCache>
                <c:formatCode>General</c:formatCode>
                <c:ptCount val="4"/>
                <c:pt idx="0">
                  <c:v>0.063</c:v>
                </c:pt>
                <c:pt idx="1">
                  <c:v>0.252</c:v>
                </c:pt>
                <c:pt idx="2">
                  <c:v>0.117</c:v>
                </c:pt>
                <c:pt idx="3">
                  <c:v>0.63</c:v>
                </c:pt>
              </c:numCache>
            </c:numRef>
          </c:val>
        </c:ser>
        <c:ser>
          <c:idx val="1"/>
          <c:order val="1"/>
          <c:tx>
            <c:strRef>
              <c:f>Sheet1!$C$1</c:f>
              <c:strCache>
                <c:ptCount val="1"/>
                <c:pt idx="0">
                  <c:v>v3</c:v>
                </c:pt>
              </c:strCache>
            </c:strRef>
          </c:tx>
          <c:spPr>
            <a:solidFill>
              <a:srgbClr val="187F5B"/>
            </a:solidFill>
          </c:spPr>
          <c:cat>
            <c:strRef>
              <c:f>Sheet1!$A$2:$A$5</c:f>
              <c:strCache>
                <c:ptCount val="4"/>
                <c:pt idx="0">
                  <c:v>Cả cây xoài</c:v>
                </c:pt>
                <c:pt idx="1">
                  <c:v>Hàng thanh long</c:v>
                </c:pt>
                <c:pt idx="2">
                  <c:v>Trụ thanh long</c:v>
                </c:pt>
                <c:pt idx="3">
                  <c:v>Xoài chụp xa</c:v>
                </c:pt>
              </c:strCache>
            </c:strRef>
          </c:cat>
          <c:val>
            <c:numRef>
              <c:f>Sheet1!$C$2:$C$5</c:f>
              <c:numCache>
                <c:formatCode>General</c:formatCode>
                <c:ptCount val="4"/>
                <c:pt idx="0">
                  <c:v>0.86</c:v>
                </c:pt>
                <c:pt idx="1">
                  <c:v>0.916</c:v>
                </c:pt>
                <c:pt idx="2">
                  <c:v>0.532</c:v>
                </c:pt>
                <c:pt idx="3">
                  <c:v>0.765</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6E0DC"/>
            </a:solidFill>
          </a:ln>
        </c:spPr>
        <c:txPr>
          <a:bodyPr/>
          <a:lstStyle/>
          <a:p>
            <a:pPr>
              <a:defRPr sz="1100"/>
            </a:pPr>
          </a:p>
        </c:txPr>
        <c:crossAx val="-2113994440"/>
        <c:crosses val="autoZero"/>
        <c:auto val="1"/>
        <c:lblAlgn val="ctr"/>
        <c:lblOffset val="100"/>
        <c:noMultiLvlLbl val="0"/>
      </c:catAx>
      <c:valAx>
        <c:axId val="-2113994440"/>
        <c:scaling>
          <c:max val="1.0"/>
          <c:min val="0.0"/>
        </c:scaling>
        <c:delete val="0"/>
        <c:axPos val="l"/>
        <c:majorGridlines>
          <c:spPr>
            <a:ln>
              <a:solidFill>
                <a:srgbClr val="D6E0DC"/>
              </a:solidFill>
            </a:ln>
          </c:spPr>
        </c:majorGridlines>
        <c:numFmt formatCode="0%" sourceLinked="0"/>
        <c:majorTickMark val="out"/>
        <c:minorTickMark val="none"/>
        <c:tickLblPos val="nextTo"/>
        <c:spPr>
          <a:ln>
            <a:noFill/>
          </a:ln>
        </c:spPr>
        <c:txPr>
          <a:bodyPr/>
          <a:lstStyle/>
          <a:p>
            <a:pPr>
              <a:defRPr sz="1000">
                <a:solidFill>
                  <a:srgbClr val="5C6E78"/>
                </a:solidFill>
              </a:defRPr>
            </a:pPr>
          </a:p>
        </c:txPr>
        <c:crossAx val="-2068027336"/>
        <c:crosses val="autoZero"/>
      </c:valAx>
    </c:plotArea>
    <c:legend>
      <c:legendPos val="t"/>
      <c:overlay val="0"/>
      <c:txPr>
        <a:bodyPr/>
        <a:lstStyle/>
        <a:p>
          <a:pPr>
            <a:defRPr sz="1200"/>
          </a:pPr>
        </a:p>
      </c:txPr>
    </c:legend>
    <c:dispBlanksAs val="gap"/>
  </c:chart>
  <c:txPr>
    <a:bodyPr/>
    <a:lstStyle/>
    <a:p>
      <a:pPr>
        <a:defRPr sz="1100">
          <a:solidFill>
            <a:srgbClr val="1F303A"/>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Box sai</c:v>
                </c:pt>
              </c:strCache>
            </c:strRef>
          </c:tx>
          <c:spPr>
            <a:solidFill>
              <a:srgbClr val="B34340"/>
            </a:solidFill>
          </c:spPr>
          <c:cat>
            <c:strRef>
              <c:f>Sheet1!$A$2:$A$6</c:f>
              <c:strCache>
                <c:ptCount val="5"/>
                <c:pt idx="0">
                  <c:v>Vải VN</c:v>
                </c:pt>
                <c:pt idx="1">
                  <c:v>Litchi</c:v>
                </c:pt>
                <c:pt idx="2">
                  <c:v>Táo</c:v>
                </c:pt>
                <c:pt idx="3">
                  <c:v>Chôm chôm</c:v>
                </c:pt>
                <c:pt idx="4">
                  <c:v>Lựu</c:v>
                </c:pt>
              </c:strCache>
            </c:strRef>
          </c:cat>
          <c:val>
            <c:numRef>
              <c:f>Sheet1!$B$2:$B$6</c:f>
              <c:numCache>
                <c:formatCode>General</c:formatCode>
                <c:ptCount val="5"/>
                <c:pt idx="0">
                  <c:v>214</c:v>
                </c:pt>
                <c:pt idx="1">
                  <c:v>174</c:v>
                </c:pt>
                <c:pt idx="2">
                  <c:v>73</c:v>
                </c:pt>
                <c:pt idx="3">
                  <c:v>27</c:v>
                </c:pt>
                <c:pt idx="4">
                  <c:v>22</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l"/>
        <c:majorTickMark val="out"/>
        <c:minorTickMark val="none"/>
        <c:tickLblPos val="nextTo"/>
        <c:spPr>
          <a:ln>
            <a:solidFill>
              <a:srgbClr val="D6E0DC"/>
            </a:solidFill>
          </a:ln>
        </c:spPr>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D6E0DC"/>
              </a:solidFill>
            </a:ln>
          </c:spPr>
        </c:majorGridlines>
        <c:numFmt formatCode="0" sourceLinked="0"/>
        <c:majorTickMark val="out"/>
        <c:minorTickMark val="none"/>
        <c:tickLblPos val="nextTo"/>
        <c:spPr>
          <a:ln>
            <a:noFill/>
          </a:ln>
        </c:spPr>
        <c:txPr>
          <a:bodyPr/>
          <a:lstStyle/>
          <a:p>
            <a:pPr>
              <a:defRPr sz="1000">
                <a:solidFill>
                  <a:srgbClr val="5C6E78"/>
                </a:solidFill>
              </a:defRPr>
            </a:pPr>
          </a:p>
        </c:txPr>
        <c:crossAx val="-2068027336"/>
        <c:crosses val="autoZero"/>
      </c:valAx>
    </c:plotArea>
    <c:dispBlanksAs val="gap"/>
  </c:chart>
  <c:txPr>
    <a:bodyPr/>
    <a:lstStyle/>
    <a:p>
      <a:pPr>
        <a:defRPr sz="1100">
          <a:solidFill>
            <a:srgbClr val="1F303A"/>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Precision</c:v>
                </c:pt>
              </c:strCache>
            </c:strRef>
          </c:tx>
          <c:spPr>
            <a:solidFill>
              <a:srgbClr val="187F5B"/>
            </a:solidFill>
          </c:spPr>
          <c:cat>
            <c:strRef>
              <c:f>Sheet1!$A$2:$A$5</c:f>
              <c:strCache>
                <c:ptCount val="4"/>
                <c:pt idx="0">
                  <c:v>v3</c:v>
                </c:pt>
                <c:pt idx="1">
                  <c:v>A</c:v>
                </c:pt>
                <c:pt idx="2">
                  <c:v>B</c:v>
                </c:pt>
                <c:pt idx="3">
                  <c:v>C</c:v>
                </c:pt>
              </c:strCache>
            </c:strRef>
          </c:cat>
          <c:val>
            <c:numRef>
              <c:f>Sheet1!$B$2:$B$5</c:f>
              <c:numCache>
                <c:formatCode>General</c:formatCode>
                <c:ptCount val="4"/>
                <c:pt idx="0">
                  <c:v>0.553</c:v>
                </c:pt>
                <c:pt idx="1">
                  <c:v>0.6635</c:v>
                </c:pt>
                <c:pt idx="2">
                  <c:v>0.647</c:v>
                </c:pt>
                <c:pt idx="3">
                  <c:v>0.6775</c:v>
                </c:pt>
              </c:numCache>
            </c:numRef>
          </c:val>
        </c:ser>
        <c:ser>
          <c:idx val="1"/>
          <c:order val="1"/>
          <c:tx>
            <c:strRef>
              <c:f>Sheet1!$C$1</c:f>
              <c:strCache>
                <c:ptCount val="1"/>
                <c:pt idx="0">
                  <c:v>Recall</c:v>
                </c:pt>
              </c:strCache>
            </c:strRef>
          </c:tx>
          <c:spPr>
            <a:solidFill>
              <a:srgbClr val="0F2331"/>
            </a:solidFill>
          </c:spPr>
          <c:cat>
            <c:strRef>
              <c:f>Sheet1!$A$2:$A$5</c:f>
              <c:strCache>
                <c:ptCount val="4"/>
                <c:pt idx="0">
                  <c:v>v3</c:v>
                </c:pt>
                <c:pt idx="1">
                  <c:v>A</c:v>
                </c:pt>
                <c:pt idx="2">
                  <c:v>B</c:v>
                </c:pt>
                <c:pt idx="3">
                  <c:v>C</c:v>
                </c:pt>
              </c:strCache>
            </c:strRef>
          </c:cat>
          <c:val>
            <c:numRef>
              <c:f>Sheet1!$C$2:$C$5</c:f>
              <c:numCache>
                <c:formatCode>General</c:formatCode>
                <c:ptCount val="4"/>
                <c:pt idx="0">
                  <c:v>0.8253</c:v>
                </c:pt>
                <c:pt idx="1">
                  <c:v>0.8271</c:v>
                </c:pt>
                <c:pt idx="2">
                  <c:v>0.8253</c:v>
                </c:pt>
                <c:pt idx="3">
                  <c:v>0.8236</c:v>
                </c:pt>
              </c:numCache>
            </c:numRef>
          </c:val>
        </c:ser>
        <c:dLbls>
          <c:numFmt formatCode="0%" sourceLinked="0"/>
          <c:txPr>
            <a:bodyPr/>
            <a:lstStyle/>
            <a:p>
              <a:pPr>
                <a:defRPr sz="11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6E0DC"/>
            </a:solidFill>
          </a:ln>
        </c:spPr>
        <c:txPr>
          <a:bodyPr/>
          <a:lstStyle/>
          <a:p>
            <a:pPr>
              <a:defRPr sz="1100"/>
            </a:pPr>
          </a:p>
        </c:txPr>
        <c:crossAx val="-2113994440"/>
        <c:crosses val="autoZero"/>
        <c:auto val="1"/>
        <c:lblAlgn val="ctr"/>
        <c:lblOffset val="100"/>
        <c:noMultiLvlLbl val="0"/>
      </c:catAx>
      <c:valAx>
        <c:axId val="-2113994440"/>
        <c:scaling>
          <c:max val="1.0"/>
          <c:min val="0.0"/>
        </c:scaling>
        <c:delete val="0"/>
        <c:axPos val="l"/>
        <c:majorGridlines>
          <c:spPr>
            <a:ln>
              <a:solidFill>
                <a:srgbClr val="D6E0DC"/>
              </a:solidFill>
            </a:ln>
          </c:spPr>
        </c:majorGridlines>
        <c:numFmt formatCode="0%" sourceLinked="0"/>
        <c:majorTickMark val="out"/>
        <c:minorTickMark val="none"/>
        <c:tickLblPos val="nextTo"/>
        <c:spPr>
          <a:ln>
            <a:noFill/>
          </a:ln>
        </c:spPr>
        <c:txPr>
          <a:bodyPr/>
          <a:lstStyle/>
          <a:p>
            <a:pPr>
              <a:defRPr sz="1000">
                <a:solidFill>
                  <a:srgbClr val="5C6E78"/>
                </a:solidFill>
              </a:defRPr>
            </a:pPr>
          </a:p>
        </c:txPr>
        <c:crossAx val="-2068027336"/>
        <c:crosses val="autoZero"/>
      </c:valAx>
    </c:plotArea>
    <c:legend>
      <c:legendPos val="t"/>
      <c:overlay val="0"/>
      <c:txPr>
        <a:bodyPr/>
        <a:lstStyle/>
        <a:p>
          <a:pPr>
            <a:defRPr sz="1200"/>
          </a:pPr>
        </a:p>
      </c:txPr>
    </c:legend>
    <c:dispBlanksAs val="gap"/>
  </c:chart>
  <c:txPr>
    <a:bodyPr/>
    <a:lstStyle/>
    <a:p>
      <a:pPr>
        <a:defRPr sz="1100">
          <a:solidFill>
            <a:srgbClr val="1F303A"/>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Recall</c:v>
                </c:pt>
              </c:strCache>
            </c:strRef>
          </c:tx>
          <c:spPr>
            <a:solidFill>
              <a:srgbClr val="187F5B"/>
            </a:solidFill>
          </c:spPr>
          <c:cat>
            <c:strRef>
              <c:f>Sheet1!$A$2:$A$8</c:f>
              <c:strCache>
                <c:ptCount val="7"/>
                <c:pt idx="0">
                  <c:v>mango_yolo</c:v>
                </c:pt>
                <c:pt idx="1">
                  <c:v>rf_mango</c:v>
                </c:pt>
                <c:pt idx="2">
                  <c:v>dragon orchard</c:v>
                </c:pt>
                <c:pt idx="3">
                  <c:v>pitaya</c:v>
                </c:pt>
                <c:pt idx="4">
                  <c:v>rf_mango_tree</c:v>
                </c:pt>
                <c:pt idx="5">
                  <c:v>mango_on_tree</c:v>
                </c:pt>
                <c:pt idx="6">
                  <c:v>ripe dragon plants</c:v>
                </c:pt>
              </c:strCache>
            </c:strRef>
          </c:cat>
          <c:val>
            <c:numRef>
              <c:f>Sheet1!$B$2:$B$8</c:f>
              <c:numCache>
                <c:formatCode>General</c:formatCode>
                <c:ptCount val="7"/>
                <c:pt idx="0">
                  <c:v>0.9787</c:v>
                </c:pt>
                <c:pt idx="1">
                  <c:v>0.9651</c:v>
                </c:pt>
                <c:pt idx="2">
                  <c:v>0.9966</c:v>
                </c:pt>
                <c:pt idx="3">
                  <c:v>0.9067</c:v>
                </c:pt>
                <c:pt idx="4">
                  <c:v>0.8693</c:v>
                </c:pt>
                <c:pt idx="5">
                  <c:v>0.5639</c:v>
                </c:pt>
                <c:pt idx="6">
                  <c:v>0.5319</c:v>
                </c:pt>
              </c:numCache>
            </c:numRef>
          </c:val>
        </c:ser>
        <c:dLbls>
          <c:numFmt formatCode="0%" sourceLinked="0"/>
          <c:txPr>
            <a:bodyPr/>
            <a:lstStyle/>
            <a:p>
              <a:pPr>
                <a:defRPr sz="10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l"/>
        <c:majorTickMark val="out"/>
        <c:minorTickMark val="none"/>
        <c:tickLblPos val="nextTo"/>
        <c:spPr>
          <a:ln>
            <a:solidFill>
              <a:srgbClr val="D6E0DC"/>
            </a:solidFill>
          </a:ln>
        </c:spPr>
        <c:txPr>
          <a:bodyPr/>
          <a:lstStyle/>
          <a:p>
            <a:pPr>
              <a:defRPr sz="1100"/>
            </a:pPr>
          </a:p>
        </c:txPr>
        <c:crossAx val="-2113994440"/>
        <c:crosses val="autoZero"/>
        <c:auto val="1"/>
        <c:lblAlgn val="ctr"/>
        <c:lblOffset val="100"/>
        <c:noMultiLvlLbl val="0"/>
      </c:catAx>
      <c:valAx>
        <c:axId val="-2113994440"/>
        <c:scaling>
          <c:max val="1.0"/>
          <c:min val="0.0"/>
        </c:scaling>
        <c:delete val="0"/>
        <c:axPos val="b"/>
        <c:majorGridlines>
          <c:spPr>
            <a:ln>
              <a:solidFill>
                <a:srgbClr val="D6E0DC"/>
              </a:solidFill>
            </a:ln>
          </c:spPr>
        </c:majorGridlines>
        <c:numFmt formatCode="0%" sourceLinked="0"/>
        <c:majorTickMark val="out"/>
        <c:minorTickMark val="none"/>
        <c:tickLblPos val="nextTo"/>
        <c:spPr>
          <a:ln>
            <a:noFill/>
          </a:ln>
        </c:spPr>
        <c:txPr>
          <a:bodyPr/>
          <a:lstStyle/>
          <a:p>
            <a:pPr>
              <a:defRPr sz="1000">
                <a:solidFill>
                  <a:srgbClr val="5C6E78"/>
                </a:solidFill>
              </a:defRPr>
            </a:pPr>
          </a:p>
        </c:txPr>
        <c:crossAx val="-2068027336"/>
        <c:crosses val="autoZero"/>
      </c:valAx>
    </c:plotArea>
    <c:dispBlanksAs val="gap"/>
  </c:chart>
  <c:txPr>
    <a:bodyPr/>
    <a:lstStyle/>
    <a:p>
      <a:pPr>
        <a:defRPr sz="1100">
          <a:solidFill>
            <a:srgbClr val="1F303A"/>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thầy cô và các bạn. Nhóm xin trình bày Smart Orchard AI — hệ thống nhận diện xoài và thanh long trên cây,</a:t>
            </a:r>
          </a:p>
          <a:p>
            <a:r>
              <a:t>đếm số quả và đánh giá độ chín của từng quả từ ảnh, cộng với đếm quả trong video ngắn.</a:t>
            </a:r>
          </a:p>
          <a:p/>
          <a:p>
            <a:r>
              <a:t>Bài trình bày không chỉ đưa kết quả cuối cùng. Nhóm sẽ kể lại đúng quá trình đã làm từ ngày 12/09 đến 08/10/2026:</a:t>
            </a:r>
          </a:p>
          <a:p>
            <a:r>
              <a:t>mỗi lần huấn luyện dùng dữ liệu gì, ra kết quả bao nhiêu, phát hiện vấn đề gì và vì sao phải chạy lại.</a:t>
            </a:r>
          </a:p>
          <a:p>
            <a:r>
              <a:t>Tổng cộng có 8 dòng huấn luyện trong bảng ở slide 6 (vòng 0, 1, 2, v2, v3, v4, nhóm thử nghiệm A/B/C và bộ lọc loài), 9 phiên bản dữ liệu và 4 lần triển khai Cloud Run.</a:t>
            </a:r>
          </a:p>
          <a:p>
            <a:r>
              <a:t>Mọi số liệu trên slide đều lấy từ file trong dự án: lịch sử dự án docs/PROJECT_HISTORY.md, thư mục kết quả các job</a:t>
            </a:r>
          </a:p>
          <a:p>
            <a:r>
              <a:t>Vertex AI trong fruit_detection_runs_gcp_review, và báo cáo chuẩn bị dữ liệu trong data/prepared.</a:t>
            </a:r>
          </a:p>
          <a:p/>
          <a:p>
            <a:r>
              <a:t>(Giới thiệu tên nhóm, thành viên và phần việc của từng người — điền sau khi nhóm thống nhất.)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có 6 phần.</a:t>
            </a:r>
          </a:p>
          <a:p>
            <a:r>
              <a:t>Phần 1 nêu bài toán và bảng tổng hợp 8 vòng huấn luyện để người nghe có bức tranh chung.</a:t>
            </a:r>
          </a:p>
          <a:p>
            <a:r>
              <a:t>Phần 2 kể giai đoạn đầu: một detector YOLOv8s vừa tìm quả vừa đoán độ chín, từ 4 lớp lên 7 lớp, và vì sao ngày 24/09</a:t>
            </a:r>
          </a:p>
          <a:p>
            <a:r>
              <a:t>nhóm quyết định đổi sang kiến trúc hai giai đoạn.</a:t>
            </a:r>
          </a:p>
          <a:p>
            <a:r>
              <a:t>Phần 3 nói về dữ liệu: nhóm dùng những bộ dữ liệu nào, lấy ở đâu, giấy phép gì, đã phát hiện và sửa những lỗi nhãn nào,</a:t>
            </a:r>
          </a:p>
          <a:p>
            <a:r>
              <a:t>và 9 phiên bản dữ liệu thay đổi ra sao.</a:t>
            </a:r>
          </a:p>
          <a:p>
            <a:r>
              <a:t>Phần 4 là các lần huấn luyện trên Google Cloud Vertex AI: v2, v3 — bản đang dùng —, v4 bị hỏng khi lưu checkpoint, và ba</a:t>
            </a:r>
          </a:p>
          <a:p>
            <a:r>
              <a:t>thử nghiệm A, B, C ngày 02/10.</a:t>
            </a:r>
          </a:p>
          <a:p>
            <a:r>
              <a:t>Phần 5 là sản phẩm: pipeline suy luận, web và API, lịch sử triển khai, và đợt đánh giá lại ngày 08/10 phát hiện một lỗi mới.</a:t>
            </a:r>
          </a:p>
          <a:p>
            <a:r>
              <a:t>Phần 6 tổng kết bài học, hạn chế, và kịch bản demo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1: bài toán. Nhóm nói ngắn gọn hệ thống cần làm gì, rồi đưa ra dòng thời gian và bảng tổng hợp các lần huấn luyện.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của nhóm có ba đầu ra: vị trí từng quả, độ chín của từng quả, và số lượng.</a:t>
            </a:r>
          </a:p>
          <a:p/>
          <a:p>
            <a:r>
              <a:t>Khó khăn chính nằm ở cột bên trái. Khi chụp cả cây, một quả chỉ chiếm 10 đến 25 pixel — đây là con số nhóm đo được ngày 24/09</a:t>
            </a:r>
          </a:p>
          <a:p>
            <a:r>
              <a:t>khi mô hình đầu tiên thất bại. Quả bị lá che, chồng lên nhau, ánh sáng thay đổi, và có những loại quả khác như vải, chôm chôm, mận</a:t>
            </a:r>
          </a:p>
          <a:p>
            <a:r>
              <a:t>trông rất giống.</a:t>
            </a:r>
          </a:p>
          <a:p/>
          <a:p>
            <a:r>
              <a:t>Cột giữa là đầu ra. Xoài có 4 mức: young (non), mature (già xanh), turning (đang chuyển màu) và ripe (chín). Thanh long có 3 mức:</a:t>
            </a:r>
          </a:p>
          <a:p>
            <a:r>
              <a:t>unripe, ripe, rotten. Điểm quan trọng là nhãn uncertain: khi mô hình chưa đủ tin cậy thì hệ thống nói "chưa chắc" thay vì đoán bừa.</a:t>
            </a:r>
          </a:p>
          <a:p>
            <a:r>
              <a:t>Tên lớp xoài hiện nay là kết quả của lần sửa ngày 29/09 — phần 4 sẽ giải thích vì sao bỏ bộ nhãn cũ.</a:t>
            </a:r>
          </a:p>
          <a:p/>
          <a:p>
            <a:r>
              <a:t>Cột phải là phạm vi nhóm chọn: chỉ hai loài quả, giới hạn kích thước ảnh 12 MB, video 50 MB và 30 giây. Hệ thống để hỗ trợ quan sát,</a:t>
            </a:r>
          </a:p>
          <a:p>
            <a:r>
              <a:t>chưa thay được việc kiểm tra tại vườn, vì nhóm chưa có ảnh có nhãn từ chính vườn mục tiêu.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dòng thời gian thực tế, dựng lại từ lịch sử Git, file docs/PROJECT_HISTORY.md và các thư mục kết quả.</a:t>
            </a:r>
          </a:p>
          <a:p>
            <a:r>
              <a:t>Màu xanh là bước thành công, màu vàng là bước sửa/thử nghiệm, màu đỏ là lúc phát hiện thất bại.</a:t>
            </a:r>
          </a:p>
          <a:p/>
          <a:p>
            <a:r>
              <a:t>Ngày 12/09 nhóm có bản đầu tiên: YOLOv8s 4 lớp. Ngày 18–20/09 nâng lên 7 lớp trên Colab và gặp sự cố checkpoint bị ghi đè.</a:t>
            </a:r>
          </a:p>
          <a:p>
            <a:r>
              <a:t>Ngày 24/09 nhóm thử trên ảnh thật chụp cả cây và kết quả rất tệ — đây là điểm quyết định đổi sang kiến trúc hai giai đoạn.</a:t>
            </a:r>
          </a:p>
          <a:p>
            <a:r>
              <a:t>Ngày 25–27/09 huấn luyện hai giai đoạn trên Colab nhưng thất bại. Ngày 28/09 nhóm dừng huấn luyện để sửa dữ liệu trước,</a:t>
            </a:r>
          </a:p>
          <a:p>
            <a:r>
              <a:t>rồi chuyển huấn luyện lên Google Cloud Vertex AI, ra bản v2.</a:t>
            </a:r>
          </a:p>
          <a:p>
            <a:r>
              <a:t>Ngày 29/09 ra v3 — đây là bản đang chạy trong ứng dụng. Ngày 30/09 bản v4 hỏng vì lỗi lưu checkpoint.</a:t>
            </a:r>
          </a:p>
          <a:p>
            <a:r>
              <a:t>Ngày 02/10 nhóm rà nhãn và chạy ba thử nghiệm A, B, C nhưng không bản nào thay được v3.</a:t>
            </a:r>
          </a:p>
          <a:p>
            <a:r>
              <a:t>Ngày 03/10 triển khai v3 lên Cloud Run. Ngày 05–06/10 thêm video, hỗ trợ ảnh tối, quét kỹ và bộ lọc quả khác.</a:t>
            </a:r>
          </a:p>
          <a:p>
            <a:r>
              <a:t>Ngày 08/10 đánh giá lại toàn bộ và phát hiện bộ lọc quả khác xóa nhầm xoài chín.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là xương sống của bài trình bày; các phần sau sẽ đi vào từng dòng.</a:t>
            </a:r>
          </a:p>
          <a:p/>
          <a:p>
            <a:r>
              <a:t>Vòng 0, ngày 12/09: mAP50 trên test 91,3% nhưng con số này ảo vì 456 ảnh gốc có bản tăng cường nằm ở nhiều tập cùng lúc.</a:t>
            </a:r>
          </a:p>
          <a:p>
            <a:r>
              <a:t>Vòng 1, 18–20/09: 7 lớp, mAP50 validation 85,4%, nhưng trên ảnh cả cây chỉ tìm được 0 đến 7 quả.</a:t>
            </a:r>
          </a:p>
          <a:p>
            <a:r>
              <a:t>Vòng 2: lần đầu thử hai giai đoạn trên Colab, thất bại; sau đó mới phát hiện nhãn polygon của thanh long bị đọc thành box.</a:t>
            </a:r>
          </a:p>
          <a:p>
            <a:r>
              <a:t>v2, ngày 28/09: detector rất cao, 98,5%, nhưng phân loại độ chín xoài chỉ 63,9% vì nhãn xoài được định nghĩa theo số ngày sau</a:t>
            </a:r>
          </a:p>
          <a:p>
            <a:r>
              <a:t>đậu quả — không nhìn thấy được trên ảnh.</a:t>
            </a:r>
          </a:p>
          <a:p>
            <a:r>
              <a:t>v3, ngày 29/09 — dòng tô xanh — là bản đang dùng: detector mAP50 94,9% trên 2.037 ảnh test, xoài 90,2%.</a:t>
            </a:r>
          </a:p>
          <a:p>
            <a:r>
              <a:t>v4 ngày 30/09: lúc huấn luyện đạt 93,3% nhưng tải lại file đã lưu chỉ còn 31,4% vì lỗi FP16.</a:t>
            </a:r>
          </a:p>
          <a:p>
            <a:r>
              <a:t>Ba thử nghiệm A, B, C ngày 02/10 tăng precision từ 55% lên 66–68% nhưng làm mất xoài nhỏ và xoài đỏ, nên nhóm giữ v3.</a:t>
            </a:r>
          </a:p>
          <a:p>
            <a:r>
              <a:t>Cuối cùng, bộ lọc loài thêm ngày 06/10 giảm mạnh box sai trên ảnh không có quả, nhưng xóa nhầm 24 trên 49 xoài chín.</a:t>
            </a:r>
          </a:p>
          <a:p/>
          <a:p>
            <a:r>
              <a:t>Điểm chung: lần nào chạy lại cũng có một nguyên nhân đo được, không phải chạy lại cho "may mắn".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2: giai đoạn đầu, khi nhóm dùng một mô hình YOLOv8s duy nhất vừa tìm quả vừa phân loại độ chín.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Vòng 0 là commit đầu tiên ngày 12/09 (a1e93c4). Nhóm dùng hai bộ dữ liệu xuất từ Roboflow: một bộ xoài có 4 giai đoạn và một bộ thanh long</a:t>
            </a:r>
          </a:p>
          <a:p>
            <a:r>
              <a:t>có Unripe, Ripe, Rotten. Ở vòng này nhóm gộp ba giai đoạn xanh của xoài thành "unripe" và bỏ lớp Rotten, nên chỉ còn 4 lớp.</a:t>
            </a:r>
          </a:p>
          <a:p>
            <a:r>
              <a:t>Có một quyết định giữ từ đầu đến cuối: tắt xoay màu hue khi tăng cường dữ liệu, vì xoay hue biến xoài xanh thành xoài vàng, tức là đổi nhãn độ chín.</a:t>
            </a:r>
          </a:p>
          <a:p/>
          <a:p>
            <a:r>
              <a:t>Kết quả nhìn rất đẹp: mAP50 91,3%, precision 95,6%, recall 85,1% trên 714 ảnh test.</a:t>
            </a:r>
          </a:p>
          <a:p>
            <a:r>
              <a:t>Nhưng sau đó nhóm phát hiện: bộ xoài có 2.004 ảnh mà chỉ sinh ra từ 926 ảnh gốc — Roboflow tạo nhiều bản xoay, lật của cùng một ảnh.</a:t>
            </a:r>
          </a:p>
          <a:p>
            <a:r>
              <a:t>456 ảnh gốc có bản sao nằm ở cả train và test, nên mô hình được kiểm tra trên ảnh nó đã gần như thấy. Con số 91,3% vì vậy không dùng được.</a:t>
            </a:r>
          </a:p>
          <a:p>
            <a:r>
              <a:t>Ngoài ra xoài vàng sau thu hoạch bị gọi là chưa chín, và ảnh kết quả bị đổi màu xanh lơ do lẫn thứ tự kênh BGR/RGB của OpenCV.</a:t>
            </a:r>
          </a:p>
          <a:p/>
          <a:p>
            <a:r>
              <a:t>Lý do chạy lại: phải chia dữ liệu theo ảnh gốc — tất cả bản sao có cùng phần tên trước ".rf." phải nằm chung một tập — và nhóm muốn</a:t>
            </a:r>
          </a:p>
          <a:p>
            <a:r>
              <a:t>phân độ chín xoài chi tiết hơn.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Vòng 1 từ ngày 18 đến 20/09. Nhóm viết notebook Colab mới với 7 lớp: 4 giai đoạn xoài và 3 trạng thái thanh long, có thêm rotten.</a:t>
            </a:r>
          </a:p>
          <a:p>
            <a:r>
              <a:t>Nhãn từ các bộ dữ liệu được ánh xạ theo tên lớp chứ không theo ID số, vì mỗi bộ đánh ID khác nhau.</a:t>
            </a:r>
          </a:p>
          <a:p>
            <a:r>
              <a:t>Mô hình YOLOv8s, 80 epoch, ảnh 640 pixel, batch 16, mỗi epoch khoảng 76 giây trên GPU.</a:t>
            </a:r>
          </a:p>
          <a:p/>
          <a:p>
            <a:r>
              <a:t>Có hai sự cố đáng kể. Thứ nhất, Colab miễn phí hay ngắt kết nối và xóa checkpoint, nên nhóm sửa notebook để ghi checkpoint thẳng</a:t>
            </a:r>
          </a:p>
          <a:p>
            <a:r>
              <a:t>lên Google Drive và thêm ô resume — commit 98348dc. Thứ hai, có một lần chạy nhầm trên CPU với cùng tên run và tùy chọn exist_ok=True:</a:t>
            </a:r>
          </a:p>
          <a:p>
            <a:r>
              <a:t>nó chỉ chạy được 1 epoch, mất 8.745 giây, và ghi đè lên best.pt tốt của 80 epoch. Nếu chạy hết trên CPU sẽ mất khoảng 8 ngày.</a:t>
            </a:r>
          </a:p>
          <a:p>
            <a:r>
              <a:t>Nhóm khôi phục được file 80 epoch từ lịch sử phiên bản của Google Drive.</a:t>
            </a:r>
          </a:p>
          <a:p/>
          <a:p>
            <a:r>
              <a:t>Kết quả: mAP50 validation 85,4%, mAP50-95 75,2%. Lưu ý đây chỉ là số validation, chưa có test. Lớp premature hay bị nhầm với mature.</a:t>
            </a:r>
          </a:p>
          <a:p>
            <a:r>
              <a:t>Bài học rút ra: luôn kiểm tra có GPU trước khi chạy, mỗi lần chạy một tên mới, và không cho phép ghi đè.</a:t>
            </a:r>
          </a:p>
          <a:p>
            <a:r>
              <a:t>File này vẫn được giữ làm baseline, chọn bằng PIPELINE_MODE=legacy.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Song song với huấn luyện, nhóm cần một bản chạy được trên web để thử ảnh.</a:t>
            </a:r>
          </a:p>
          <a:p>
            <a:r>
              <a:t>Lựa chọn đầu tiên là Modal: lần đầu lỗi "Token missing", lần sau lỗi vượt giới hạn chi tiêu — gói miễn phí của Modal có giới hạn 0 đô</a:t>
            </a:r>
          </a:p>
          <a:p>
            <a:r>
              <a:t>cho đến khi gắn thẻ. Tạm thời nhóm chạy backend trên laptop và mở ra ngoài bằng Cloudflare quick tunnel, nhưng cách này chỉ chạy khi laptop bật.</a:t>
            </a:r>
          </a:p>
          <a:p/>
          <a:p>
            <a:r>
              <a:t>Ngày 24/09 nhóm triển khai lên Google Cloud Run ở vùng asia-southeast1, chạy CPU và tự tắt khi không có người dùng.</a:t>
            </a:r>
          </a:p>
          <a:p>
            <a:r>
              <a:t>Gặp hai lỗi: service account của Cloud Build không đọc được mã nguồn, phải cấp role Cloud Run Builder; và chính sách tổ chức chặn truy cập công khai,</a:t>
            </a:r>
          </a:p>
          <a:p>
            <a:r>
              <a:t>phải dùng cờ --no-invoker-iam-check. Sau đó /health và /detect chạy, khoảng 7,6 giây mỗi ảnh. Revision này là fruit-detection-00001-z2h,</a:t>
            </a:r>
          </a:p>
          <a:p>
            <a:r>
              <a:t>vẫn giữ để có thể quay lại.</a:t>
            </a:r>
          </a:p>
          <a:p/>
          <a:p>
            <a:r>
              <a:t>Ý nghĩa: có bản web thật giúp nhóm thử ảnh thật ngay, và chính lần thử ngày 24/09 cho thấy mô hình chưa dùng được —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24/09 nhóm thử mô hình 7 lớp trên 4 ảnh thật. Bảng bên trái là số box tìm được ở ba ngưỡng confidence.</a:t>
            </a:r>
          </a:p>
          <a:p>
            <a:r>
              <a:t>Ảnh thanh long cận cảnh còn tạm được: 3 box. Nhưng ảnh cả cây thanh long: không tìm được quả nào. Cây xoài có hàng chục quả: chỉ 7 box ở</a:t>
            </a:r>
          </a:p>
          <a:p>
            <a:r>
              <a:t>ngưỡng 0,25, và về 0 khi tăng ngưỡng lên 0,8. Ảnh xoài chín thì bị gọi là mature.</a:t>
            </a:r>
          </a:p>
          <a:p/>
          <a:p>
            <a:r>
              <a:t>Nhóm tìm ra ba nguyên nhân.</a:t>
            </a:r>
          </a:p>
          <a:p>
            <a:r>
              <a:t>Một: lệch miền dữ liệu. Ảnh huấn luyện là ảnh cận cảnh 640 pixel, còn trên ảnh cả cây mỗi quả chỉ 10–25 pixel.</a:t>
            </a:r>
          </a:p>
          <a:p>
            <a:r>
              <a:t>Hai: confidence của YOLO không phải xác suất đã hiệu chỉnh. Ngưỡng cho F1 tốt nhất là khoảng 0,42, nên khi người dùng đòi 80–90% thì gần như mọi box đều bị bỏ.</a:t>
            </a:r>
          </a:p>
          <a:p>
            <a:r>
              <a:t>Ba: một mô hình phải vừa tìm quả vừa phân biệt 7 mức chín. Độ chính xác theo từng mức chỉ khoảng 56% với premature, 67% với mature, 84% với ripe.</a:t>
            </a:r>
          </a:p>
          <a:p/>
          <a:p>
            <a:r>
              <a:t>Từ đây nhóm quyết định tách bài toán thành hai bước, mỗi bước đo và sửa riêng.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mới, commit f2c43ab ngày 24/09, gồm năm bước như trên slide.</a:t>
            </a:r>
          </a:p>
          <a:p>
            <a:r>
              <a:t>Ảnh vào được xoay đúng theo EXIF và chuyển về RGB. Detector YOLOv8s chỉ có hai lớp: xoài và thanh long. Ngưỡng confidence để thấp, 0,25,</a:t>
            </a:r>
          </a:p>
          <a:p>
            <a:r>
              <a:t>vì nhiệm vụ của nó là không bỏ sót quả nhỏ.</a:t>
            </a:r>
          </a:p>
          <a:p>
            <a:r>
              <a:t>Mỗi box được nới rộng 10% rồi cắt ra. Crop nhỏ hơn 64 pixel vẫn được đếm nhưng không đoán độ chín — quy tắc này thêm ngày 02/10.</a:t>
            </a:r>
          </a:p>
          <a:p>
            <a:r>
              <a:t>Crop đi vào classifier riêng theo loài: xoài 4 mức, thanh long 3 mức.</a:t>
            </a:r>
          </a:p>
          <a:p>
            <a:r>
              <a:t>Cuối cùng xác suất được hiệu chỉnh bằng temperature scaling trên một tập calibration riêng, và mỗi lớp có ngưỡng riêng. Nếu không đạt ngưỡng,</a:t>
            </a:r>
          </a:p>
          <a:p>
            <a:r>
              <a:t>nhãn là mango_uncertain hoặc dragonfruit_uncertain.</a:t>
            </a:r>
          </a:p>
          <a:p/>
          <a:p>
            <a:r>
              <a:t>Ba lợi ích ở hàng dưới. Mỗi bước có chỉ số riêng nên biết lỗi nằm ở đâu. Dùng được nhiều dữ liệu hơn: bộ chỉ có box như MangoYOLO vẫn dùng cho detector,</a:t>
            </a:r>
          </a:p>
          <a:p>
            <a:r>
              <a:t>bộ chỉ có nhãn cả ảnh như Black_Rot vẫn dùng cho classifier. Và hệ thống trả lời trung thực: vẫn đếm quả, nhưng chỉ nói độ chín khi đủ chắc.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Vòng 2 là lần đầu huấn luyện pipeline hai giai đoạn, trên Colab từ 24 đến 27/09.</a:t>
            </a:r>
          </a:p>
          <a:p>
            <a:r>
              <a:t>Nhóm thêm dữ liệu công khai cho detector: MangoYOLO và bộ xoài trên cây của CQUniversity, cùng bộ thanh long của Mendeley; loại 630 trong 2.127 ảnh</a:t>
            </a:r>
          </a:p>
          <a:p>
            <a:r>
              <a:t>thanh long gốc vì trùng từng byte.</a:t>
            </a:r>
          </a:p>
          <a:p/>
          <a:p>
            <a:r>
              <a:t>Detector và classifier xoài chạy xong, classifier thanh long lỗi. Khi chạy tiếp thì resume hỏng vì Ultralytics đánh dấu run đã xong bằng epoch bằng −1;</a:t>
            </a:r>
          </a:p>
          <a:p>
            <a:r>
              <a:t>nhóm sửa ở commit 237fd8f để nhận ra run đã xong và dùng lại best.pt. Runtime Colab lại ngắt, và runtime mới không tìm thấy file zip trên Drive.</a:t>
            </a:r>
          </a:p>
          <a:p>
            <a:r>
              <a:t>Ngày 27/09 thử trên ảnh trên cây, kết quả vẫn rất tệ. Log của các phiên Colab này bị mất nên không còn số liệu.</a:t>
            </a:r>
          </a:p>
          <a:p/>
          <a:p>
            <a:r>
              <a:t>Nguyên nhân gốc được tìm ra ngày 28/09: bộ thanh long xuất từ Roboflow ở định dạng ".yolov8" nhưng thực chất chứa polygon phân đoạn.</a:t>
            </a:r>
          </a:p>
          <a:p>
            <a:r>
              <a:t>Code cũ lấy 4 số đầu tiên của polygon làm tọa độ box, nên mọi box và crop thanh long đều sai. Tất cả checkpoint trước đó phải bỏ.</a:t>
            </a:r>
          </a:p>
          <a:p/>
          <a:p>
            <a:r>
              <a:t>Từ đây nhóm quyết định: dừng huấn luyện, sửa dữ liệu trước. Đó là nội dung phần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3: dữ liệu. Đây là phần nhóm tốn công nhất, vì ba vòng huấn luyện thất bại đều do dữ liệu chứ không do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và slide sau liệt kê toàn bộ nguồn dữ liệu nhóm đã dùng, theo đúng file data/external/datasets.json và các báo cáo kiểm toán.</a:t>
            </a:r>
          </a:p>
          <a:p/>
          <a:p>
            <a:r>
              <a:t>Hai bộ đầu là hai export từ Roboflow dùng từ ngày đầu. Bộ xoài 2.004 ảnh nhưng chỉ từ 926 ảnh gốc. Bộ thanh long 3.007 ảnh, nhãn thực chất là polygon.</a:t>
            </a:r>
          </a:p>
          <a:p>
            <a:r>
              <a:t>MangoYOLO của CQUniversity có 1.730 ảnh và 15.281 box, chụp ban đêm có đèn chiếu — rất tốt cho detector nhưng không có nhãn độ chín.</a:t>
            </a:r>
          </a:p>
          <a:p>
            <a:r>
              <a:t>Bộ phân đoạn xoài trên cây của CQU có 542 tile; nhóm đổi mask thành box.</a:t>
            </a:r>
          </a:p>
          <a:p>
            <a:r>
              <a:t>Hai bộ thanh long của Mendeley: bộ maturity có 2.127 ảnh gốc, dùng cho classifier ở vòng 2 rồi bỏ ở v2 vì crop từ Roboflow tốt hơn;</a:t>
            </a:r>
          </a:p>
          <a:p>
            <a:r>
              <a:t>bộ quality có nhãn Fresh/Defect thì không dùng, vì "tươi/khuyết tật" không phải "chín/hỏng" — đây là quy tắc nhóm giữ suốt dự án.</a:t>
            </a:r>
          </a:p>
          <a:p>
            <a:r>
              <a:t>Ngày 28/09 thêm hai bộ ảnh vườn thật: DF pose v2 với 2.448 frame thanh long lấy từ 7 video, và MangoFruitBD với 1.070 ảnh xoài ban ngày.</a:t>
            </a:r>
          </a:p>
          <a:p>
            <a:r>
              <a:t>Lưu ý MangoFruitBD có giấy phép phi thương mại CC BY-NC, nên mô hình từ v2 trở đi chỉ dùng cho học tập.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dữ liệu thứ hai được thêm dần theo từng vấn đề.</a:t>
            </a:r>
          </a:p>
          <a:p>
            <a:r>
              <a:t>DF-MOD Black_Rot thêm ngày 28/09 để có quả thanh long hỏng thật: 675 file nhưng kiểm tra hash chỉ có 270 ảnh khác nhau — 405 bản là bản sao y hệt.</a:t>
            </a:r>
          </a:p>
          <a:p>
            <a:r>
              <a:t>Ngày 29/09, để sửa lỗi không tìm được quả trên ảnh cả cây, nhóm thêm bốn nguồn: bộ xoài chụp xa gcgrjvwmm2 của Mendeley 1.023 ảnh;</a:t>
            </a:r>
          </a:p>
          <a:p>
            <a:r>
              <a:t>Roboflow mango-tree 690 ảnh cả cây, trung bình khoảng 13 quả mỗi ảnh; Roboflow pitaya 992 ảnh hàng thanh long; và 97 ảnh trụ thanh long chín.</a:t>
            </a:r>
          </a:p>
          <a:p>
            <a:r>
              <a:t>Cũng ngày 29/09 thêm bộ Mendeley mm8g66d7rc gồm 951 ảnh xoài chín dần đặt trên bàn, dùng cho classifier để có lớp turning;</a:t>
            </a:r>
          </a:p>
          <a:p>
            <a:r>
              <a:t>giấy phép bộ này chưa được ghi trong file của dự án, nhóm cần bổ sung.</a:t>
            </a:r>
          </a:p>
          <a:p>
            <a:r>
              <a:t>Ngày 30/09, cho v4, thêm bộ thanh-long-detection 5.534 ảnh — bộ này có tới 19 tên lớp lộn xộn như "thanhlongchin", "Class_A", "0", "16",</a:t>
            </a:r>
          </a:p>
          <a:p>
            <a:r>
              <a:t>tất cả được gộp thành dragonfruit — và 1.428 ảnh âm tính: vải, chôm chôm, lựu, táo, cà chua, hoa thanh long, để dạy mô hình đâu không phải quả.</a:t>
            </a:r>
          </a:p>
          <a:p>
            <a:r>
              <a:t>Cuối cùng, cho thử nghiệm C ngày 02/10, thêm 11 ảnh xoài từ Wikimedia Commons do nhóm tự vẽ box.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28/09 nhóm dừng huấn luyện và rà lại dữ liệu. Bốn lỗi chính:</a:t>
            </a:r>
          </a:p>
          <a:p/>
          <a:p>
            <a:r>
              <a:t>Một, polygon bị đọc thành box: sửa bằng cách đổi mỗi polygon thành hình chữ nhật bao ngoài, kiểm tra tọa độ nằm trong 0 đến 1, bỏ box diện tích 0.</a:t>
            </a:r>
          </a:p>
          <a:p>
            <a:r>
              <a:t>Hai, nhãn thanh long nhiễu: kiểm toán tìm ra 145 box có nhãn độ chín mâu thuẫn với nhãn của chính ảnh gốc, và 703 box nhỏ hơn 1% diện tích ảnh.</a:t>
            </a:r>
          </a:p>
          <a:p>
            <a:r>
              <a:t>Xem trực tiếp thì thấy cuống xanh bị gán Unripe, mảnh vụn bị gán Rotten. Cách sửa: chỉ giữ quả nổi bật — box lớn nhất chiếm ít nhất 10% ảnh,</a:t>
            </a:r>
          </a:p>
          <a:p>
            <a:r>
              <a:t>cạnh ngắn ít nhất 64 pixel — còn ảnh mâu thuẫn thì cách ly.</a:t>
            </a:r>
          </a:p>
          <a:p>
            <a:r>
              <a:t>Ba, thiếu ảnh ngoài vườn: thêm DF pose và MangoFruitBD; mọi frame của cùng một video phải nằm chung một tập để không rò rỉ.</a:t>
            </a:r>
          </a:p>
          <a:p>
            <a:r>
              <a:t>Bốn, thiếu quả hỏng thật: thêm Black_Rot, loại 405 bản sao, và gom 3 cặp ảnh chụp cùng một quả từ hai góc.</a:t>
            </a:r>
          </a:p>
          <a:p/>
          <a:p>
            <a:r>
              <a:t>Nhóm cũng thêm một "cổng sẵn sàng": mỗi lớp phải có ít nhất 80 nhóm ảnh gốc trong train và 20 trong mỗi tập val, calib, test, nếu không script không cho huấn luyện.</a:t>
            </a:r>
          </a:p>
          <a:p>
            <a:r>
              <a:t>Kết quả là bộ maturity_v2 với 10.438 ảnh detector, 2.534 crop xoài, 1.416 crop thanh long; 22 test tự động đều pass.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liệt kê 9 phiên bản dữ liệu, số liệu lấy từ preparation_report.json của từng thư mục trong data/prepared.</a:t>
            </a:r>
          </a:p>
          <a:p/>
          <a:p>
            <a:r>
              <a:t>two_stage_public ngày 24/09 chỉ có box xoài — detector lúc đó thực tế không có box thanh long nào. orchard_v1 ngày 28/09 thêm ảnh vườn.</a:t>
            </a:r>
          </a:p>
          <a:p>
            <a:r>
              <a:t>maturity_v2 cùng ngày là bản đã rà nhãn thanh long; 1.406 ảnh mang nhãn quality bị cách ly.</a:t>
            </a:r>
          </a:p>
          <a:p>
            <a:r>
              <a:t>maturity_v3 ngày 29/09 — dòng tô xanh — là dữ liệu của mô hình đang dùng: 9.231 ảnh train, 1.972 val, 2.037 test cho detector;</a:t>
            </a:r>
          </a:p>
          <a:p>
            <a:r>
              <a:t>classifier xoài 2.688 train, 351 val, 235 calibration, 234 test; classifier thanh long giữ như v2: 958, 196, 131, 131.</a:t>
            </a:r>
          </a:p>
          <a:p>
            <a:r>
              <a:t>detector_v4 ngày 30/09 tăng lên hơn 20 nghìn ảnh, và cũng là lúc phát hiện 3 ảnh test có bản sao trong train.</a:t>
            </a:r>
          </a:p>
          <a:p>
            <a:r>
              <a:t>Ngày 02/10 có bốn phiên bản cho các thử nghiệm: A cách ly 1.082 ảnh có lịch sử chia tập hoặc nhãn mâu thuẫn; B giống A nhưng bỏ 273 ảnh táo, lựu, cà chua;</a:t>
            </a:r>
          </a:p>
          <a:p>
            <a:r>
              <a:t>bản label_review loại 1.604 box trùng nhưng bị đánh dấu chưa sẵn sàng vì phải bỏ quá nhiều ảnh thanh long ngoài vườn;</a:t>
            </a:r>
          </a:p>
          <a:p>
            <a:r>
              <a:t>và C với 50 ảnh sửa nhãn được lặp 4 lần mỗi epoch, 11 ảnh xoài mới lặp 16 lần, giới hạn bộ thanh-long còn 600 ảnh.</a:t>
            </a:r>
          </a:p>
          <a:p>
            <a:r>
              <a:t>Quan trọng: từ A trở đi, tập val và test được giữ y hệt từng byte để so sánh công bằng.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bài học về dữ liệu không chỉ nằm trong báo cáo mà được viết thành code trong training/prepare_two_stage_data.py và training/maturity_data.py.</a:t>
            </a:r>
          </a:p>
          <a:p/>
          <a:p>
            <a:r>
              <a:t>Một, chống rò rỉ: hàm rf_group_id gom mọi bản sao Roboflow của cùng một ảnh gốc; assert_no_group_leakage dừng chương trình nếu một nhóm nằm ở hai tập.</a:t>
            </a:r>
          </a:p>
          <a:p>
            <a:r>
              <a:t>Hai, bản sao gần giống: nhóm tính dấu vân tay dHash 64 bit, kể cả ảnh lật; hai ảnh lệch không quá 4 bit và màu thu nhỏ gần giống thì coi là một nhóm.</a:t>
            </a:r>
          </a:p>
          <a:p>
            <a:r>
              <a:t>Nếu trong một cụm có nhãn khác nhau thì cả cụm bị cách ly.</a:t>
            </a:r>
          </a:p>
          <a:p>
            <a:r>
              <a:t>Ba, chỉ lấy quả nổi bật cho classifier: box lớn nhất phải chiếm ít nhất 10% ảnh, cạnh ít nhất 64 pixel, tỉ lệ cạnh từ 0,25 đến 4.</a:t>
            </a:r>
          </a:p>
          <a:p>
            <a:r>
              <a:t>Bốn, nhãn phải đúng nghĩa: nhãn box phải khớp nhãn nguồn, và nhãn Fresh/Defect không bao giờ được đổi thành chín/hỏng.</a:t>
            </a:r>
          </a:p>
          <a:p>
            <a:r>
              <a:t>Năm, đủ dữ liệu mới được train: thiếu nhóm thì script báo BLOCKED.</a:t>
            </a:r>
          </a:p>
          <a:p>
            <a:r>
              <a:t>Sáu, giữ màu: tắt xoay hue và tắt auto_augment của classifier, vì auto_augment tự thêm biến đổi màu làm vô hiệu cấu hình hsv_h bằng 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4: các lần huấn luyện trên Google Cloud Vertex AI. Với mỗi lần, nhóm trình bày cấu hình, kết quả và lý do chạy lại.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ba vòng trên Colab, nhóm thấy Colab không phù hợp: một lần huấn luyện đầy đủ cần 7 đến 14 giờ trên T4 và không thể chạy mà không có người trông.</a:t>
            </a:r>
          </a:p>
          <a:p>
            <a:r>
              <a:t>Tài khoản Google Cloud Free Trial có quota GPU của Compute Engine bằng 0, nên không tạo được máy ảo GPU. Nhưng Vertex AI có quota Spot riêng cho T4, V100, A100.</a:t>
            </a:r>
          </a:p>
          <a:p>
            <a:r>
              <a:t>Ngân sách duy nhất là tín dụng Free Trial khoảng 5,78 triệu đồng, hết hạn ngày 10/12.</a:t>
            </a:r>
          </a:p>
          <a:p/>
          <a:p>
            <a:r>
              <a:t>Nhóm viết bộ script trong scripts/gcp: tải bộ dữ liệu đã chuẩn bị lên Cloud Storage một lần, gửi job Vertex AI chạy trên một GPU V100 dạng Spot, giới hạn 24 giờ.</a:t>
            </a:r>
          </a:p>
          <a:p>
            <a:r>
              <a:t>Checkpoint được ghi lên bucket sau mỗi epoch, nên nếu Google thu hồi máy Spot thì job chạy tiếp từ epoch cuối.</a:t>
            </a:r>
          </a:p>
          <a:p>
            <a:r>
              <a:t>Spot V100 giá khoảng 0,75 đến 1 đô mỗi giờ, so với 2,48 đô bình thường; một lần chạy 4–5 giờ tốn khoảng 5 đến 10 đô.</a:t>
            </a:r>
          </a:p>
          <a:p>
            <a:r>
              <a:t>Các thử nghiệm A, B, C sau này chỉ chạy 10 epoch với giới hạn 2 giờ để tiết kiệm.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v2 là lần đầu trên Vertex AI, job 4689768257580695552, ngày 28/09 từ 20 giờ đến 23 giờ 09, tổng 3 giờ 9 phút.</a:t>
            </a:r>
          </a:p>
          <a:p>
            <a:r>
              <a:t>Detector YOLOv8s 100 epoch, ảnh 960 pixel; hai classifier YOLOv8s-cls 50 epoch, ảnh 320 pixel. Classifier xoài dừng sớm ở epoch 43.</a:t>
            </a:r>
          </a:p>
          <a:p/>
          <a:p>
            <a:r>
              <a:t>Kết quả: detector mAP50 98,5% trên test, thanh long đúng 131 trên 131. Nhưng xoài chỉ đúng 63,9%, tức 92 trên 144 crop.</a:t>
            </a:r>
          </a:p>
          <a:p/>
          <a:p>
            <a:r>
              <a:t>Ngày 29/09 nhóm kiểm tra kỹ và tìm ra ba vấn đề.</a:t>
            </a:r>
          </a:p>
          <a:p>
            <a:r>
              <a:t>Một, lỗi ngưỡng: ngưỡng được làm tròn 6 chữ số, nên 0,9999997868 thành 1,0 và loại cả những crop thanh long đúng. Sửa bằng cách giữ đủ độ chính xác float64</a:t>
            </a:r>
          </a:p>
          <a:p>
            <a:r>
              <a:t>và xử lý trường hợp bằng nhau; có test riêng trong training/test_calibration_thresholds.py. Thanh long được nhận từ 128 lên 131 trên 131.</a:t>
            </a:r>
          </a:p>
          <a:p>
            <a:r>
              <a:t>Hai, ngưỡng của premature và mature bị đặt bằng 1,0 vì không mức nào đạt precision 80%, nên chỉ 18 trên 144 quả xoài có nhãn — còn lại là uncertain.</a:t>
            </a:r>
          </a:p>
          <a:p>
            <a:r>
              <a:t>Ba, ảnh chụp rộng: cả trụ thanh long chỉ thấy 3 trong khoảng 40 quả. Nhóm thử nhiều kích thước ảnh từ 640 đến 1600 pixel nhưng không cải thiện —</a:t>
            </a:r>
          </a:p>
          <a:p>
            <a:r>
              <a:t>nghĩa là thiếu dữ liệu, không phải chỉnh tham số.</a:t>
            </a:r>
          </a:p>
          <a:p/>
          <a:p>
            <a:r>
              <a:t>Nguyên nhân xoài: bộ Mendeley chia giai đoạn theo số ngày sau khi đậu quả. Các quả xanh này nhìn y hệt nhau. Khi gộp về chín/chưa chín, mô hình đã đúng 97,9% —</a:t>
            </a:r>
          </a:p>
          <a:p>
            <a:r>
              <a:t>nó học tốt cái nhìn thấy được; nhãn mới là vấn đề.</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hai nguyên nhân của v2, nhóm sửa đúng hai chỗ cho v3.</a:t>
            </a:r>
          </a:p>
          <a:p/>
          <a:p>
            <a:r>
              <a:t>Một, đổi định nghĩa lớp xoài theo cái nhìn thấy trên ảnh. Bảng bên trái: young là premature và early cũ, vì đều xanh nhỏ; mature giữ nguyên;</a:t>
            </a:r>
          </a:p>
          <a:p>
            <a:r>
              <a:t>thêm lớp mới turning cho quả bắt đầu ngả vàng; ripe là quả chín. Để có quả turning, nhóm thêm bộ Mendeley 951 ảnh xoài chín dần:</a:t>
            </a:r>
          </a:p>
          <a:p>
            <a:r>
              <a:t>stage 0 và 1 vào mature — stage 1 "Early Ripe" khi xem trực tiếp không khác stage 0 —, stage 2 vào turning, stage 3 vào ripe.</a:t>
            </a:r>
          </a:p>
          <a:p/>
          <a:p>
            <a:r>
              <a:t>Hai, thêm dữ liệu ảnh cả cây cho detector: 1.023 ảnh xoài chụp xa, 690 ảnh cây xoài, 992 ảnh hàng thanh long và 97 ảnh trụ thanh long.</a:t>
            </a:r>
          </a:p>
          <a:p>
            <a:r>
              <a:t>Mỗi ảnh Roboflow chỉ giữ một bản gốc thay vì cả bản tăng cường.</a:t>
            </a:r>
          </a:p>
          <a:p/>
          <a:p>
            <a:r>
              <a:t>Kết quả: bộ detector tăng từ 10.438 lên 13.240 ảnh, tăng 27%, và số box tăng 60% lên 36.861. Backend và frontend được cập nhật tên lớp mới.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v3 chạy ngày 29/09 từ 16 giờ 48 đến 20 giờ 42, job 4169118715503181824, cùng cấu hình với v2 — chỉ đổi dữ liệu. Vì vậy so sánh v2 và v3 cho thấy đúng tác dụng của dữ liệu.</a:t>
            </a:r>
          </a:p>
          <a:p/>
          <a:p>
            <a:r>
              <a:t>Biểu đồ là recall của detector trên cùng các ảnh test, 40 ảnh mỗi nguồn. Ảnh cả cây xoài từ 6% lên 86%. Hàng thanh long từ 25% lên 92%.</a:t>
            </a:r>
          </a:p>
          <a:p>
            <a:r>
              <a:t>Trụ thanh long từ 12% lên 53% — tiến bộ lớn nhưng vẫn là điểm yếu. Xoài chụp xa từ 63% lên 77%.</a:t>
            </a:r>
          </a:p>
          <a:p/>
          <a:p>
            <a:r>
              <a:t>Bên phải: classifier xoài từ 63,9% lên 90,2%; số quả có nhãn chắc chắn từ 18 trên 144 lên 179 trên 234, trong đó 174 đúng.</a:t>
            </a:r>
          </a:p>
          <a:p>
            <a:r>
              <a:t>Hai ảnh thật của nhóm: trụ thanh long từ 3 lên 22 quả, cây xoài từ 8 lên 46 quả. Trên ảnh cây xoài nhiều quả có nhãn uncertain vì quá nhỏ hoặc chưa đủ tin cậy —</a:t>
            </a:r>
          </a:p>
          <a:p>
            <a:r>
              <a:t>đó là hành vi mong muốn.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chi tiết của v3, mô hình đang chạy. Các file trong backend/weights khớp với job này: hash của detector.pt trùng với best.pt của job,</a:t>
            </a:r>
          </a:p>
          <a:p>
            <a:r>
              <a:t>và hai file calibration khớp từng trường.</a:t>
            </a:r>
          </a:p>
          <a:p/>
          <a:p>
            <a:r>
              <a:t>Detector trên 2.037 ảnh test với 7.468 box: precision 92,2%, recall 88,3%, mAP50 94,9%, mAP50-95 68,3%. Thanh long tốt hơn xoài một chút.</a:t>
            </a:r>
          </a:p>
          <a:p>
            <a:r>
              <a:t>Epoch tốt nhất là 86 trên 100. mAP thấp hơn v2 vì tập test v3 có thêm ảnh cả cây khó hơn — không phải mô hình kém đi.</a:t>
            </a:r>
          </a:p>
          <a:p/>
          <a:p>
            <a:r>
              <a:t>Classifier xoài: turning đúng 24 trên 24, ripe 47 trên 49, mature 76 trên 87, young 64 trên 74. Lỗi chủ yếu là nhầm young và mature — hai lớp đều xanh.</a:t>
            </a:r>
          </a:p>
          <a:p>
            <a:r>
              <a:t>Ngưỡng từng lớp được chọn trên tập calibration để đạt precision khoảng 80%: turning cần 0,82, các lớp khác từ 0,44 đến 0,54.</a:t>
            </a:r>
          </a:p>
          <a:p/>
          <a:p>
            <a:r>
              <a:t>Hiệu chỉnh: xoài có nhiệt độ T bằng 2,154, nghĩa là mô hình gốc quá tự tin và được làm "mềm" lại; sai số hiệu chỉnh ECE giảm từ 0,071 xuống 0,034.</a:t>
            </a:r>
          </a:p>
          <a:p>
            <a:r>
              <a:t>Thanh long có T bằng 0,05 và ngưỡng gần 1,0 vì tập calibration tách biệt hoàn toàn.</a:t>
            </a:r>
          </a:p>
          <a:p>
            <a:r>
              <a:t>Nhóm phải nói rõ: con số 100% của thanh long là trên tập đã tuyển chọn; nhiều khả năng mô hình dựa cả vào nền ảnh, và chưa có ảnh độc lập từ vườn thật.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30/09 nhóm thử v3 trên 37 ảnh lấy từ Wikimedia Commons với từ khóa "thanh long", "xoài", "dragon fruit plant", "mango tree", và xem bằng mắt.</a:t>
            </a:r>
          </a:p>
          <a:p>
            <a:r>
              <a:t>Phần làm tốt: tìm thấy xoài ở 10 trên 11 ảnh có xoài, có ảnh tới 31 quả; xoài vàng chín được gọi đúng; thanh long trên trụ đúng; gần như không báo nhầm lá, hoa hay nhà cửa.</a:t>
            </a:r>
          </a:p>
          <a:p/>
          <a:p>
            <a:r>
              <a:t>Phần lỗi: vải bị gọi là thanh long — vì mô hình chỉ biết hai loại quả nên cái gì đỏ tròn cũng phải là một trong hai. Hoa thanh long bị gọi là quả xanh.</a:t>
            </a:r>
          </a:p>
          <a:p>
            <a:r>
              <a:t>Xoài đỏ và xoài xanh cận cảnh hay bị uncertain.</a:t>
            </a:r>
          </a:p>
          <a:p/>
          <a:p>
            <a:r>
              <a:t>Biểu đồ bên phải là số box sai của v3 trên các bộ ảnh không có xoài hay thanh long: 214 box trên ảnh vải Việt Nam, 174 trên litchi, 73 trên táo.</a:t>
            </a:r>
          </a:p>
          <a:p>
            <a:r>
              <a:t>Đây là lý do làm v4: thêm ảnh âm tính, thêm ảnh trụ thanh long dày quả, và tăng độ phân giải lên 1280 pixel.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v4 chạy ngày 30/09, job 5533271247212773376, chỉ huấn luyện lại detector. Nhóm đổi nhiều thứ cùng lúc: dữ liệu tăng lên 20.187 ảnh với bộ thanh-long và 1.428 ảnh âm tính,</a:t>
            </a:r>
          </a:p>
          <a:p>
            <a:r>
              <a:t>độ phân giải 1280 pixel, fine-tune từ v3 trong 50 epoch với learning rate khởi đầu lại 0,01. Chạy 4,07 giờ.</a:t>
            </a:r>
          </a:p>
          <a:p/>
          <a:p>
            <a:r>
              <a:t>Job báo thành công, và lúc huấn luyện mAP50 validation đạt 93,3%. Nhưng khi tải lại file best.pt đã lưu, mAP50 chỉ còn 31,4%, thanh long trên test còn 1,1%.</a:t>
            </a:r>
          </a:p>
          <a:p>
            <a:r>
              <a:t>Nguyên nhân: checkpoint được lưu ở độ chính xác FP16. 27 giá trị phương sai trong các lớp BatchNorm của đầu ra vượt quá giá trị lớn nhất FP16 là 65.504 nên bị cắt.</a:t>
            </a:r>
          </a:p>
          <a:p>
            <a:r>
              <a:t>Mọi giá trị vẫn hữu hạn nên kiểm tra "không có NaN" không phát hiện ra.</a:t>
            </a:r>
          </a:p>
          <a:p/>
          <a:p>
            <a:r>
              <a:t>Nhóm thử ước lượng lại các giá trị BatchNorm. Bản sửa tốt hơn trên số tổng, nhưng vẫn mất xoài: một ảnh v3 tìm được 11 quả, v4 tìm 0; ảnh xoài đỏ từ 10 còn 5.</a:t>
            </a:r>
          </a:p>
          <a:p>
            <a:r>
              <a:t>Ngoài ra kiểm tra dấu vân tay ảnh tìm thấy 76 trên 830 ảnh test có ảnh gần giống trong train.</a:t>
            </a:r>
          </a:p>
          <a:p>
            <a:r>
              <a:t>Và vì đổi quá nhiều thứ cùng lúc, nhóm không biết thay đổi nào gây lỗi xoài.</a:t>
            </a:r>
          </a:p>
          <a:p/>
          <a:p>
            <a:r>
              <a:t>Bài học: job chạy xong không có nghĩa là mô hình dùng được. Nhóm chuyển sang lưu FP32, kiểm tra dự đoán trước và sau khi lưu phải giống hệt — commit d4b85a1 — và giữ v3.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02/10, trước khi huấn luyện tiếp, nhóm làm ba việc để không lặp lại lỗi v4.</a:t>
            </a:r>
          </a:p>
          <a:p/>
          <a:p>
            <a:r>
              <a:t>Một, checkpoint an toàn: lưu best.pt ở FP32 và last.pt giữ trạng thái optimizer để resume; khi lưu phải kiểm tra tensor hữu hạn, BatchNorm hợp lệ,</a:t>
            </a:r>
          </a:p>
          <a:p>
            <a:r>
              <a:t>và dự đoán trước, sau khi lưu giống hệt. Nhóm chạy thử trên CPU: cố ý ngắt sau epoch 0, resume, và chạy xong epoch 2.</a:t>
            </a:r>
          </a:p>
          <a:p/>
          <a:p>
            <a:r>
              <a:t>Hai, một benchmark cố định: 234 ảnh validation với 584 quả và 112 ảnh không có quả, chạy ở 960 pixel, ngưỡng 0,25, IoU 0,5.</a:t>
            </a:r>
          </a:p>
          <a:p>
            <a:r>
              <a:t>Hash của ảnh và nhãn được kiểm tra mỗi lần, để mọi mô hình được so trên đúng một bộ. Cộng thêm các ảnh thật của nhóm làm ảnh hồi quy.</a:t>
            </a:r>
          </a:p>
          <a:p/>
          <a:p>
            <a:r>
              <a:t>Ba, nhóm thử chia ảnh thành ô 512 pixel để tìm quả nhỏ. Kết quả xấu: precision giảm từ 55,3% xuống 39,2%, box sai tăng từ 290 lên 538, chỉ thêm 6 quả đúng. Nên tắt.</a:t>
            </a:r>
          </a:p>
          <a:p/>
          <a:p>
            <a:r>
              <a:t>Và nhóm đặt tiêu chí trước khi thử: mô hình mới chỉ thay v3 nếu lấy lại được các ảnh xoài bị mất.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02/10 nhóm chạy ba thử nghiệm có kiểm soát. Cả ba đều fine-tune detector v3 trong 10 epoch, 960 pixel, learning rate rất nhỏ 0,0001, cùng seed,</a:t>
            </a:r>
          </a:p>
          <a:p>
            <a:r>
              <a:t>và tập val/test giống nhau từng byte. Chỉ dữ liệu train khác nhau.</a:t>
            </a:r>
          </a:p>
          <a:p/>
          <a:p>
            <a:r>
              <a:t>A dùng dữ liệu đã kiểm toán có ảnh âm tính. B giống A nhưng bỏ 273 ảnh táo, lựu, cà chua — để kiểm tra giả thuyết ảnh quả đỏ âm tính làm mất xoài đỏ.</a:t>
            </a:r>
          </a:p>
          <a:p>
            <a:r>
              <a:t>Giữa A và B, nhóm rà bằng mắt 603 ảnh train và tìm ra: 5 ảnh ghi là không có quả nhưng thật ra có xoài; 12 ảnh thiếu hoặc sai box;</a:t>
            </a:r>
          </a:p>
          <a:p>
            <a:r>
              <a:t>28 ảnh của nguồn "hoa thanh long ban đêm" thực ra là tranh vẽ; 1.604 box bị trùng; và tỉ lệ ảnh có xoài trong train đã giảm từ 53% xuống 36% khi thêm bộ thanh-long.</a:t>
            </a:r>
          </a:p>
          <a:p>
            <a:r>
              <a:t>Từ đó tạo C: sửa 50 ảnh và lặp chúng 4 lần mỗi epoch, thêm 11 ảnh xoài đỏ và trên cây từ Wikimedia lặp 16 lần, giới hạn bộ thanh-long còn 600 ảnh,</a:t>
            </a:r>
          </a:p>
          <a:p>
            <a:r>
              <a:t>để tỉ lệ ảnh có xoài về lại 53%.</a:t>
            </a:r>
          </a:p>
          <a:p/>
          <a:p>
            <a:r>
              <a:t>Trước khi chạy C có một sự cố: khi kiểm tra cục bộ, Ultralytics gặp một file JPEG bị cắt và tự "sửa" bằng cách ghi đè lên file. File đó được hard-link vào 5 bộ dữ liệu,</a:t>
            </a:r>
          </a:p>
          <a:p>
            <a:r>
              <a:t>nên cả 5 thay đổi cùng lúc. Bước kiểm tra hash phát hiện, nhóm khôi phục bản gốc rồi mới gửi job.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quả trên benchmark cố định: precision tăng rõ, từ 55,3% của v3 lên 66 đến 68% với A, B, C, recall giữ khoảng 82,5%.</a:t>
            </a:r>
          </a:p>
          <a:p>
            <a:r>
              <a:t>Box sai trên 112 ảnh không có quả giảm từ 290 xuống 161, 177 và 142. Nếu chỉ nhìn số tổng thì C là tốt nhất.</a:t>
            </a:r>
          </a:p>
          <a:p/>
          <a:p>
            <a:r>
              <a:t>Nhưng bảng bên phải là các ảnh hồi quy. Cụm xoài chín nhỏ: v3 tìm 11, cả ba bản mới chỉ 4. Xoài đỏ trên cây: v3 10, A và B còn 5, B còn gọi nhầm 2 quả xoài đỏ là thanh long.</a:t>
            </a:r>
          </a:p>
          <a:p>
            <a:r>
              <a:t>Trụ thanh long và cây xoài cũng giảm.</a:t>
            </a:r>
          </a:p>
          <a:p/>
          <a:p>
            <a:r>
              <a:t>Theo tiêu chí đã đặt trước, không bản nào thay v3. Nhóm còn quét ngưỡng confidence từ 0,05 đến 0,4: với nguồn xoài trên cây, recall không bao giờ vượt khoảng 53%</a:t>
            </a:r>
          </a:p>
          <a:p>
            <a:r>
              <a:t>dù hạ ngưỡng — nghĩa là mô hình không thấy những quả này, chứ không phải ngưỡng quá cao.</a:t>
            </a:r>
          </a:p>
          <a:p>
            <a:r>
              <a:t>Giả thuyết còn lại: khoảng 560 ảnh âm tính vải, litchi, chôm chôm trông giống cụm xoài đỏ nhỏ. Đây là giả thuyết cần kiểm chứng, chưa phải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5: sản phẩm mà người dùng thực sự dùng — pipeline suy luận, giao diện, API và các lần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pipeline đang chạy, đọc từ backend/two_stage.py.</a:t>
            </a:r>
          </a:p>
          <a:p/>
          <a:p>
            <a:r>
              <a:t>Bước 1: detector v3 ở 960 pixel, ngưỡng 0,25. Ảnh rất nhỏ chỉ được phóng to tối đa khoảng 2 lần để tránh làm méo.</a:t>
            </a:r>
          </a:p>
          <a:p>
            <a:r>
              <a:t>Bước 2: bộ lọc loài — một YOLOv8n-cls nhỏ ảnh 224 pixel với ba lớp xoài, thanh long và "quả khác". Box nào có xác suất "quả khác" từ 0,9 trở lên bị loại.</a:t>
            </a:r>
          </a:p>
          <a:p>
            <a:r>
              <a:t>Bộ lọc này thêm ngày 06/10 và đang có lỗi — slide 37 sẽ nói.</a:t>
            </a:r>
          </a:p>
          <a:p>
            <a:r>
              <a:t>Bước 3: cắt quả, nới 10%. Crop nhỏ hơn 64 pixel vẫn được đếm nhưng nhãn độ chín là uncertain với lý do crop_too_small.</a:t>
            </a:r>
          </a:p>
          <a:p>
            <a:r>
              <a:t>Bước 4: classifier theo loài ảnh 320 pixel; logit chia cho nhiệt độ T rồi softmax; nhãn chỉ được nhận nếu xác suất vượt cả ngưỡng người dùng chọn và ngưỡng riêng của lớp.</a:t>
            </a:r>
          </a:p>
          <a:p/>
          <a:p>
            <a:r>
              <a:t>Hai tùy chọn: hỗ trợ ảnh tối dùng CLAHE trên kênh độ sáng L, chỉ đưa ảnh đã tăng sáng cho detector, còn classifier vẫn nhìn màu gốc để không làm sai độ chín.</a:t>
            </a:r>
          </a:p>
          <a:p>
            <a:r>
              <a:t>Quét kỹ chạy detector ở ít nhất 1280 pixel với test-time augmentation, dùng cho ảnh nhiều quả chồng nhau.</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gồm bốn khối. Frontend React với Ant Design, build bằng Vite: người dùng tải ảnh hoặc video, chỉnh hai thanh ngưỡng và bật hai công tắc.</a:t>
            </a:r>
          </a:p>
          <a:p>
            <a:r>
              <a:t>Backend FastAPI kiểm tra định dạng, kích thước, xoay ảnh theo EXIF, rồi gọi pipeline. Mô hình chạy bằng Ultralytics 8.4.155 trên PyTorch CPU.</a:t>
            </a:r>
          </a:p>
          <a:p>
            <a:r>
              <a:t>Video dùng ByteTrack để nối box giữa các khung hình thành từng ID.</a:t>
            </a:r>
          </a:p>
          <a:p/>
          <a:p>
            <a:r>
              <a:t>Bảng là các endpoint. /health cho biết đang chạy chế độ two-stage hay legacy và bộ lọc quả khác có bật không — khi demo luôn mở endpoint này trước.</a:t>
            </a:r>
          </a:p>
          <a:p>
            <a:r>
              <a:t>/detect nhận ảnh tối đa 12 MB với các tham số ngưỡng và hai tùy chọn, trả về tổng số, số theo lớp, danh sách box với nhãn, độ tin cậy, lý do uncertain, và ảnh đã vẽ box.</a:t>
            </a:r>
          </a:p>
          <a:p>
            <a:r>
              <a:t>/detect-video nhận video tối đa 50 MB, 30 giây, 1080p, trả về số quả duy nhất. /docs là Swagger để thử API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Lịch sử triển khai lên Cloud Run, vùng asia-southeast1.</a:t>
            </a:r>
          </a:p>
          <a:p/>
          <a:p>
            <a:r>
              <a:t>Ngày 24/09 là bản 7 lớp, revision 00001-z2h, giữ lại để có thể rollback bằng một lệnh.</a:t>
            </a:r>
          </a:p>
          <a:p>
            <a:r>
              <a:t>Ngày 03/10 triển khai v3 cùng giao diện điện thoại. Có hai lỗi suýt làm hỏng lần deploy: Dockerfile chỉ copy app.py và two_stage.py nhưng code v3 còn import thêm module,</a:t>
            </a:r>
          </a:p>
          <a:p>
            <a:r>
              <a:t>và khi không có file .gcloudignore thì gcloud dùng .gitignore — file này loại thư mục weight, nên image sẽ không có mô hình.</a:t>
            </a:r>
          </a:p>
          <a:p>
            <a:r>
              <a:t>Nhóm viết script deploy_cloud_run.sh: tạo revision mới chưa nhận traffic, smoke test, chỉ chuyển traffic khi đặt PROMOTE=1.</a:t>
            </a:r>
          </a:p>
          <a:p>
            <a:r>
              <a:t>Cùng ngày sửa thẻ độ chín: người dùng đọc "Độ chín 72,4%" thành "quả chín 72%", trong khi đó là độ tin cậy của dự đoán. Thẻ mới ghi rõ mô hình nghiêng về lớp nào,</a:t>
            </a:r>
          </a:p>
          <a:p>
            <a:r>
              <a:t>độ tin cậy bao nhiêu và cần bao nhiêu. Ngưỡng mặc định trên giao diện hạ xuống 0,55 để ngưỡng riêng từng lớp phát huy tác dụng.</a:t>
            </a:r>
          </a:p>
          <a:p>
            <a:r>
              <a:t>Từ 06 đến 08/10 là bản fix4 có thêm bộ lọc loài, video, ảnh tối và quét kỹ.</a:t>
            </a:r>
          </a:p>
          <a:p/>
          <a:p>
            <a:r>
              <a:t>Chạy trên 1 CPU, 2 GiB, mỗi ảnh 1,4 đến 1,8 giây, RAM tối đa 572 MiB. Lưu ý vận hành: .dockerignore hiện chưa cho phép file species_verifier.pt.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05 và 06/10 nhóm thêm bốn tính năng, mỗi tính năng xuất phát từ một ảnh lỗi cụ thể.</a:t>
            </a:r>
          </a:p>
          <a:p/>
          <a:p>
            <a:r>
              <a:t>Bộ lọc loài: ảnh mận trên tay bị v3 gọi là "thanh long chín 100%" và một quả xoài uncertain. Nhóm huấn luyện nhanh một YOLOv8n-cls 3 lớp trên CPU laptop,</a:t>
            </a:r>
          </a:p>
          <a:p>
            <a:r>
              <a:t>5 epoch, ảnh 224 pixel, lớp "quả khác" lấy ảnh mận từ Wikimedia. Bật bộ lọc thì hai box sai biến mất — hai ảnh bên trái.</a:t>
            </a:r>
          </a:p>
          <a:p/>
          <a:p>
            <a:r>
              <a:t>Hỗ trợ ảnh tối: ba ảnh giữa là cùng một ảnh test. Ảnh thường tìm được 13 quả; làm tối nhân tạo còn 2; bật hỗ trợ lên 6. Có cải thiện nhưng chưa bằng ảnh sáng,</a:t>
            </a:r>
          </a:p>
          <a:p>
            <a:r>
              <a:t>và chỉ thử trên ảnh làm tối nhân tạo, chưa có ảnh vườn đêm thật.</a:t>
            </a:r>
          </a:p>
          <a:p/>
          <a:p>
            <a:r>
              <a:t>Quét kỹ: ảnh 5 quả xoài chồng nhau từ 2 lên 4 quả, vẫn sót một quả bị che.</a:t>
            </a:r>
          </a:p>
          <a:p>
            <a:r>
              <a:t>Video: lấy khoảng 5 khung hình mỗi giây, ByteTrack gán ID, ID nào xuất hiện ít nhất 2 khung và có ít nhất một box vượt ngưỡng thì được đếm một lần. Video không đánh giá độ chín.</a:t>
            </a:r>
          </a:p>
          <a:p/>
          <a:p>
            <a:r>
              <a:t>Lưu ý: bộ lọc loài được train nhanh và dữ liệu train nằm trong thư mục tạm đã mất — đây chính là nguồn gốc lỗi ở slide sau.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Ngày 08/10 nhóm chạy lại toàn bộ pipeline đang triển khai trên 2.037 ảnh test, 400 ảnh không có quả và 200 ảnh làm tối, so sánh bật và tắt bộ lọc loài.</a:t>
            </a:r>
          </a:p>
          <a:p/>
          <a:p>
            <a:r>
              <a:t>Recall tổng giảm rất ít: 88,8% khi tắt lọc, 88,5% khi bật; precision khoảng 84%. Trên 400 ảnh không có xoài hay thanh long, số box sai giảm từ 1.103 xuống 264,</a:t>
            </a:r>
          </a:p>
          <a:p>
            <a:r>
              <a:t>số ảnh có box sai giảm từ 276 xuống 114. Riêng vải vẫn khó: 28 trên 40 ảnh vẫn còn box sai.</a:t>
            </a:r>
          </a:p>
          <a:p>
            <a:r>
              <a:t>Ảnh tối: ảnh thường tìm 86%, làm tối còn 54%, bật hỗ trợ lên 63%.</a:t>
            </a:r>
          </a:p>
          <a:p/>
          <a:p>
            <a:r>
              <a:t>Biểu đồ bên phải: recall theo nguồn. Các nguồn cận cảnh và hàng thanh long đều trên 86%. Hai điểm yếu là xoài dày trên cây 56% và trụ thanh long 53% — trùng với kết quả benchmark trước đó.</a:t>
            </a:r>
          </a:p>
          <a:p/>
          <a:p>
            <a:r>
              <a:t>Độ chín: 2.493 quả có nhãn chắc chắn, 5.673 uncertain; khoảng ba phần tư số uncertain là do quả quá nhỏ trong ảnh, dưới 64 pixel.</a:t>
            </a:r>
          </a:p>
          <a:p/>
          <a:p>
            <a:r>
              <a:t>Nhìn số tổng thì bộ lọc có vẻ rất tốt. Slide tiếp theo cho thấy vì sao không được chỉ nhìn số tổng.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phát hiện quan trọng nhất của đợt đánh giá 08/10. Hai ảnh bên trái là cùng một ảnh xoài chín có đốm.</a:t>
            </a:r>
          </a:p>
          <a:p>
            <a:r>
              <a:t>Tắt bộ lọc: quả xoài được nhận là chín với 89%. Bật bộ lọc: tất cả biến mất.</a:t>
            </a:r>
          </a:p>
          <a:p/>
          <a:p>
            <a:r>
              <a:t>Khi đếm theo mức chín, bộ lọc xóa 24 trên 49 quả xoài chín và 8 trên 24 quả xoài turning trong tập test. Detector vẫn chấm các quả này từ 0,70 đến 0,87 — tức detector đúng, bộ lọc sai.</a:t>
            </a:r>
          </a:p>
          <a:p>
            <a:r>
              <a:t>Nguyên nhân: bộ lọc được huấn luyện nhanh với ảnh mận, và học được rằng vỏ vàng cam có đốm là "quả khác".</a:t>
            </a:r>
          </a:p>
          <a:p/>
          <a:p>
            <a:r>
              <a:t>Vì sao số tổng không phát hiện? Vì tập test của detector chủ yếu là xoài xanh, nên recall tổng chỉ giảm 0,3 điểm. Lỗi chỉ lộ ra khi chia theo mức chín.</a:t>
            </a:r>
          </a:p>
          <a:p>
            <a:r>
              <a:t>Đây là cùng bài học với thử nghiệm A/B/C: phải xem theo từng nhóm, không chỉ số tổng.</a:t>
            </a:r>
          </a:p>
          <a:p/>
          <a:p>
            <a:r>
              <a:t>Cách sửa: huấn luyện lại bộ lọc, đưa crop xoài chín và xoài có đốm vào lớp mango, rồi kiểm tra tỉ lệ bị loại cho từng mức chín trước khi deploy.</a:t>
            </a:r>
          </a:p>
          <a:p>
            <a:r>
              <a:t>Trong lúc chờ, khi demo độ chín xoài, nhóm tắt bộ lọc bằng cách trỏ SPECIES_VERIFIER_PATH tới file không tồn tại; /health sẽ báo other_fruit_filter bằng false.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Đếm quả trong video nằm trong backend/video.py. Giới hạn 50 MB, 30 giây, độ phân giải 1080p.</a:t>
            </a:r>
          </a:p>
          <a:p>
            <a:r>
              <a:t>Hệ thống lấy khoảng 5 khung hình mỗi giây, chạy detector với ngưỡng thấp và ByteTrack để nối box thành ID. Mỗi yêu cầu có tracker riêng nên ID không lẫn giữa các người dùng.</a:t>
            </a:r>
          </a:p>
          <a:p>
            <a:r>
              <a:t>Một ID được đếm nếu xuất hiện ít nhất 2 khung và có ít nhất một box vượt ngưỡng. Bộ lọc loài chỉ kiểm tra crop tốt nhất của mỗi ID. Video không phân loại độ chín.</a:t>
            </a:r>
          </a:p>
          <a:p/>
          <a:p>
            <a:r>
              <a:t>Kết quả thử ngày 08/10: video vườn thanh long 20 giây đếm được 3 quả. Video giả lập lia máy qua cây xoài 12 giây đếm 12 trong khi thực tế 8 — đếm thừa vì một chiếc lá bị nhận là xoài,</a:t>
            </a:r>
          </a:p>
          <a:p>
            <a:r>
              <a:t>và quả bị che rồi xuất hiện lại được gán ID mới.</a:t>
            </a:r>
          </a:p>
          <a:p/>
          <a:p>
            <a:r>
              <a:t>Nhóm nói rõ: số đếm video là ước lượng. Chưa có video vườn thật có số quả chuẩn để đo sai số.</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cuối: bài học, hạn chế, bước tiếp theo, và kịch bản demo.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bài học nhóm rút ra, mỗi bài gắn với một lần thất bại cụ thể.</a:t>
            </a:r>
          </a:p>
          <a:p/>
          <a:p>
            <a:r>
              <a:t>Một: sửa dữ liệu trước khi huấn luyện lại. Ba vòng thất bại đều do dữ liệu — polygon đọc thành box, nhãn theo tuổi quả, thiếu ảnh cả cây. Thêm epoch không sửa được.</a:t>
            </a:r>
          </a:p>
          <a:p>
            <a:r>
              <a:t>Hai: kiểm tra trên đúng loại ảnh sẽ dùng. Con số 91% của vòng 0 và 98,5% của v2 che giấu thất bại trên ảnh cả cây, vì tập test giống tập train.</a:t>
            </a:r>
          </a:p>
          <a:p>
            <a:r>
              <a:t>Ba: confidence thô của mô hình không phải xác suất. Hiệu chỉnh nhiệt độ cộng nhãn uncertain cho câu trả lời trung thực.</a:t>
            </a:r>
          </a:p>
          <a:p>
            <a:r>
              <a:t>Bốn: nhãn phải nhìn thấy được trên ảnh. Chỉ đổi định nghĩa lớp xoài, cùng mô hình và cấu hình, độ chính xác từ 63,9% lên 90,2%.</a:t>
            </a:r>
          </a:p>
          <a:p>
            <a:r>
              <a:t>Năm: bảo vệ và kiểm tra checkpoint — v4 cho thấy job thành công chưa chắc mô hình dùng được. Và đánh giá theo từng nhóm: cả thử nghiệm A/B/C lẫn bộ lọc loài</a:t>
            </a:r>
          </a:p>
          <a:p>
            <a:r>
              <a:t>đều trông tốt trên số tổng nhưng làm mất xoài chín.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trái là các hạn chế nhóm đã đo được, không phải phỏng đoán.</a:t>
            </a:r>
          </a:p>
          <a:p>
            <a:r>
              <a:t>Bộ lọc loài đang xóa một nửa số xoài chín. Recall trên xoài dày trên cây chỉ khoảng 50 đến 56%, trụ thanh long dày quả khoảng 53%. Vải và litchi vẫn bị nhận nhầm.</a:t>
            </a:r>
          </a:p>
          <a:p>
            <a:r>
              <a:t>Ảnh tối chỉ còn 54%, có hỗ trợ là 63%. Độ chính xác 100% của thanh long chưa được kiểm chứng ngoài tập đã tuyển chọn.</a:t>
            </a:r>
          </a:p>
          <a:p>
            <a:r>
              <a:t>Bộ MangoFruitBD có giấy phép phi thương mại. Và quan trọng nhất: chưa có ảnh hay video có nhãn từ chính vườn mục tiêu.</a:t>
            </a:r>
          </a:p>
          <a:p/>
          <a:p>
            <a:r>
              <a:t>Bên phải là bước tiếp theo, xếp theo chi phí từ thấp đến cao.</a:t>
            </a:r>
          </a:p>
          <a:p>
            <a:r>
              <a:t>Rẻ nhất là train lại bộ lọc loài với xoài chín và xoài đốm, rồi kiểm tra tỉ lệ bị loại theo từng mức chín.</a:t>
            </a:r>
          </a:p>
          <a:p>
            <a:r>
              <a:t>Tiếp theo là thử giới hạn phóng to cho ảnh nhỏ trên benchmark — chỉ cần chạy đánh giá, không cần train.</a:t>
            </a:r>
          </a:p>
          <a:p>
            <a:r>
              <a:t>Nếu train tiếp thì mỗi lần chỉ đổi một yếu tố, ví dụ C nhưng bỏ ảnh vải, chôm chôm.</a:t>
            </a:r>
          </a:p>
          <a:p>
            <a:r>
              <a:t>Sửa nhãn 1.246 frame thanh long ngoài vườn đang bị cách ly.</a:t>
            </a:r>
          </a:p>
          <a:p>
            <a:r>
              <a:t>Và thu ảnh, video có nhãn từ đúng vườn và đúng camera — điều mà không bộ dữ liệu công khai nào thay được. Mô hình được chọn cuối cùng phải được kiểm tra trên một tập test chưa đụng tới.</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DEMO — khoảng 6 phút. Người demo mở sẵn trình duyệt ở trang ứng dụng (Cloud Run hoặc http://localhost:5173), thư mục ảnh ~/Downloads và thư mục video.</a:t>
            </a:r>
          </a:p>
          <a:p/>
          <a:p>
            <a:r>
              <a:t>Bước 1 (20 giây): mở /health. Nói: "Hệ thống đang chạy chế độ two-stage, detector 960 pixel, bộ lọc quả khác đang bật." Nếu thấy legacy thì dừng và kiểm tra weight.</a:t>
            </a:r>
          </a:p>
          <a:p>
            <a:r>
              <a:t>Bước 2 (40 giây): tải ảnh thanh long cận cảnh dragon-fruit-pucka-fertilizer-1.jpg. Chỉ vào 3 box và nhãn dragonfruit_ripe, đọc độ tin cậy.</a:t>
            </a:r>
          </a:p>
          <a:p>
            <a:r>
              <a:t>Bước 3 (45 giây): tải ảnh cả trụ thanh long tru-cay-thanh-long.jpg. Kết quả khoảng 22 quả. Chỉ ra nhiều quả nhỏ có nhãn uncertain vì crop nhỏ hơn 64 pixel —</a:t>
            </a:r>
          </a:p>
          <a:p>
            <a:r>
              <a:t>"hệ thống vẫn đếm nhưng không đoán độ chín khi quả quá nhỏ". Nhắc: bản 7 lớp ngày 24/09 tìm được 0 quả trên ảnh này.</a:t>
            </a:r>
          </a:p>
          <a:p>
            <a:r>
              <a:t>Bước 4 (45 giây): ảnh cây xoài oxi-house… Khoảng 46 box. Mở một thẻ uncertain, đọc dòng "Model nghiêng về: Xoài non · tin cậy … (cần ≥ …)" và giải thích đây là độ tin cậy, không phải phần trăm chín.</a:t>
            </a:r>
          </a:p>
          <a:p>
            <a:r>
              <a:t>Bước 5 (40 giây): ảnh mận images (9).jpeg. Nếu đang chạy local, tắt bộ lọc trước để thấy box sai, rồi bật lại để thấy 0 box. Trên Cloud Run bộ lọc luôn bật, nên chỉ cho thấy 0 box và dùng slide 35 để so sánh.</a:t>
            </a:r>
          </a:p>
          <a:p>
            <a:r>
              <a:t>Bước 6 (40 giây): ảnh 5 quả xoài chồng nhau images (7).jpeg: chạy thường được 2 quả, bật "Quét kỹ ảnh nhiều quả" được 4.</a:t>
            </a:r>
          </a:p>
          <a:p>
            <a:r>
              <a:t>Bước 7 (60 giây): tải video orchard_dragon_input.mp4 vào thẻ "Đếm quả trong video". Chờ xử lý, đọc số quả duy nhất và khung hình minh họa. Nói rõ đây là ước lượng.</a:t>
            </a:r>
          </a:p>
          <a:p>
            <a:r>
              <a:t>Bước 8 (40 giây): trình bày lỗi đã biết bằng ảnh xoài chín có đốm: bật bộ lọc thì quả biến mất. Đây là lý do bước tiếp theo là huấn luyện lại bộ lọc.</a:t>
            </a:r>
          </a:p>
          <a:p/>
          <a:p>
            <a:r>
              <a:t>Nếu thầy cô muốn xem API: mở /docs, chọn POST /detect, "Try it out", tải một ảnh và xem JSON có total_count, counts và detections.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bị trước buổi demo.</a:t>
            </a:r>
          </a:p>
          <a:p/>
          <a:p>
            <a:r>
              <a:t>Nếu chạy tại máy: chạy uvicorn backend.app:app ở cổng 8000, rồi trong thư mục frontend chạy npm ci và npm run dev, mở localhost:5173 — Vite tự chuyển các yêu cầu /detect và /health sang backend.</a:t>
            </a:r>
          </a:p>
          <a:p>
            <a:r>
              <a:t>Muốn demo độ chín xoài mà không bị bộ lọc xóa nhầm, đặt biến môi trường SPECIES_VERIFIER_PATH tới một file không tồn tại; /health sẽ báo other_fruit_filter bằng false.</a:t>
            </a:r>
          </a:p>
          <a:p>
            <a:r>
              <a:t>Weight v3 và file calibration phải có trong backend/weights.</a:t>
            </a:r>
          </a:p>
          <a:p/>
          <a:p>
            <a:r>
              <a:t>Nếu dùng Cloud Run: địa chỉ ghi trên slide. Dịch vụ tự tắt khi không có người dùng nên yêu cầu đầu tiên chậm hơn — mở trang trước 1 đến 2 phút.</a:t>
            </a:r>
          </a:p>
          <a:p>
            <a:r>
              <a:t>Bản đang chạy có bộ lọc loài nên xoài chín có thể biến mất; nếu xảy ra, dùng chính điều đó để minh họa lỗi ở slide 37.</a:t>
            </a:r>
          </a:p>
          <a:p/>
          <a:p>
            <a:r>
              <a:t>Nếu mạng hoặc máy lỗi: dùng các ảnh kết quả đã có trên slide 24, 35, 37, thư mục pipeline_check của job v3, và các video đã gán nhãn *_annotated.mp4.</a:t>
            </a:r>
          </a:p>
          <a:p>
            <a:r>
              <a:t>Nếu bản deploy mới có vấn đề, lệnh rollback Cloud Run chuyển toàn bộ traffic về một revision cũ.</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cuối liệt kê nơi kiểm tra mọi số liệu trong bài.</a:t>
            </a:r>
          </a:p>
          <a:p>
            <a:r>
              <a:t>Lịch sử dự án nằm ở docs/PROJECT_HISTORY.md. Mỗi job Vertex AI có thư mục riêng trong fruit_detection_runs_gcp_review theo mã job, gồm cấu hình args.yaml,</a:t>
            </a:r>
          </a:p>
          <a:p>
            <a:r>
              <a:t>results.csv theo từng epoch và file review. Benchmark và ba thử nghiệm A/B/C ở regression_20261002. Kết quả rà nhãn ở label_audit_20261002.</a:t>
            </a:r>
          </a:p>
          <a:p>
            <a:r>
              <a:t>Số ảnh từng phiên bản dữ liệu ở preparation_report.json của từng thư mục trong data/prepared. Danh sách nguồn dữ liệu, URL và giấy phép ở data/external/datasets.json.</a:t>
            </a:r>
          </a:p>
          <a:p>
            <a:r>
              <a:t>Đánh giá ngày 08/10 ở eval/summary.json của thư mục trình bày.</a:t>
            </a:r>
          </a:p>
          <a:p/>
          <a:p>
            <a:r>
              <a:t>(Đọc tên thành viên và phần việc của từng người.)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thầy cô và các bạn đã lắng nghe. Nhóm xin nhận câu hỏi, sau đó demo theo kịch bản ở slide 42.</a:t>
            </a:r>
          </a:p>
          <a:p/>
          <a:p>
            <a:r>
              <a:t>Một số câu hỏi có thể gặp và cách trả lời ngắn:</a:t>
            </a:r>
          </a:p>
          <a:p>
            <a:r>
              <a:t>— "Vì sao không dùng mô hình A/B/C có precision cao hơn?" Vì tiêu chí đặt trước là lấy lại các ảnh xoài bị mất; cả ba đều mất xoài nhỏ và xoài đỏ (11 xuống 4).</a:t>
            </a:r>
          </a:p>
          <a:p>
            <a:r>
              <a:t>— "Vì sao thanh long 100%?" Tập test là tập đã tuyển chọn; nhiệt độ T rất nhỏ cho thấy các lớp tách hẳn, có thể do nền ảnh. Chưa có ảnh độc lập.</a:t>
            </a:r>
          </a:p>
          <a:p>
            <a:r>
              <a:t>— "Vì sao nhiều quả uncertain?" Khoảng ba phần tư là do quả nhỏ hơn 64 pixel trong ảnh; hệ thống vẫn đếm nhưng không đoán độ chín.</a:t>
            </a:r>
          </a:p>
          <a:p>
            <a:r>
              <a:t>— "Tốn bao nhiêu tiền?" Chỉ dùng tín dụng Free Trial; mỗi lần train đầy đủ trên Spot V100 khoảng 5–10 đô.</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86868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BÁO CÁO DỰ ÁN MÁY HỌC</a:t>
            </a:r>
          </a:p>
        </p:txBody>
      </p:sp>
      <p:sp>
        <p:nvSpPr>
          <p:cNvPr id="3" name="TextBox 2"/>
          <p:cNvSpPr txBox="1"/>
          <p:nvPr/>
        </p:nvSpPr>
        <p:spPr>
          <a:xfrm>
            <a:off x="822960" y="1371600"/>
            <a:ext cx="7132320" cy="822960"/>
          </a:xfrm>
          <a:prstGeom prst="rect">
            <a:avLst/>
          </a:prstGeom>
          <a:noFill/>
        </p:spPr>
        <p:txBody>
          <a:bodyPr wrap="square" lIns="0" rIns="0" tIns="0" bIns="0" anchor="t">
            <a:spAutoFit/>
          </a:bodyPr>
          <a:lstStyle/>
          <a:p>
            <a:pPr algn="l">
              <a:spcAft>
                <a:spcPts val="400"/>
              </a:spcAft>
            </a:pPr>
            <a:r>
              <a:rPr sz="4400" b="1">
                <a:solidFill>
                  <a:srgbClr val="0F2331"/>
                </a:solidFill>
                <a:latin typeface="Arial"/>
              </a:rPr>
              <a:t>SMART ORCHARD AI</a:t>
            </a:r>
          </a:p>
        </p:txBody>
      </p:sp>
      <p:sp>
        <p:nvSpPr>
          <p:cNvPr id="4" name="TextBox 3"/>
          <p:cNvSpPr txBox="1"/>
          <p:nvPr/>
        </p:nvSpPr>
        <p:spPr>
          <a:xfrm>
            <a:off x="822960" y="2286000"/>
            <a:ext cx="6949440" cy="1463040"/>
          </a:xfrm>
          <a:prstGeom prst="rect">
            <a:avLst/>
          </a:prstGeom>
          <a:noFill/>
        </p:spPr>
        <p:txBody>
          <a:bodyPr wrap="square" lIns="0" rIns="0" tIns="0" bIns="0" anchor="t">
            <a:spAutoFit/>
          </a:bodyPr>
          <a:lstStyle/>
          <a:p>
            <a:pPr algn="l">
              <a:spcAft>
                <a:spcPts val="400"/>
              </a:spcAft>
            </a:pPr>
            <a:r>
              <a:rPr sz="2200" b="0">
                <a:solidFill>
                  <a:srgbClr val="1F303A"/>
                </a:solidFill>
                <a:latin typeface="Arial"/>
              </a:rPr>
              <a:t>Nhận diện, đếm và đánh giá độ chín</a:t>
            </a:r>
          </a:p>
          <a:p>
            <a:pPr algn="l">
              <a:spcAft>
                <a:spcPts val="400"/>
              </a:spcAft>
            </a:pPr>
            <a:r>
              <a:rPr sz="2200" b="0">
                <a:solidFill>
                  <a:srgbClr val="1F303A"/>
                </a:solidFill>
                <a:latin typeface="Arial"/>
              </a:rPr>
              <a:t>của xoài và thanh long trên cây</a:t>
            </a:r>
          </a:p>
          <a:p>
            <a:pPr algn="l">
              <a:spcAft>
                <a:spcPts val="400"/>
              </a:spcAft>
            </a:pPr>
            <a:r>
              <a:rPr sz="2200" b="0">
                <a:solidFill>
                  <a:srgbClr val="1F303A"/>
                </a:solidFill>
                <a:latin typeface="Arial"/>
              </a:rPr>
              <a:t>Quá trình phát triển 12/09 – 08/10/2026</a:t>
            </a:r>
          </a:p>
        </p:txBody>
      </p:sp>
      <p:pic>
        <p:nvPicPr>
          <p:cNvPr id="5" name="Picture 4" descr="user_photo_2.jpg"/>
          <p:cNvPicPr>
            <a:picLocks noChangeAspect="1"/>
          </p:cNvPicPr>
          <p:nvPr/>
        </p:nvPicPr>
        <p:blipFill>
          <a:blip r:embed="rId2"/>
          <a:stretch>
            <a:fillRect/>
          </a:stretch>
        </p:blipFill>
        <p:spPr>
          <a:xfrm>
            <a:off x="8229600" y="923543"/>
            <a:ext cx="3429000" cy="4572000"/>
          </a:xfrm>
          <a:prstGeom prst="rect">
            <a:avLst/>
          </a:prstGeom>
        </p:spPr>
      </p:pic>
      <p:sp>
        <p:nvSpPr>
          <p:cNvPr id="6" name="TextBox 5"/>
          <p:cNvSpPr txBox="1"/>
          <p:nvPr/>
        </p:nvSpPr>
        <p:spPr>
          <a:xfrm>
            <a:off x="8229600" y="5641848"/>
            <a:ext cx="34290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Kết quả v3: 22 quả trên một trụ thanh long</a:t>
            </a:r>
          </a:p>
        </p:txBody>
      </p:sp>
      <p:sp>
        <p:nvSpPr>
          <p:cNvPr id="7" name="TextBox 6"/>
          <p:cNvSpPr txBox="1"/>
          <p:nvPr/>
        </p:nvSpPr>
        <p:spPr>
          <a:xfrm>
            <a:off x="822960" y="4069080"/>
            <a:ext cx="6949440"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NHÓM: ........................................</a:t>
            </a:r>
          </a:p>
        </p:txBody>
      </p:sp>
      <p:sp>
        <p:nvSpPr>
          <p:cNvPr id="8" name="TextBox 7"/>
          <p:cNvSpPr txBox="1"/>
          <p:nvPr/>
        </p:nvSpPr>
        <p:spPr>
          <a:xfrm>
            <a:off x="822960" y="4526280"/>
            <a:ext cx="10058400" cy="128016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 (MSSV: ................)</a:t>
            </a:r>
          </a:p>
          <a:p>
            <a:pPr algn="l">
              <a:spcAft>
                <a:spcPts val="400"/>
              </a:spcAft>
            </a:pPr>
            <a:r>
              <a:rPr sz="1400" b="0">
                <a:solidFill>
                  <a:srgbClr val="1F303A"/>
                </a:solidFill>
                <a:latin typeface="Arial"/>
              </a:rPr>
              <a:t>GVHD: ........................................</a:t>
            </a:r>
          </a:p>
          <a:p>
            <a:pPr algn="l">
              <a:spcAft>
                <a:spcPts val="400"/>
              </a:spcAft>
            </a:pPr>
            <a:r>
              <a:rPr sz="1400" b="0">
                <a:solidFill>
                  <a:srgbClr val="1F303A"/>
                </a:solidFill>
                <a:latin typeface="Arial"/>
              </a:rPr>
              <a:t>Môn học: MÁY HỌC  |  Năm học: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TỔNG QUAN</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Nội dung trình bày</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02</a:t>
            </a:r>
          </a:p>
        </p:txBody>
      </p:sp>
      <p:sp>
        <p:nvSpPr>
          <p:cNvPr id="5" name="Rounded Rectangle 4"/>
          <p:cNvSpPr/>
          <p:nvPr/>
        </p:nvSpPr>
        <p:spPr>
          <a:xfrm>
            <a:off x="548640" y="1417320"/>
            <a:ext cx="352044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 cy="731520"/>
          </a:xfrm>
          <a:prstGeom prst="rect">
            <a:avLst/>
          </a:prstGeom>
          <a:noFill/>
        </p:spPr>
        <p:txBody>
          <a:bodyPr wrap="square" lIns="0" rIns="0" tIns="0" bIns="0" anchor="t">
            <a:spAutoFit/>
          </a:bodyPr>
          <a:lstStyle/>
          <a:p>
            <a:pPr algn="l">
              <a:spcAft>
                <a:spcPts val="400"/>
              </a:spcAft>
            </a:pPr>
            <a:r>
              <a:rPr sz="4000" b="1">
                <a:solidFill>
                  <a:srgbClr val="187F5B"/>
                </a:solidFill>
                <a:latin typeface="Arial"/>
              </a:rPr>
              <a:t>1</a:t>
            </a:r>
          </a:p>
        </p:txBody>
      </p:sp>
      <p:sp>
        <p:nvSpPr>
          <p:cNvPr id="7" name="TextBox 6"/>
          <p:cNvSpPr txBox="1"/>
          <p:nvPr/>
        </p:nvSpPr>
        <p:spPr>
          <a:xfrm>
            <a:off x="777240" y="2331720"/>
            <a:ext cx="3108960" cy="411480"/>
          </a:xfrm>
          <a:prstGeom prst="rect">
            <a:avLst/>
          </a:prstGeom>
          <a:noFill/>
        </p:spPr>
        <p:txBody>
          <a:bodyPr wrap="square" lIns="0" rIns="0" tIns="0" bIns="0" anchor="t">
            <a:spAutoFit/>
          </a:bodyPr>
          <a:lstStyle/>
          <a:p>
            <a:pPr algn="l">
              <a:spcAft>
                <a:spcPts val="400"/>
              </a:spcAft>
            </a:pPr>
            <a:r>
              <a:rPr sz="1900" b="1">
                <a:solidFill>
                  <a:srgbClr val="0F2331"/>
                </a:solidFill>
                <a:latin typeface="Arial"/>
              </a:rPr>
              <a:t>Bài toán</a:t>
            </a:r>
          </a:p>
        </p:txBody>
      </p:sp>
      <p:sp>
        <p:nvSpPr>
          <p:cNvPr id="8" name="TextBox 7"/>
          <p:cNvSpPr txBox="1"/>
          <p:nvPr/>
        </p:nvSpPr>
        <p:spPr>
          <a:xfrm>
            <a:off x="777240" y="2770632"/>
            <a:ext cx="3108960" cy="73152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Đầu ra cần có, phạm vi và tổng quan 8 vòng huấn luyện</a:t>
            </a:r>
          </a:p>
        </p:txBody>
      </p:sp>
      <p:sp>
        <p:nvSpPr>
          <p:cNvPr id="9" name="Rounded Rectangle 8"/>
          <p:cNvSpPr/>
          <p:nvPr/>
        </p:nvSpPr>
        <p:spPr>
          <a:xfrm>
            <a:off x="4297679" y="1417320"/>
            <a:ext cx="352044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79" y="1600200"/>
            <a:ext cx="731520" cy="731520"/>
          </a:xfrm>
          <a:prstGeom prst="rect">
            <a:avLst/>
          </a:prstGeom>
          <a:noFill/>
        </p:spPr>
        <p:txBody>
          <a:bodyPr wrap="square" lIns="0" rIns="0" tIns="0" bIns="0" anchor="t">
            <a:spAutoFit/>
          </a:bodyPr>
          <a:lstStyle/>
          <a:p>
            <a:pPr algn="l">
              <a:spcAft>
                <a:spcPts val="400"/>
              </a:spcAft>
            </a:pPr>
            <a:r>
              <a:rPr sz="4000" b="1">
                <a:solidFill>
                  <a:srgbClr val="C48016"/>
                </a:solidFill>
                <a:latin typeface="Arial"/>
              </a:rPr>
              <a:t>2</a:t>
            </a:r>
          </a:p>
        </p:txBody>
      </p:sp>
      <p:sp>
        <p:nvSpPr>
          <p:cNvPr id="11" name="TextBox 10"/>
          <p:cNvSpPr txBox="1"/>
          <p:nvPr/>
        </p:nvSpPr>
        <p:spPr>
          <a:xfrm>
            <a:off x="4526279" y="2331720"/>
            <a:ext cx="3108960" cy="411480"/>
          </a:xfrm>
          <a:prstGeom prst="rect">
            <a:avLst/>
          </a:prstGeom>
          <a:noFill/>
        </p:spPr>
        <p:txBody>
          <a:bodyPr wrap="square" lIns="0" rIns="0" tIns="0" bIns="0" anchor="t">
            <a:spAutoFit/>
          </a:bodyPr>
          <a:lstStyle/>
          <a:p>
            <a:pPr algn="l">
              <a:spcAft>
                <a:spcPts val="400"/>
              </a:spcAft>
            </a:pPr>
            <a:r>
              <a:rPr sz="1900" b="1">
                <a:solidFill>
                  <a:srgbClr val="0F2331"/>
                </a:solidFill>
                <a:latin typeface="Arial"/>
              </a:rPr>
              <a:t>Detector một bước</a:t>
            </a:r>
          </a:p>
        </p:txBody>
      </p:sp>
      <p:sp>
        <p:nvSpPr>
          <p:cNvPr id="12" name="TextBox 11"/>
          <p:cNvSpPr txBox="1"/>
          <p:nvPr/>
        </p:nvSpPr>
        <p:spPr>
          <a:xfrm>
            <a:off x="4526279" y="2770632"/>
            <a:ext cx="3108960" cy="73152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Vòng 0–2: 4 lớp → 7 lớp → đổi sang hai giai đoạn</a:t>
            </a:r>
          </a:p>
        </p:txBody>
      </p:sp>
      <p:sp>
        <p:nvSpPr>
          <p:cNvPr id="13" name="Rounded Rectangle 12"/>
          <p:cNvSpPr/>
          <p:nvPr/>
        </p:nvSpPr>
        <p:spPr>
          <a:xfrm>
            <a:off x="8046719" y="1417320"/>
            <a:ext cx="352044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19" y="1600200"/>
            <a:ext cx="731520" cy="731520"/>
          </a:xfrm>
          <a:prstGeom prst="rect">
            <a:avLst/>
          </a:prstGeom>
          <a:noFill/>
        </p:spPr>
        <p:txBody>
          <a:bodyPr wrap="square" lIns="0" rIns="0" tIns="0" bIns="0" anchor="t">
            <a:spAutoFit/>
          </a:bodyPr>
          <a:lstStyle/>
          <a:p>
            <a:pPr algn="l">
              <a:spcAft>
                <a:spcPts val="400"/>
              </a:spcAft>
            </a:pPr>
            <a:r>
              <a:rPr sz="4000" b="1">
                <a:solidFill>
                  <a:srgbClr val="187F5B"/>
                </a:solidFill>
                <a:latin typeface="Arial"/>
              </a:rPr>
              <a:t>3</a:t>
            </a:r>
          </a:p>
        </p:txBody>
      </p:sp>
      <p:sp>
        <p:nvSpPr>
          <p:cNvPr id="15" name="TextBox 14"/>
          <p:cNvSpPr txBox="1"/>
          <p:nvPr/>
        </p:nvSpPr>
        <p:spPr>
          <a:xfrm>
            <a:off x="8275319" y="2331720"/>
            <a:ext cx="3108960" cy="411480"/>
          </a:xfrm>
          <a:prstGeom prst="rect">
            <a:avLst/>
          </a:prstGeom>
          <a:noFill/>
        </p:spPr>
        <p:txBody>
          <a:bodyPr wrap="square" lIns="0" rIns="0" tIns="0" bIns="0" anchor="t">
            <a:spAutoFit/>
          </a:bodyPr>
          <a:lstStyle/>
          <a:p>
            <a:pPr algn="l">
              <a:spcAft>
                <a:spcPts val="400"/>
              </a:spcAft>
            </a:pPr>
            <a:r>
              <a:rPr sz="1900" b="1">
                <a:solidFill>
                  <a:srgbClr val="0F2331"/>
                </a:solidFill>
                <a:latin typeface="Arial"/>
              </a:rPr>
              <a:t>Dữ liệu</a:t>
            </a:r>
          </a:p>
        </p:txBody>
      </p:sp>
      <p:sp>
        <p:nvSpPr>
          <p:cNvPr id="16" name="TextBox 15"/>
          <p:cNvSpPr txBox="1"/>
          <p:nvPr/>
        </p:nvSpPr>
        <p:spPr>
          <a:xfrm>
            <a:off x="8275319" y="2770632"/>
            <a:ext cx="3108960" cy="73152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17 nguồn dữ liệu, 9 phiên bản, các lỗi nhãn đã sửa</a:t>
            </a:r>
          </a:p>
        </p:txBody>
      </p:sp>
      <p:sp>
        <p:nvSpPr>
          <p:cNvPr id="17" name="Rounded Rectangle 16"/>
          <p:cNvSpPr/>
          <p:nvPr/>
        </p:nvSpPr>
        <p:spPr>
          <a:xfrm>
            <a:off x="548640" y="3840480"/>
            <a:ext cx="352044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023360"/>
            <a:ext cx="731520" cy="731520"/>
          </a:xfrm>
          <a:prstGeom prst="rect">
            <a:avLst/>
          </a:prstGeom>
          <a:noFill/>
        </p:spPr>
        <p:txBody>
          <a:bodyPr wrap="square" lIns="0" rIns="0" tIns="0" bIns="0" anchor="t">
            <a:spAutoFit/>
          </a:bodyPr>
          <a:lstStyle/>
          <a:p>
            <a:pPr algn="l">
              <a:spcAft>
                <a:spcPts val="400"/>
              </a:spcAft>
            </a:pPr>
            <a:r>
              <a:rPr sz="4000" b="1">
                <a:solidFill>
                  <a:srgbClr val="C48016"/>
                </a:solidFill>
                <a:latin typeface="Arial"/>
              </a:rPr>
              <a:t>4</a:t>
            </a:r>
          </a:p>
        </p:txBody>
      </p:sp>
      <p:sp>
        <p:nvSpPr>
          <p:cNvPr id="19" name="TextBox 18"/>
          <p:cNvSpPr txBox="1"/>
          <p:nvPr/>
        </p:nvSpPr>
        <p:spPr>
          <a:xfrm>
            <a:off x="777240" y="4754880"/>
            <a:ext cx="3108960" cy="411480"/>
          </a:xfrm>
          <a:prstGeom prst="rect">
            <a:avLst/>
          </a:prstGeom>
          <a:noFill/>
        </p:spPr>
        <p:txBody>
          <a:bodyPr wrap="square" lIns="0" rIns="0" tIns="0" bIns="0" anchor="t">
            <a:spAutoFit/>
          </a:bodyPr>
          <a:lstStyle/>
          <a:p>
            <a:pPr algn="l">
              <a:spcAft>
                <a:spcPts val="400"/>
              </a:spcAft>
            </a:pPr>
            <a:r>
              <a:rPr sz="1900" b="1">
                <a:solidFill>
                  <a:srgbClr val="0F2331"/>
                </a:solidFill>
                <a:latin typeface="Arial"/>
              </a:rPr>
              <a:t>Huấn luyện trên cloud</a:t>
            </a:r>
          </a:p>
        </p:txBody>
      </p:sp>
      <p:sp>
        <p:nvSpPr>
          <p:cNvPr id="20" name="TextBox 19"/>
          <p:cNvSpPr txBox="1"/>
          <p:nvPr/>
        </p:nvSpPr>
        <p:spPr>
          <a:xfrm>
            <a:off x="777240" y="5193792"/>
            <a:ext cx="3108960" cy="73152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v2 → v3 → v4 hỏng → thử nghiệm A/B/C</a:t>
            </a:r>
          </a:p>
        </p:txBody>
      </p:sp>
      <p:sp>
        <p:nvSpPr>
          <p:cNvPr id="21" name="Rounded Rectangle 20"/>
          <p:cNvSpPr/>
          <p:nvPr/>
        </p:nvSpPr>
        <p:spPr>
          <a:xfrm>
            <a:off x="4297679" y="3840480"/>
            <a:ext cx="352044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79" y="4023360"/>
            <a:ext cx="731520" cy="731520"/>
          </a:xfrm>
          <a:prstGeom prst="rect">
            <a:avLst/>
          </a:prstGeom>
          <a:noFill/>
        </p:spPr>
        <p:txBody>
          <a:bodyPr wrap="square" lIns="0" rIns="0" tIns="0" bIns="0" anchor="t">
            <a:spAutoFit/>
          </a:bodyPr>
          <a:lstStyle/>
          <a:p>
            <a:pPr algn="l">
              <a:spcAft>
                <a:spcPts val="400"/>
              </a:spcAft>
            </a:pPr>
            <a:r>
              <a:rPr sz="4000" b="1">
                <a:solidFill>
                  <a:srgbClr val="187F5B"/>
                </a:solidFill>
                <a:latin typeface="Arial"/>
              </a:rPr>
              <a:t>5</a:t>
            </a:r>
          </a:p>
        </p:txBody>
      </p:sp>
      <p:sp>
        <p:nvSpPr>
          <p:cNvPr id="23" name="TextBox 22"/>
          <p:cNvSpPr txBox="1"/>
          <p:nvPr/>
        </p:nvSpPr>
        <p:spPr>
          <a:xfrm>
            <a:off x="4526279" y="4754880"/>
            <a:ext cx="3108960" cy="411480"/>
          </a:xfrm>
          <a:prstGeom prst="rect">
            <a:avLst/>
          </a:prstGeom>
          <a:noFill/>
        </p:spPr>
        <p:txBody>
          <a:bodyPr wrap="square" lIns="0" rIns="0" tIns="0" bIns="0" anchor="t">
            <a:spAutoFit/>
          </a:bodyPr>
          <a:lstStyle/>
          <a:p>
            <a:pPr algn="l">
              <a:spcAft>
                <a:spcPts val="400"/>
              </a:spcAft>
            </a:pPr>
            <a:r>
              <a:rPr sz="1900" b="1">
                <a:solidFill>
                  <a:srgbClr val="0F2331"/>
                </a:solidFill>
                <a:latin typeface="Arial"/>
              </a:rPr>
              <a:t>Sản phẩm</a:t>
            </a:r>
          </a:p>
        </p:txBody>
      </p:sp>
      <p:sp>
        <p:nvSpPr>
          <p:cNvPr id="24" name="TextBox 23"/>
          <p:cNvSpPr txBox="1"/>
          <p:nvPr/>
        </p:nvSpPr>
        <p:spPr>
          <a:xfrm>
            <a:off x="4526279" y="5193792"/>
            <a:ext cx="3108960" cy="73152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Pipeline suy luận, web/API, triển khai, đánh giá 08/10</a:t>
            </a:r>
          </a:p>
        </p:txBody>
      </p:sp>
      <p:sp>
        <p:nvSpPr>
          <p:cNvPr id="25" name="Rounded Rectangle 24"/>
          <p:cNvSpPr/>
          <p:nvPr/>
        </p:nvSpPr>
        <p:spPr>
          <a:xfrm>
            <a:off x="8046719" y="3840480"/>
            <a:ext cx="352044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19" y="4023360"/>
            <a:ext cx="731520" cy="731520"/>
          </a:xfrm>
          <a:prstGeom prst="rect">
            <a:avLst/>
          </a:prstGeom>
          <a:noFill/>
        </p:spPr>
        <p:txBody>
          <a:bodyPr wrap="square" lIns="0" rIns="0" tIns="0" bIns="0" anchor="t">
            <a:spAutoFit/>
          </a:bodyPr>
          <a:lstStyle/>
          <a:p>
            <a:pPr algn="l">
              <a:spcAft>
                <a:spcPts val="400"/>
              </a:spcAft>
            </a:pPr>
            <a:r>
              <a:rPr sz="4000" b="1">
                <a:solidFill>
                  <a:srgbClr val="C48016"/>
                </a:solidFill>
                <a:latin typeface="Arial"/>
              </a:rPr>
              <a:t>6</a:t>
            </a:r>
          </a:p>
        </p:txBody>
      </p:sp>
      <p:sp>
        <p:nvSpPr>
          <p:cNvPr id="27" name="TextBox 26"/>
          <p:cNvSpPr txBox="1"/>
          <p:nvPr/>
        </p:nvSpPr>
        <p:spPr>
          <a:xfrm>
            <a:off x="8275319" y="4754880"/>
            <a:ext cx="3108960" cy="411480"/>
          </a:xfrm>
          <a:prstGeom prst="rect">
            <a:avLst/>
          </a:prstGeom>
          <a:noFill/>
        </p:spPr>
        <p:txBody>
          <a:bodyPr wrap="square" lIns="0" rIns="0" tIns="0" bIns="0" anchor="t">
            <a:spAutoFit/>
          </a:bodyPr>
          <a:lstStyle/>
          <a:p>
            <a:pPr algn="l">
              <a:spcAft>
                <a:spcPts val="400"/>
              </a:spcAft>
            </a:pPr>
            <a:r>
              <a:rPr sz="1900" b="1">
                <a:solidFill>
                  <a:srgbClr val="0F2331"/>
                </a:solidFill>
                <a:latin typeface="Arial"/>
              </a:rPr>
              <a:t>Kết luận &amp; demo</a:t>
            </a:r>
          </a:p>
        </p:txBody>
      </p:sp>
      <p:sp>
        <p:nvSpPr>
          <p:cNvPr id="28" name="TextBox 27"/>
          <p:cNvSpPr txBox="1"/>
          <p:nvPr/>
        </p:nvSpPr>
        <p:spPr>
          <a:xfrm>
            <a:off x="8275319" y="5193792"/>
            <a:ext cx="3108960" cy="731520"/>
          </a:xfrm>
          <a:prstGeom prst="rect">
            <a:avLst/>
          </a:prstGeom>
          <a:noFill/>
        </p:spPr>
        <p:txBody>
          <a:bodyPr wrap="square" lIns="0" rIns="0" tIns="0" bIns="0" anchor="t">
            <a:spAutoFit/>
          </a:bodyPr>
          <a:lstStyle/>
          <a:p>
            <a:pPr algn="l">
              <a:spcAft>
                <a:spcPts val="400"/>
              </a:spcAft>
            </a:pPr>
            <a:r>
              <a:rPr sz="1400" b="0">
                <a:solidFill>
                  <a:srgbClr val="1F303A"/>
                </a:solidFill>
                <a:latin typeface="Arial"/>
              </a:rPr>
              <a:t>Bài học, hạn chế, kịch bản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14884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PHẦN 1</a:t>
            </a:r>
          </a:p>
        </p:txBody>
      </p:sp>
      <p:sp>
        <p:nvSpPr>
          <p:cNvPr id="3" name="TextBox 2"/>
          <p:cNvSpPr txBox="1"/>
          <p:nvPr/>
        </p:nvSpPr>
        <p:spPr>
          <a:xfrm>
            <a:off x="822960" y="2606040"/>
            <a:ext cx="10515600" cy="914400"/>
          </a:xfrm>
          <a:prstGeom prst="rect">
            <a:avLst/>
          </a:prstGeom>
          <a:noFill/>
        </p:spPr>
        <p:txBody>
          <a:bodyPr wrap="square" lIns="0" rIns="0" tIns="0" bIns="0" anchor="t">
            <a:spAutoFit/>
          </a:bodyPr>
          <a:lstStyle/>
          <a:p>
            <a:pPr algn="l">
              <a:spcAft>
                <a:spcPts val="400"/>
              </a:spcAft>
            </a:pPr>
            <a:r>
              <a:rPr sz="3800" b="1">
                <a:solidFill>
                  <a:srgbClr val="0F2331"/>
                </a:solidFill>
                <a:latin typeface="Arial"/>
              </a:rPr>
              <a:t>Bài toán</a:t>
            </a:r>
          </a:p>
        </p:txBody>
      </p:sp>
      <p:sp>
        <p:nvSpPr>
          <p:cNvPr id="4" name="TextBox 3"/>
          <p:cNvSpPr txBox="1"/>
          <p:nvPr/>
        </p:nvSpPr>
        <p:spPr>
          <a:xfrm>
            <a:off x="822960" y="3611880"/>
            <a:ext cx="10515600" cy="1097280"/>
          </a:xfrm>
          <a:prstGeom prst="rect">
            <a:avLst/>
          </a:prstGeom>
          <a:noFill/>
        </p:spPr>
        <p:txBody>
          <a:bodyPr wrap="square" lIns="0" rIns="0" tIns="0" bIns="0" anchor="t">
            <a:spAutoFit/>
          </a:bodyPr>
          <a:lstStyle/>
          <a:p>
            <a:pPr algn="l">
              <a:spcAft>
                <a:spcPts val="400"/>
              </a:spcAft>
            </a:pPr>
            <a:r>
              <a:rPr sz="1800" b="0">
                <a:solidFill>
                  <a:srgbClr val="5C6E78"/>
                </a:solidFill>
                <a:latin typeface="Arial"/>
              </a:rPr>
              <a:t>Hệ thống cần trả lời gì, cho ai, và đã phải huấn luyện bao nhiêu lần</a:t>
            </a:r>
          </a:p>
        </p:txBody>
      </p:sp>
      <p:sp>
        <p:nvSpPr>
          <p:cNvPr id="5" name="TextBox 4"/>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BÀI TOÁN</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Bài toán: tìm, đếm và đánh giá độ chín từng quả</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04</a:t>
            </a:r>
          </a:p>
        </p:txBody>
      </p:sp>
      <p:sp>
        <p:nvSpPr>
          <p:cNvPr id="5" name="Rounded Rectangle 4"/>
          <p:cNvSpPr/>
          <p:nvPr/>
        </p:nvSpPr>
        <p:spPr>
          <a:xfrm>
            <a:off x="548640" y="1280160"/>
            <a:ext cx="3520440" cy="3566160"/>
          </a:xfrm>
          <a:prstGeom prst="roundRect">
            <a:avLst>
              <a:gd name="adj" fmla="val 369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311810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Khó khăn ở vườn</a:t>
            </a:r>
          </a:p>
        </p:txBody>
      </p:sp>
      <p:sp>
        <p:nvSpPr>
          <p:cNvPr id="7" name="TextBox 6"/>
          <p:cNvSpPr txBox="1"/>
          <p:nvPr/>
        </p:nvSpPr>
        <p:spPr>
          <a:xfrm>
            <a:off x="749808" y="1920239"/>
            <a:ext cx="3118104" cy="283464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Quả trên cây ảnh chụp cả cây chỉ 10–25 pixel</a:t>
            </a:r>
          </a:p>
          <a:p>
            <a:pPr algn="l" marL="203200" indent="-203200">
              <a:spcAft>
                <a:spcPts val="600"/>
              </a:spcAft>
              <a:buChar char="•"/>
            </a:pPr>
            <a:r>
              <a:rPr sz="1600" b="0">
                <a:solidFill>
                  <a:srgbClr val="1F303A"/>
                </a:solidFill>
                <a:latin typeface="Arial"/>
              </a:rPr>
              <a:t>Lá che, quả chồng lên nhau</a:t>
            </a:r>
          </a:p>
          <a:p>
            <a:pPr algn="l" marL="203200" indent="-203200">
              <a:spcAft>
                <a:spcPts val="600"/>
              </a:spcAft>
              <a:buChar char="•"/>
            </a:pPr>
            <a:r>
              <a:rPr sz="1600" b="0">
                <a:solidFill>
                  <a:srgbClr val="1F303A"/>
                </a:solidFill>
                <a:latin typeface="Arial"/>
              </a:rPr>
              <a:t>Ánh sáng thay đổi, có ảnh chụp đêm</a:t>
            </a:r>
          </a:p>
          <a:p>
            <a:pPr algn="l" marL="203200" indent="-203200">
              <a:spcAft>
                <a:spcPts val="600"/>
              </a:spcAft>
              <a:buChar char="•"/>
            </a:pPr>
            <a:r>
              <a:rPr sz="1600" b="0">
                <a:solidFill>
                  <a:srgbClr val="1F303A"/>
                </a:solidFill>
                <a:latin typeface="Arial"/>
              </a:rPr>
              <a:t>Quả khác (vải, chôm chôm, mận) trông giống</a:t>
            </a:r>
          </a:p>
        </p:txBody>
      </p:sp>
      <p:sp>
        <p:nvSpPr>
          <p:cNvPr id="8" name="Rounded Rectangle 7"/>
          <p:cNvSpPr/>
          <p:nvPr/>
        </p:nvSpPr>
        <p:spPr>
          <a:xfrm>
            <a:off x="4334256" y="1280160"/>
            <a:ext cx="3520440" cy="3566160"/>
          </a:xfrm>
          <a:prstGeom prst="roundRect">
            <a:avLst>
              <a:gd name="adj" fmla="val 369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1463039"/>
            <a:ext cx="311810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Đầu ra hệ thống</a:t>
            </a:r>
          </a:p>
        </p:txBody>
      </p:sp>
      <p:sp>
        <p:nvSpPr>
          <p:cNvPr id="10" name="TextBox 9"/>
          <p:cNvSpPr txBox="1"/>
          <p:nvPr/>
        </p:nvSpPr>
        <p:spPr>
          <a:xfrm>
            <a:off x="4535424" y="1920239"/>
            <a:ext cx="3118104" cy="283464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Box từng quả + loài (xoài / thanh long)</a:t>
            </a:r>
          </a:p>
          <a:p>
            <a:pPr algn="l" marL="203200" indent="-203200">
              <a:spcAft>
                <a:spcPts val="600"/>
              </a:spcAft>
              <a:buChar char="•"/>
            </a:pPr>
            <a:r>
              <a:rPr sz="1600" b="0">
                <a:solidFill>
                  <a:srgbClr val="1F303A"/>
                </a:solidFill>
                <a:latin typeface="Arial"/>
              </a:rPr>
              <a:t>Độ chín: xoài 4 mức, thanh long 3 mức</a:t>
            </a:r>
          </a:p>
          <a:p>
            <a:pPr algn="l" marL="203200" indent="-203200">
              <a:spcAft>
                <a:spcPts val="600"/>
              </a:spcAft>
              <a:buChar char="•"/>
            </a:pPr>
            <a:r>
              <a:rPr sz="1600" b="0">
                <a:solidFill>
                  <a:srgbClr val="1F303A"/>
                </a:solidFill>
                <a:latin typeface="Arial"/>
              </a:rPr>
              <a:t>Nhãn </a:t>
            </a:r>
            <a:r>
              <a:rPr sz="1600" b="1">
                <a:solidFill>
                  <a:srgbClr val="1F303A"/>
                </a:solidFill>
                <a:latin typeface="Arial"/>
              </a:rPr>
              <a:t>uncertain</a:t>
            </a:r>
            <a:r>
              <a:rPr sz="1600" b="0">
                <a:solidFill>
                  <a:srgbClr val="1F303A"/>
                </a:solidFill>
                <a:latin typeface="Arial"/>
              </a:rPr>
              <a:t> khi chưa đủ tin cậy</a:t>
            </a:r>
          </a:p>
          <a:p>
            <a:pPr algn="l" marL="203200" indent="-203200">
              <a:spcAft>
                <a:spcPts val="600"/>
              </a:spcAft>
              <a:buChar char="•"/>
            </a:pPr>
            <a:r>
              <a:rPr sz="1600" b="0">
                <a:solidFill>
                  <a:srgbClr val="1F303A"/>
                </a:solidFill>
                <a:latin typeface="Arial"/>
              </a:rPr>
              <a:t>Số quả theo lớp; video: số quả duy nhất</a:t>
            </a:r>
          </a:p>
        </p:txBody>
      </p:sp>
      <p:sp>
        <p:nvSpPr>
          <p:cNvPr id="11" name="Rounded Rectangle 10"/>
          <p:cNvSpPr/>
          <p:nvPr/>
        </p:nvSpPr>
        <p:spPr>
          <a:xfrm>
            <a:off x="8119872" y="1280160"/>
            <a:ext cx="3520440" cy="3566160"/>
          </a:xfrm>
          <a:prstGeom prst="roundRect">
            <a:avLst>
              <a:gd name="adj" fmla="val 369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463039"/>
            <a:ext cx="311810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Giới hạn đã chọn</a:t>
            </a:r>
          </a:p>
        </p:txBody>
      </p:sp>
      <p:sp>
        <p:nvSpPr>
          <p:cNvPr id="13" name="TextBox 12"/>
          <p:cNvSpPr txBox="1"/>
          <p:nvPr/>
        </p:nvSpPr>
        <p:spPr>
          <a:xfrm>
            <a:off x="8321040" y="1920239"/>
            <a:ext cx="3118104" cy="283464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Chỉ 2 loài quả mục tiêu</a:t>
            </a:r>
          </a:p>
          <a:p>
            <a:pPr algn="l" marL="203200" indent="-203200">
              <a:spcAft>
                <a:spcPts val="600"/>
              </a:spcAft>
              <a:buChar char="•"/>
            </a:pPr>
            <a:r>
              <a:rPr sz="1600" b="0">
                <a:solidFill>
                  <a:srgbClr val="1F303A"/>
                </a:solidFill>
                <a:latin typeface="Arial"/>
              </a:rPr>
              <a:t>Ảnh JPG/PNG/WEBP ≤ 12 MB</a:t>
            </a:r>
          </a:p>
          <a:p>
            <a:pPr algn="l" marL="203200" indent="-203200">
              <a:spcAft>
                <a:spcPts val="600"/>
              </a:spcAft>
              <a:buChar char="•"/>
            </a:pPr>
            <a:r>
              <a:rPr sz="1600" b="0">
                <a:solidFill>
                  <a:srgbClr val="1F303A"/>
                </a:solidFill>
                <a:latin typeface="Arial"/>
              </a:rPr>
              <a:t>Video ≤ 50 MB, ≤ 30 giây, ≤ 1080p</a:t>
            </a:r>
          </a:p>
          <a:p>
            <a:pPr algn="l" marL="203200" indent="-203200">
              <a:spcAft>
                <a:spcPts val="600"/>
              </a:spcAft>
              <a:buChar char="•"/>
            </a:pPr>
            <a:r>
              <a:rPr sz="1600" b="0">
                <a:solidFill>
                  <a:srgbClr val="1F303A"/>
                </a:solidFill>
                <a:latin typeface="Arial"/>
              </a:rPr>
              <a:t>Hỗ trợ quan sát, không thay kiểm tra tại vườn</a:t>
            </a:r>
          </a:p>
        </p:txBody>
      </p:sp>
      <p:sp>
        <p:nvSpPr>
          <p:cNvPr id="14" name="Rounded Rectangle 13"/>
          <p:cNvSpPr/>
          <p:nvPr/>
        </p:nvSpPr>
        <p:spPr>
          <a:xfrm>
            <a:off x="548640" y="5074920"/>
            <a:ext cx="11091672" cy="64008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59"/>
            <a:ext cx="10634472" cy="457199"/>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Lớp xoài: young · mature · turning · ripe     |     Lớp thanh long: unripe · ripe · rotten     |     + mango_uncertain / dragonfruit_uncertain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QUÁ TRÌNH</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Dòng thời gian dự án: 12/09 → 08/10/2026</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05</a:t>
            </a:r>
          </a:p>
        </p:txBody>
      </p:sp>
      <p:sp>
        <p:nvSpPr>
          <p:cNvPr id="5" name="Rounded Rectangle 4"/>
          <p:cNvSpPr/>
          <p:nvPr/>
        </p:nvSpPr>
        <p:spPr>
          <a:xfrm>
            <a:off x="548640" y="1261872"/>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90472"/>
            <a:ext cx="10515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12/09</a:t>
            </a:r>
          </a:p>
        </p:txBody>
      </p:sp>
      <p:sp>
        <p:nvSpPr>
          <p:cNvPr id="7" name="TextBox 6"/>
          <p:cNvSpPr txBox="1"/>
          <p:nvPr/>
        </p:nvSpPr>
        <p:spPr>
          <a:xfrm>
            <a:off x="1874519" y="1353312"/>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Vòng 0</a:t>
            </a:r>
          </a:p>
        </p:txBody>
      </p:sp>
      <p:sp>
        <p:nvSpPr>
          <p:cNvPr id="8" name="TextBox 7"/>
          <p:cNvSpPr txBox="1"/>
          <p:nvPr/>
        </p:nvSpPr>
        <p:spPr>
          <a:xfrm>
            <a:off x="3291840" y="1335024"/>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YOLOv8s 4 lớp trên Colab</a:t>
            </a:r>
          </a:p>
        </p:txBody>
      </p:sp>
      <p:sp>
        <p:nvSpPr>
          <p:cNvPr id="9" name="Rounded Rectangle 8"/>
          <p:cNvSpPr/>
          <p:nvPr/>
        </p:nvSpPr>
        <p:spPr>
          <a:xfrm>
            <a:off x="548640" y="2112264"/>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85800" y="2340864"/>
            <a:ext cx="10515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18–20/09</a:t>
            </a:r>
          </a:p>
        </p:txBody>
      </p:sp>
      <p:sp>
        <p:nvSpPr>
          <p:cNvPr id="11" name="TextBox 10"/>
          <p:cNvSpPr txBox="1"/>
          <p:nvPr/>
        </p:nvSpPr>
        <p:spPr>
          <a:xfrm>
            <a:off x="1874519" y="2203704"/>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Vòng 1</a:t>
            </a:r>
          </a:p>
        </p:txBody>
      </p:sp>
      <p:sp>
        <p:nvSpPr>
          <p:cNvPr id="12" name="TextBox 11"/>
          <p:cNvSpPr txBox="1"/>
          <p:nvPr/>
        </p:nvSpPr>
        <p:spPr>
          <a:xfrm>
            <a:off x="3291840" y="2185416"/>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7 lớp; checkpoint bị ghi đè, khôi phục từ Drive</a:t>
            </a:r>
          </a:p>
        </p:txBody>
      </p:sp>
      <p:sp>
        <p:nvSpPr>
          <p:cNvPr id="13" name="Rounded Rectangle 12"/>
          <p:cNvSpPr/>
          <p:nvPr/>
        </p:nvSpPr>
        <p:spPr>
          <a:xfrm>
            <a:off x="548640" y="2962656"/>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3191256"/>
            <a:ext cx="1051560" cy="274320"/>
          </a:xfrm>
          <a:prstGeom prst="roundRect">
            <a:avLst>
              <a:gd name="adj" fmla="val 12000"/>
            </a:avLst>
          </a:prstGeom>
          <a:solidFill>
            <a:srgbClr val="B3434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24/09</a:t>
            </a:r>
          </a:p>
        </p:txBody>
      </p:sp>
      <p:sp>
        <p:nvSpPr>
          <p:cNvPr id="15" name="TextBox 14"/>
          <p:cNvSpPr txBox="1"/>
          <p:nvPr/>
        </p:nvSpPr>
        <p:spPr>
          <a:xfrm>
            <a:off x="1874519" y="3054096"/>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Đổi hướng</a:t>
            </a:r>
          </a:p>
        </p:txBody>
      </p:sp>
      <p:sp>
        <p:nvSpPr>
          <p:cNvPr id="16" name="TextBox 15"/>
          <p:cNvSpPr txBox="1"/>
          <p:nvPr/>
        </p:nvSpPr>
        <p:spPr>
          <a:xfrm>
            <a:off x="3291840" y="3035808"/>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Ảnh thật cho kết quả rất tệ → thiết kế hai giai đoạn; Cloud Run đầu tiên</a:t>
            </a:r>
          </a:p>
        </p:txBody>
      </p:sp>
      <p:sp>
        <p:nvSpPr>
          <p:cNvPr id="17" name="Rounded Rectangle 16"/>
          <p:cNvSpPr/>
          <p:nvPr/>
        </p:nvSpPr>
        <p:spPr>
          <a:xfrm>
            <a:off x="548640" y="3813048"/>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85800" y="4041648"/>
            <a:ext cx="1051560" cy="274320"/>
          </a:xfrm>
          <a:prstGeom prst="roundRect">
            <a:avLst>
              <a:gd name="adj" fmla="val 12000"/>
            </a:avLst>
          </a:prstGeom>
          <a:solidFill>
            <a:srgbClr val="B3434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25–27/09</a:t>
            </a:r>
          </a:p>
        </p:txBody>
      </p:sp>
      <p:sp>
        <p:nvSpPr>
          <p:cNvPr id="19" name="TextBox 18"/>
          <p:cNvSpPr txBox="1"/>
          <p:nvPr/>
        </p:nvSpPr>
        <p:spPr>
          <a:xfrm>
            <a:off x="1874519" y="3904487"/>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Vòng 2</a:t>
            </a:r>
          </a:p>
        </p:txBody>
      </p:sp>
      <p:sp>
        <p:nvSpPr>
          <p:cNvPr id="20" name="TextBox 19"/>
          <p:cNvSpPr txBox="1"/>
          <p:nvPr/>
        </p:nvSpPr>
        <p:spPr>
          <a:xfrm>
            <a:off x="3291840" y="3886200"/>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Huấn luyện hai giai đoạn trên Colab: thất bại</a:t>
            </a:r>
          </a:p>
        </p:txBody>
      </p:sp>
      <p:sp>
        <p:nvSpPr>
          <p:cNvPr id="21" name="Rounded Rectangle 20"/>
          <p:cNvSpPr/>
          <p:nvPr/>
        </p:nvSpPr>
        <p:spPr>
          <a:xfrm>
            <a:off x="548640" y="4663440"/>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85800" y="4892040"/>
            <a:ext cx="1051560" cy="274320"/>
          </a:xfrm>
          <a:prstGeom prst="roundRect">
            <a:avLst>
              <a:gd name="adj" fmla="val 12000"/>
            </a:avLst>
          </a:prstGeom>
          <a:solidFill>
            <a:srgbClr val="C4801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28/09</a:t>
            </a:r>
          </a:p>
        </p:txBody>
      </p:sp>
      <p:sp>
        <p:nvSpPr>
          <p:cNvPr id="23" name="TextBox 22"/>
          <p:cNvSpPr txBox="1"/>
          <p:nvPr/>
        </p:nvSpPr>
        <p:spPr>
          <a:xfrm>
            <a:off x="1874519" y="4754879"/>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Dữ liệu + v2</a:t>
            </a:r>
          </a:p>
        </p:txBody>
      </p:sp>
      <p:sp>
        <p:nvSpPr>
          <p:cNvPr id="24" name="TextBox 23"/>
          <p:cNvSpPr txBox="1"/>
          <p:nvPr/>
        </p:nvSpPr>
        <p:spPr>
          <a:xfrm>
            <a:off x="3291840" y="4736592"/>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Sửa nhãn, thêm ảnh vườn; chuyển sang Vertex AI</a:t>
            </a:r>
          </a:p>
        </p:txBody>
      </p:sp>
      <p:sp>
        <p:nvSpPr>
          <p:cNvPr id="25" name="Rounded Rectangle 24"/>
          <p:cNvSpPr/>
          <p:nvPr/>
        </p:nvSpPr>
        <p:spPr>
          <a:xfrm>
            <a:off x="548640" y="5513832"/>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85800" y="5742432"/>
            <a:ext cx="10515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29/09</a:t>
            </a:r>
          </a:p>
        </p:txBody>
      </p:sp>
      <p:sp>
        <p:nvSpPr>
          <p:cNvPr id="27" name="TextBox 26"/>
          <p:cNvSpPr txBox="1"/>
          <p:nvPr/>
        </p:nvSpPr>
        <p:spPr>
          <a:xfrm>
            <a:off x="1874519" y="5605272"/>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v3</a:t>
            </a:r>
          </a:p>
        </p:txBody>
      </p:sp>
      <p:sp>
        <p:nvSpPr>
          <p:cNvPr id="28" name="TextBox 27"/>
          <p:cNvSpPr txBox="1"/>
          <p:nvPr/>
        </p:nvSpPr>
        <p:spPr>
          <a:xfrm>
            <a:off x="3291840" y="5586984"/>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Lớp xoài theo hình thức + ảnh cả cây → bản đang dùng</a:t>
            </a:r>
          </a:p>
        </p:txBody>
      </p:sp>
      <p:sp>
        <p:nvSpPr>
          <p:cNvPr id="29" name="Rounded Rectangle 28"/>
          <p:cNvSpPr/>
          <p:nvPr/>
        </p:nvSpPr>
        <p:spPr>
          <a:xfrm>
            <a:off x="6231636" y="1261872"/>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68796" y="1490472"/>
            <a:ext cx="1051560" cy="274320"/>
          </a:xfrm>
          <a:prstGeom prst="roundRect">
            <a:avLst>
              <a:gd name="adj" fmla="val 12000"/>
            </a:avLst>
          </a:prstGeom>
          <a:solidFill>
            <a:srgbClr val="B3434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30/09</a:t>
            </a:r>
          </a:p>
        </p:txBody>
      </p:sp>
      <p:sp>
        <p:nvSpPr>
          <p:cNvPr id="31" name="TextBox 30"/>
          <p:cNvSpPr txBox="1"/>
          <p:nvPr/>
        </p:nvSpPr>
        <p:spPr>
          <a:xfrm>
            <a:off x="7557515" y="1353312"/>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v4</a:t>
            </a:r>
          </a:p>
        </p:txBody>
      </p:sp>
      <p:sp>
        <p:nvSpPr>
          <p:cNvPr id="32" name="TextBox 31"/>
          <p:cNvSpPr txBox="1"/>
          <p:nvPr/>
        </p:nvSpPr>
        <p:spPr>
          <a:xfrm>
            <a:off x="8974836" y="1335024"/>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Checkpoint FP16 hỏng; xoài chín bị mất</a:t>
            </a:r>
          </a:p>
        </p:txBody>
      </p:sp>
      <p:sp>
        <p:nvSpPr>
          <p:cNvPr id="33" name="Rounded Rectangle 32"/>
          <p:cNvSpPr/>
          <p:nvPr/>
        </p:nvSpPr>
        <p:spPr>
          <a:xfrm>
            <a:off x="6231636" y="2112264"/>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68796" y="2340864"/>
            <a:ext cx="1051560" cy="274320"/>
          </a:xfrm>
          <a:prstGeom prst="roundRect">
            <a:avLst>
              <a:gd name="adj" fmla="val 12000"/>
            </a:avLst>
          </a:prstGeom>
          <a:solidFill>
            <a:srgbClr val="C4801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02/10</a:t>
            </a:r>
          </a:p>
        </p:txBody>
      </p:sp>
      <p:sp>
        <p:nvSpPr>
          <p:cNvPr id="35" name="TextBox 34"/>
          <p:cNvSpPr txBox="1"/>
          <p:nvPr/>
        </p:nvSpPr>
        <p:spPr>
          <a:xfrm>
            <a:off x="7557515" y="2203704"/>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A / B / C</a:t>
            </a:r>
          </a:p>
        </p:txBody>
      </p:sp>
      <p:sp>
        <p:nvSpPr>
          <p:cNvPr id="36" name="TextBox 35"/>
          <p:cNvSpPr txBox="1"/>
          <p:nvPr/>
        </p:nvSpPr>
        <p:spPr>
          <a:xfrm>
            <a:off x="8974836" y="2185416"/>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Rà nhãn, 3 thử nghiệm có kiểm soát; giữ v3</a:t>
            </a:r>
          </a:p>
        </p:txBody>
      </p:sp>
      <p:sp>
        <p:nvSpPr>
          <p:cNvPr id="37" name="Rounded Rectangle 36"/>
          <p:cNvSpPr/>
          <p:nvPr/>
        </p:nvSpPr>
        <p:spPr>
          <a:xfrm>
            <a:off x="6231636" y="2962656"/>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368796" y="3191256"/>
            <a:ext cx="10515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03/10</a:t>
            </a:r>
          </a:p>
        </p:txBody>
      </p:sp>
      <p:sp>
        <p:nvSpPr>
          <p:cNvPr id="39" name="TextBox 38"/>
          <p:cNvSpPr txBox="1"/>
          <p:nvPr/>
        </p:nvSpPr>
        <p:spPr>
          <a:xfrm>
            <a:off x="7557515" y="3054096"/>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Triển khai</a:t>
            </a:r>
          </a:p>
        </p:txBody>
      </p:sp>
      <p:sp>
        <p:nvSpPr>
          <p:cNvPr id="40" name="TextBox 39"/>
          <p:cNvSpPr txBox="1"/>
          <p:nvPr/>
        </p:nvSpPr>
        <p:spPr>
          <a:xfrm>
            <a:off x="8974836" y="3035808"/>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Cloud Run chạy v3 + giao diện điện thoại</a:t>
            </a:r>
          </a:p>
        </p:txBody>
      </p:sp>
      <p:sp>
        <p:nvSpPr>
          <p:cNvPr id="41" name="Rounded Rectangle 40"/>
          <p:cNvSpPr/>
          <p:nvPr/>
        </p:nvSpPr>
        <p:spPr>
          <a:xfrm>
            <a:off x="6231636" y="3813048"/>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68796" y="4041648"/>
            <a:ext cx="10515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05–06/10</a:t>
            </a:r>
          </a:p>
        </p:txBody>
      </p:sp>
      <p:sp>
        <p:nvSpPr>
          <p:cNvPr id="43" name="TextBox 42"/>
          <p:cNvSpPr txBox="1"/>
          <p:nvPr/>
        </p:nvSpPr>
        <p:spPr>
          <a:xfrm>
            <a:off x="7557515" y="3904487"/>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Tính năng</a:t>
            </a:r>
          </a:p>
        </p:txBody>
      </p:sp>
      <p:sp>
        <p:nvSpPr>
          <p:cNvPr id="44" name="TextBox 43"/>
          <p:cNvSpPr txBox="1"/>
          <p:nvPr/>
        </p:nvSpPr>
        <p:spPr>
          <a:xfrm>
            <a:off x="8974836" y="3886200"/>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Video, ảnh tối, quét kỹ, bộ lọc quả khác</a:t>
            </a:r>
          </a:p>
        </p:txBody>
      </p:sp>
      <p:sp>
        <p:nvSpPr>
          <p:cNvPr id="45" name="Rounded Rectangle 44"/>
          <p:cNvSpPr/>
          <p:nvPr/>
        </p:nvSpPr>
        <p:spPr>
          <a:xfrm>
            <a:off x="6231636" y="4663440"/>
            <a:ext cx="5408676" cy="73152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368796" y="4892040"/>
            <a:ext cx="1051560" cy="274320"/>
          </a:xfrm>
          <a:prstGeom prst="roundRect">
            <a:avLst>
              <a:gd name="adj" fmla="val 12000"/>
            </a:avLst>
          </a:prstGeom>
          <a:solidFill>
            <a:srgbClr val="B3434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08/10</a:t>
            </a:r>
          </a:p>
        </p:txBody>
      </p:sp>
      <p:sp>
        <p:nvSpPr>
          <p:cNvPr id="47" name="TextBox 46"/>
          <p:cNvSpPr txBox="1"/>
          <p:nvPr/>
        </p:nvSpPr>
        <p:spPr>
          <a:xfrm>
            <a:off x="7557515" y="4754879"/>
            <a:ext cx="141732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Đánh giá lại</a:t>
            </a:r>
          </a:p>
        </p:txBody>
      </p:sp>
      <p:sp>
        <p:nvSpPr>
          <p:cNvPr id="48" name="TextBox 47"/>
          <p:cNvSpPr txBox="1"/>
          <p:nvPr/>
        </p:nvSpPr>
        <p:spPr>
          <a:xfrm>
            <a:off x="8974836" y="4736592"/>
            <a:ext cx="2574036" cy="603504"/>
          </a:xfrm>
          <a:prstGeom prst="rect">
            <a:avLst/>
          </a:prstGeom>
          <a:noFill/>
        </p:spPr>
        <p:txBody>
          <a:bodyPr wrap="square" lIns="0" rIns="0" tIns="0" bIns="0" anchor="ctr">
            <a:spAutoFit/>
          </a:bodyPr>
          <a:lstStyle/>
          <a:p>
            <a:pPr algn="l">
              <a:spcAft>
                <a:spcPts val="400"/>
              </a:spcAft>
            </a:pPr>
            <a:r>
              <a:rPr sz="1300" b="0">
                <a:solidFill>
                  <a:srgbClr val="1F303A"/>
                </a:solidFill>
                <a:latin typeface="Arial"/>
              </a:rPr>
              <a:t>Bộ lọc xóa nhầm xoài chín → cần huấn luyện lại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TỔNG HỢP</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8 vòng huấn luyện: kết quả và lý do phải chạy lại</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06</a:t>
            </a:r>
          </a:p>
        </p:txBody>
      </p:sp>
      <p:graphicFrame>
        <p:nvGraphicFramePr>
          <p:cNvPr id="5" name="Table 4"/>
          <p:cNvGraphicFramePr>
            <a:graphicFrameLocks noGrp="1"/>
          </p:cNvGraphicFramePr>
          <p:nvPr/>
        </p:nvGraphicFramePr>
        <p:xfrm>
          <a:off x="548640" y="1261872"/>
          <a:ext cx="11091671" cy="4773168"/>
        </p:xfrm>
        <a:graphic>
          <a:graphicData uri="http://schemas.openxmlformats.org/drawingml/2006/table">
            <a:tbl>
              <a:tblPr firstRow="1" bandRow="1">
                <a:tableStyleId>{5C22544A-7EE6-4342-B048-85BDC9FD1C3A}</a:tableStyleId>
              </a:tblPr>
              <a:tblGrid>
                <a:gridCol w="1558334"/>
                <a:gridCol w="1833334"/>
                <a:gridCol w="2750001"/>
                <a:gridCol w="4950002"/>
              </a:tblGrid>
              <a:tr h="530352">
                <a:tc>
                  <a:txBody>
                    <a:bodyPr wrap="square"/>
                    <a:lstStyle/>
                    <a:p>
                      <a:r>
                        <a:rPr sz="1300" b="1">
                          <a:solidFill>
                            <a:srgbClr val="FFFFFF"/>
                          </a:solidFill>
                          <a:latin typeface="Arial"/>
                        </a:rPr>
                        <a:t>Vòng</a:t>
                      </a:r>
                    </a:p>
                  </a:txBody>
                  <a:tcPr marL="64008" marR="64008" marT="32004" marB="32004" anchor="ctr">
                    <a:solidFill>
                      <a:srgbClr val="0F2331"/>
                    </a:solidFill>
                  </a:tcPr>
                </a:tc>
                <a:tc>
                  <a:txBody>
                    <a:bodyPr wrap="square"/>
                    <a:lstStyle/>
                    <a:p>
                      <a:r>
                        <a:rPr sz="1300" b="1">
                          <a:solidFill>
                            <a:srgbClr val="FFFFFF"/>
                          </a:solidFill>
                          <a:latin typeface="Arial"/>
                        </a:rPr>
                        <a:t>Ngày • nơi chạy</a:t>
                      </a:r>
                    </a:p>
                  </a:txBody>
                  <a:tcPr marL="64008" marR="64008" marT="32004" marB="32004" anchor="ctr">
                    <a:solidFill>
                      <a:srgbClr val="0F2331"/>
                    </a:solidFill>
                  </a:tcPr>
                </a:tc>
                <a:tc>
                  <a:txBody>
                    <a:bodyPr wrap="square"/>
                    <a:lstStyle/>
                    <a:p>
                      <a:r>
                        <a:rPr sz="1300" b="1">
                          <a:solidFill>
                            <a:srgbClr val="FFFFFF"/>
                          </a:solidFill>
                          <a:latin typeface="Arial"/>
                        </a:rPr>
                        <a:t>Kết quả chính</a:t>
                      </a:r>
                    </a:p>
                  </a:txBody>
                  <a:tcPr marL="64008" marR="64008" marT="32004" marB="32004" anchor="ctr">
                    <a:solidFill>
                      <a:srgbClr val="0F2331"/>
                    </a:solidFill>
                  </a:tcPr>
                </a:tc>
                <a:tc>
                  <a:txBody>
                    <a:bodyPr wrap="square"/>
                    <a:lstStyle/>
                    <a:p>
                      <a:r>
                        <a:rPr sz="1300" b="1">
                          <a:solidFill>
                            <a:srgbClr val="FFFFFF"/>
                          </a:solidFill>
                          <a:latin typeface="Arial"/>
                        </a:rPr>
                        <a:t>Vấn đề → lý do chạy lại</a:t>
                      </a:r>
                    </a:p>
                  </a:txBody>
                  <a:tcPr marL="64008" marR="64008" marT="32004" marB="32004" anchor="ctr">
                    <a:solidFill>
                      <a:srgbClr val="0F2331"/>
                    </a:solidFill>
                  </a:tcPr>
                </a:tc>
              </a:tr>
              <a:tr h="530352">
                <a:tc>
                  <a:txBody>
                    <a:bodyPr wrap="square"/>
                    <a:lstStyle/>
                    <a:p>
                      <a:r>
                        <a:rPr sz="1300" b="1">
                          <a:solidFill>
                            <a:srgbClr val="1F303A"/>
                          </a:solidFill>
                          <a:latin typeface="Arial"/>
                        </a:rPr>
                        <a:t>0 · 4 lớp</a:t>
                      </a:r>
                    </a:p>
                  </a:txBody>
                  <a:tcPr marL="64008" marR="64008" marT="32004" marB="32004" anchor="ctr">
                    <a:solidFill>
                      <a:srgbClr val="FFFFFF"/>
                    </a:solidFill>
                  </a:tcPr>
                </a:tc>
                <a:tc>
                  <a:txBody>
                    <a:bodyPr wrap="square"/>
                    <a:lstStyle/>
                    <a:p>
                      <a:r>
                        <a:rPr sz="1300" b="0">
                          <a:solidFill>
                            <a:srgbClr val="1F303A"/>
                          </a:solidFill>
                          <a:latin typeface="Arial"/>
                        </a:rPr>
                        <a:t>12/09 • Colab T4</a:t>
                      </a:r>
                    </a:p>
                  </a:txBody>
                  <a:tcPr marL="64008" marR="64008" marT="32004" marB="32004" anchor="ctr">
                    <a:solidFill>
                      <a:srgbClr val="FFFFFF"/>
                    </a:solidFill>
                  </a:tcPr>
                </a:tc>
                <a:tc>
                  <a:txBody>
                    <a:bodyPr wrap="square"/>
                    <a:lstStyle/>
                    <a:p>
                      <a:r>
                        <a:rPr sz="1300" b="0">
                          <a:solidFill>
                            <a:srgbClr val="1F303A"/>
                          </a:solidFill>
                          <a:latin typeface="Arial"/>
                        </a:rPr>
                        <a:t>Test mAP50 91,3%</a:t>
                      </a:r>
                    </a:p>
                  </a:txBody>
                  <a:tcPr marL="64008" marR="64008" marT="32004" marB="32004" anchor="ctr">
                    <a:solidFill>
                      <a:srgbClr val="FFFFFF"/>
                    </a:solidFill>
                  </a:tcPr>
                </a:tc>
                <a:tc>
                  <a:txBody>
                    <a:bodyPr wrap="square"/>
                    <a:lstStyle/>
                    <a:p>
                      <a:r>
                        <a:rPr sz="1300" b="0">
                          <a:solidFill>
                            <a:srgbClr val="1F303A"/>
                          </a:solidFill>
                          <a:latin typeface="Arial"/>
                        </a:rPr>
                        <a:t>Rò rỉ split: 456 ảnh gốc nằm ở nhiều tập → số ảo</a:t>
                      </a:r>
                    </a:p>
                  </a:txBody>
                  <a:tcPr marL="64008" marR="64008" marT="32004" marB="32004" anchor="ctr">
                    <a:solidFill>
                      <a:srgbClr val="FFFFFF"/>
                    </a:solidFill>
                  </a:tcPr>
                </a:tc>
              </a:tr>
              <a:tr h="530352">
                <a:tc>
                  <a:txBody>
                    <a:bodyPr wrap="square"/>
                    <a:lstStyle/>
                    <a:p>
                      <a:r>
                        <a:rPr sz="1300" b="1">
                          <a:solidFill>
                            <a:srgbClr val="1F303A"/>
                          </a:solidFill>
                          <a:latin typeface="Arial"/>
                        </a:rPr>
                        <a:t>1 · 7 lớp</a:t>
                      </a:r>
                    </a:p>
                  </a:txBody>
                  <a:tcPr marL="64008" marR="64008" marT="32004" marB="32004" anchor="ctr">
                    <a:solidFill>
                      <a:srgbClr val="F8FBFA"/>
                    </a:solidFill>
                  </a:tcPr>
                </a:tc>
                <a:tc>
                  <a:txBody>
                    <a:bodyPr wrap="square"/>
                    <a:lstStyle/>
                    <a:p>
                      <a:r>
                        <a:rPr sz="1300" b="0">
                          <a:solidFill>
                            <a:srgbClr val="1F303A"/>
                          </a:solidFill>
                          <a:latin typeface="Arial"/>
                        </a:rPr>
                        <a:t>18–20/09 • Colab</a:t>
                      </a:r>
                    </a:p>
                  </a:txBody>
                  <a:tcPr marL="64008" marR="64008" marT="32004" marB="32004" anchor="ctr">
                    <a:solidFill>
                      <a:srgbClr val="F8FBFA"/>
                    </a:solidFill>
                  </a:tcPr>
                </a:tc>
                <a:tc>
                  <a:txBody>
                    <a:bodyPr wrap="square"/>
                    <a:lstStyle/>
                    <a:p>
                      <a:r>
                        <a:rPr sz="1300" b="0">
                          <a:solidFill>
                            <a:srgbClr val="1F303A"/>
                          </a:solidFill>
                          <a:latin typeface="Arial"/>
                        </a:rPr>
                        <a:t>Val mAP50 85,4%</a:t>
                      </a:r>
                    </a:p>
                  </a:txBody>
                  <a:tcPr marL="64008" marR="64008" marT="32004" marB="32004" anchor="ctr">
                    <a:solidFill>
                      <a:srgbClr val="F8FBFA"/>
                    </a:solidFill>
                  </a:tcPr>
                </a:tc>
                <a:tc>
                  <a:txBody>
                    <a:bodyPr wrap="square"/>
                    <a:lstStyle/>
                    <a:p>
                      <a:r>
                        <a:rPr sz="1300" b="0">
                          <a:solidFill>
                            <a:srgbClr val="1F303A"/>
                          </a:solidFill>
                          <a:latin typeface="Arial"/>
                        </a:rPr>
                        <a:t>Ảnh cả cây: 0–7 quả; detector vừa tìm vừa phân độ chín</a:t>
                      </a:r>
                    </a:p>
                  </a:txBody>
                  <a:tcPr marL="64008" marR="64008" marT="32004" marB="32004" anchor="ctr">
                    <a:solidFill>
                      <a:srgbClr val="F8FBFA"/>
                    </a:solidFill>
                  </a:tcPr>
                </a:tc>
              </a:tr>
              <a:tr h="530352">
                <a:tc>
                  <a:txBody>
                    <a:bodyPr wrap="square"/>
                    <a:lstStyle/>
                    <a:p>
                      <a:r>
                        <a:rPr sz="1300" b="1">
                          <a:solidFill>
                            <a:srgbClr val="1F303A"/>
                          </a:solidFill>
                          <a:latin typeface="Arial"/>
                        </a:rPr>
                        <a:t>2 · 2 giai đoạn</a:t>
                      </a:r>
                    </a:p>
                  </a:txBody>
                  <a:tcPr marL="64008" marR="64008" marT="32004" marB="32004" anchor="ctr">
                    <a:solidFill>
                      <a:srgbClr val="FFFFFF"/>
                    </a:solidFill>
                  </a:tcPr>
                </a:tc>
                <a:tc>
                  <a:txBody>
                    <a:bodyPr wrap="square"/>
                    <a:lstStyle/>
                    <a:p>
                      <a:r>
                        <a:rPr sz="1300" b="0">
                          <a:solidFill>
                            <a:srgbClr val="1F303A"/>
                          </a:solidFill>
                          <a:latin typeface="Arial"/>
                        </a:rPr>
                        <a:t>25–27/09 • Colab</a:t>
                      </a:r>
                    </a:p>
                  </a:txBody>
                  <a:tcPr marL="64008" marR="64008" marT="32004" marB="32004" anchor="ctr">
                    <a:solidFill>
                      <a:srgbClr val="FFFFFF"/>
                    </a:solidFill>
                  </a:tcPr>
                </a:tc>
                <a:tc>
                  <a:txBody>
                    <a:bodyPr wrap="square"/>
                    <a:lstStyle/>
                    <a:p>
                      <a:r>
                        <a:rPr sz="1300" b="0">
                          <a:solidFill>
                            <a:srgbClr val="1F303A"/>
                          </a:solidFill>
                          <a:latin typeface="Arial"/>
                        </a:rPr>
                        <a:t>Không còn số liệu</a:t>
                      </a:r>
                    </a:p>
                  </a:txBody>
                  <a:tcPr marL="64008" marR="64008" marT="32004" marB="32004" anchor="ctr">
                    <a:solidFill>
                      <a:srgbClr val="FFFFFF"/>
                    </a:solidFill>
                  </a:tcPr>
                </a:tc>
                <a:tc>
                  <a:txBody>
                    <a:bodyPr wrap="square"/>
                    <a:lstStyle/>
                    <a:p>
                      <a:r>
                        <a:rPr sz="1300" b="0">
                          <a:solidFill>
                            <a:srgbClr val="1F303A"/>
                          </a:solidFill>
                          <a:latin typeface="Arial"/>
                        </a:rPr>
                        <a:t>Polygon đọc thành box; Colab ngắt; nhãn nhiễu</a:t>
                      </a:r>
                    </a:p>
                  </a:txBody>
                  <a:tcPr marL="64008" marR="64008" marT="32004" marB="32004" anchor="ctr">
                    <a:solidFill>
                      <a:srgbClr val="FFFFFF"/>
                    </a:solidFill>
                  </a:tcPr>
                </a:tc>
              </a:tr>
              <a:tr h="530352">
                <a:tc>
                  <a:txBody>
                    <a:bodyPr wrap="square"/>
                    <a:lstStyle/>
                    <a:p>
                      <a:r>
                        <a:rPr sz="1300" b="1">
                          <a:solidFill>
                            <a:srgbClr val="1F303A"/>
                          </a:solidFill>
                          <a:latin typeface="Arial"/>
                        </a:rPr>
                        <a:t>v2</a:t>
                      </a:r>
                    </a:p>
                  </a:txBody>
                  <a:tcPr marL="64008" marR="64008" marT="32004" marB="32004" anchor="ctr">
                    <a:solidFill>
                      <a:srgbClr val="F8FBFA"/>
                    </a:solidFill>
                  </a:tcPr>
                </a:tc>
                <a:tc>
                  <a:txBody>
                    <a:bodyPr wrap="square"/>
                    <a:lstStyle/>
                    <a:p>
                      <a:r>
                        <a:rPr sz="1300" b="0">
                          <a:solidFill>
                            <a:srgbClr val="1F303A"/>
                          </a:solidFill>
                          <a:latin typeface="Arial"/>
                        </a:rPr>
                        <a:t>28/09 • Vertex V100</a:t>
                      </a:r>
                    </a:p>
                  </a:txBody>
                  <a:tcPr marL="64008" marR="64008" marT="32004" marB="32004" anchor="ctr">
                    <a:solidFill>
                      <a:srgbClr val="F8FBFA"/>
                    </a:solidFill>
                  </a:tcPr>
                </a:tc>
                <a:tc>
                  <a:txBody>
                    <a:bodyPr wrap="square"/>
                    <a:lstStyle/>
                    <a:p>
                      <a:r>
                        <a:rPr sz="1300" b="0">
                          <a:solidFill>
                            <a:srgbClr val="1F303A"/>
                          </a:solidFill>
                          <a:latin typeface="Arial"/>
                        </a:rPr>
                        <a:t>Det mAP50 98,5%; xoài 63,9%</a:t>
                      </a:r>
                    </a:p>
                  </a:txBody>
                  <a:tcPr marL="64008" marR="64008" marT="32004" marB="32004" anchor="ctr">
                    <a:solidFill>
                      <a:srgbClr val="F8FBFA"/>
                    </a:solidFill>
                  </a:tcPr>
                </a:tc>
                <a:tc>
                  <a:txBody>
                    <a:bodyPr wrap="square"/>
                    <a:lstStyle/>
                    <a:p>
                      <a:r>
                        <a:rPr sz="1300" b="0">
                          <a:solidFill>
                            <a:srgbClr val="1F303A"/>
                          </a:solidFill>
                          <a:latin typeface="Arial"/>
                        </a:rPr>
                        <a:t>Lớp xoài theo tuổi quả; ảnh rộng chỉ thấy 3/~40 quả</a:t>
                      </a:r>
                    </a:p>
                  </a:txBody>
                  <a:tcPr marL="64008" marR="64008" marT="32004" marB="32004" anchor="ctr">
                    <a:solidFill>
                      <a:srgbClr val="F8FBFA"/>
                    </a:solidFill>
                  </a:tcPr>
                </a:tc>
              </a:tr>
              <a:tr h="530352">
                <a:tc>
                  <a:txBody>
                    <a:bodyPr wrap="square"/>
                    <a:lstStyle/>
                    <a:p>
                      <a:r>
                        <a:rPr sz="1300" b="1">
                          <a:solidFill>
                            <a:srgbClr val="1F303A"/>
                          </a:solidFill>
                          <a:latin typeface="Arial"/>
                        </a:rPr>
                        <a:t>v3 ✔ đang dùng</a:t>
                      </a:r>
                    </a:p>
                  </a:txBody>
                  <a:tcPr marL="64008" marR="64008" marT="32004" marB="32004" anchor="ctr">
                    <a:solidFill>
                      <a:srgbClr val="DAF3E6"/>
                    </a:solidFill>
                  </a:tcPr>
                </a:tc>
                <a:tc>
                  <a:txBody>
                    <a:bodyPr wrap="square"/>
                    <a:lstStyle/>
                    <a:p>
                      <a:r>
                        <a:rPr sz="1300" b="0">
                          <a:solidFill>
                            <a:srgbClr val="1F303A"/>
                          </a:solidFill>
                          <a:latin typeface="Arial"/>
                        </a:rPr>
                        <a:t>29/09 • Vertex V100</a:t>
                      </a:r>
                    </a:p>
                  </a:txBody>
                  <a:tcPr marL="64008" marR="64008" marT="32004" marB="32004" anchor="ctr">
                    <a:solidFill>
                      <a:srgbClr val="DAF3E6"/>
                    </a:solidFill>
                  </a:tcPr>
                </a:tc>
                <a:tc>
                  <a:txBody>
                    <a:bodyPr wrap="square"/>
                    <a:lstStyle/>
                    <a:p>
                      <a:r>
                        <a:rPr sz="1300" b="0">
                          <a:solidFill>
                            <a:srgbClr val="1F303A"/>
                          </a:solidFill>
                          <a:latin typeface="Arial"/>
                        </a:rPr>
                        <a:t>Det mAP50 94,9%; xoài 90,2%</a:t>
                      </a:r>
                    </a:p>
                  </a:txBody>
                  <a:tcPr marL="64008" marR="64008" marT="32004" marB="32004" anchor="ctr">
                    <a:solidFill>
                      <a:srgbClr val="DAF3E6"/>
                    </a:solidFill>
                  </a:tcPr>
                </a:tc>
                <a:tc>
                  <a:txBody>
                    <a:bodyPr wrap="square"/>
                    <a:lstStyle/>
                    <a:p>
                      <a:r>
                        <a:rPr sz="1300" b="0">
                          <a:solidFill>
                            <a:srgbClr val="1F303A"/>
                          </a:solidFill>
                          <a:latin typeface="Arial"/>
                        </a:rPr>
                        <a:t>Nhận nhầm vải/táo; cụm thanh long dày ~53%</a:t>
                      </a:r>
                    </a:p>
                  </a:txBody>
                  <a:tcPr marL="64008" marR="64008" marT="32004" marB="32004" anchor="ctr">
                    <a:solidFill>
                      <a:srgbClr val="DAF3E6"/>
                    </a:solidFill>
                  </a:tcPr>
                </a:tc>
              </a:tr>
              <a:tr h="530352">
                <a:tc>
                  <a:txBody>
                    <a:bodyPr wrap="square"/>
                    <a:lstStyle/>
                    <a:p>
                      <a:r>
                        <a:rPr sz="1300" b="1">
                          <a:solidFill>
                            <a:srgbClr val="1F303A"/>
                          </a:solidFill>
                          <a:latin typeface="Arial"/>
                        </a:rPr>
                        <a:t>v4</a:t>
                      </a:r>
                    </a:p>
                  </a:txBody>
                  <a:tcPr marL="64008" marR="64008" marT="32004" marB="32004" anchor="ctr">
                    <a:solidFill>
                      <a:srgbClr val="F8FBFA"/>
                    </a:solidFill>
                  </a:tcPr>
                </a:tc>
                <a:tc>
                  <a:txBody>
                    <a:bodyPr wrap="square"/>
                    <a:lstStyle/>
                    <a:p>
                      <a:r>
                        <a:rPr sz="1300" b="0">
                          <a:solidFill>
                            <a:srgbClr val="1F303A"/>
                          </a:solidFill>
                          <a:latin typeface="Arial"/>
                        </a:rPr>
                        <a:t>30/09 • Vertex V100</a:t>
                      </a:r>
                    </a:p>
                  </a:txBody>
                  <a:tcPr marL="64008" marR="64008" marT="32004" marB="32004" anchor="ctr">
                    <a:solidFill>
                      <a:srgbClr val="F8FBFA"/>
                    </a:solidFill>
                  </a:tcPr>
                </a:tc>
                <a:tc>
                  <a:txBody>
                    <a:bodyPr wrap="square"/>
                    <a:lstStyle/>
                    <a:p>
                      <a:r>
                        <a:rPr sz="1300" b="0">
                          <a:solidFill>
                            <a:srgbClr val="1F303A"/>
                          </a:solidFill>
                          <a:latin typeface="Arial"/>
                        </a:rPr>
                        <a:t>Val 93,3% → tải lại 31,4%</a:t>
                      </a:r>
                    </a:p>
                  </a:txBody>
                  <a:tcPr marL="64008" marR="64008" marT="32004" marB="32004" anchor="ctr">
                    <a:solidFill>
                      <a:srgbClr val="F8FBFA"/>
                    </a:solidFill>
                  </a:tcPr>
                </a:tc>
                <a:tc>
                  <a:txBody>
                    <a:bodyPr wrap="square"/>
                    <a:lstStyle/>
                    <a:p>
                      <a:r>
                        <a:rPr sz="1300" b="0">
                          <a:solidFill>
                            <a:srgbClr val="1F303A"/>
                          </a:solidFill>
                          <a:latin typeface="Arial"/>
                        </a:rPr>
                        <a:t>Checkpoint FP16 hỏng; xoài chín 11 → 0 quả</a:t>
                      </a:r>
                    </a:p>
                  </a:txBody>
                  <a:tcPr marL="64008" marR="64008" marT="32004" marB="32004" anchor="ctr">
                    <a:solidFill>
                      <a:srgbClr val="F8FBFA"/>
                    </a:solidFill>
                  </a:tcPr>
                </a:tc>
              </a:tr>
              <a:tr h="530352">
                <a:tc>
                  <a:txBody>
                    <a:bodyPr wrap="square"/>
                    <a:lstStyle/>
                    <a:p>
                      <a:r>
                        <a:rPr sz="1300" b="1">
                          <a:solidFill>
                            <a:srgbClr val="1F303A"/>
                          </a:solidFill>
                          <a:latin typeface="Arial"/>
                        </a:rPr>
                        <a:t>A / B / C</a:t>
                      </a:r>
                    </a:p>
                  </a:txBody>
                  <a:tcPr marL="64008" marR="64008" marT="32004" marB="32004" anchor="ctr">
                    <a:solidFill>
                      <a:srgbClr val="FFFFFF"/>
                    </a:solidFill>
                  </a:tcPr>
                </a:tc>
                <a:tc>
                  <a:txBody>
                    <a:bodyPr wrap="square"/>
                    <a:lstStyle/>
                    <a:p>
                      <a:r>
                        <a:rPr sz="1300" b="0">
                          <a:solidFill>
                            <a:srgbClr val="1F303A"/>
                          </a:solidFill>
                          <a:latin typeface="Arial"/>
                        </a:rPr>
                        <a:t>02/10 • Vertex V100</a:t>
                      </a:r>
                    </a:p>
                  </a:txBody>
                  <a:tcPr marL="64008" marR="64008" marT="32004" marB="32004" anchor="ctr">
                    <a:solidFill>
                      <a:srgbClr val="FFFFFF"/>
                    </a:solidFill>
                  </a:tcPr>
                </a:tc>
                <a:tc>
                  <a:txBody>
                    <a:bodyPr wrap="square"/>
                    <a:lstStyle/>
                    <a:p>
                      <a:r>
                        <a:rPr sz="1300" b="0">
                          <a:solidFill>
                            <a:srgbClr val="1F303A"/>
                          </a:solidFill>
                          <a:latin typeface="Arial"/>
                        </a:rPr>
                        <a:t>Precision 55% → 66–68%</a:t>
                      </a:r>
                    </a:p>
                  </a:txBody>
                  <a:tcPr marL="64008" marR="64008" marT="32004" marB="32004" anchor="ctr">
                    <a:solidFill>
                      <a:srgbClr val="FFFFFF"/>
                    </a:solidFill>
                  </a:tcPr>
                </a:tc>
                <a:tc>
                  <a:txBody>
                    <a:bodyPr wrap="square"/>
                    <a:lstStyle/>
                    <a:p>
                      <a:r>
                        <a:rPr sz="1300" b="0">
                          <a:solidFill>
                            <a:srgbClr val="1F303A"/>
                          </a:solidFill>
                          <a:latin typeface="Arial"/>
                        </a:rPr>
                        <a:t>Vẫn mất xoài nhỏ/đỏ (11 → 4) → giữ v3</a:t>
                      </a:r>
                    </a:p>
                  </a:txBody>
                  <a:tcPr marL="64008" marR="64008" marT="32004" marB="32004" anchor="ctr">
                    <a:solidFill>
                      <a:srgbClr val="FFFFFF"/>
                    </a:solidFill>
                  </a:tcPr>
                </a:tc>
              </a:tr>
              <a:tr h="530352">
                <a:tc>
                  <a:txBody>
                    <a:bodyPr wrap="square"/>
                    <a:lstStyle/>
                    <a:p>
                      <a:r>
                        <a:rPr sz="1300" b="1">
                          <a:solidFill>
                            <a:srgbClr val="1F303A"/>
                          </a:solidFill>
                          <a:latin typeface="Arial"/>
                        </a:rPr>
                        <a:t>Bộ lọc loài</a:t>
                      </a:r>
                    </a:p>
                  </a:txBody>
                  <a:tcPr marL="64008" marR="64008" marT="32004" marB="32004" anchor="ctr">
                    <a:solidFill>
                      <a:srgbClr val="F8FBFA"/>
                    </a:solidFill>
                  </a:tcPr>
                </a:tc>
                <a:tc>
                  <a:txBody>
                    <a:bodyPr wrap="square"/>
                    <a:lstStyle/>
                    <a:p>
                      <a:r>
                        <a:rPr sz="1300" b="0">
                          <a:solidFill>
                            <a:srgbClr val="1F303A"/>
                          </a:solidFill>
                          <a:latin typeface="Arial"/>
                        </a:rPr>
                        <a:t>06/10 • CPU laptop</a:t>
                      </a:r>
                    </a:p>
                  </a:txBody>
                  <a:tcPr marL="64008" marR="64008" marT="32004" marB="32004" anchor="ctr">
                    <a:solidFill>
                      <a:srgbClr val="F8FBFA"/>
                    </a:solidFill>
                  </a:tcPr>
                </a:tc>
                <a:tc>
                  <a:txBody>
                    <a:bodyPr wrap="square"/>
                    <a:lstStyle/>
                    <a:p>
                      <a:r>
                        <a:rPr sz="1300" b="0">
                          <a:solidFill>
                            <a:srgbClr val="1F303A"/>
                          </a:solidFill>
                          <a:latin typeface="Arial"/>
                        </a:rPr>
                        <a:t>Box sai ảnh âm tính 1.103 → 264</a:t>
                      </a:r>
                    </a:p>
                  </a:txBody>
                  <a:tcPr marL="64008" marR="64008" marT="32004" marB="32004" anchor="ctr">
                    <a:solidFill>
                      <a:srgbClr val="F8FBFA"/>
                    </a:solidFill>
                  </a:tcPr>
                </a:tc>
                <a:tc>
                  <a:txBody>
                    <a:bodyPr wrap="square"/>
                    <a:lstStyle/>
                    <a:p>
                      <a:r>
                        <a:rPr sz="1300" b="0">
                          <a:solidFill>
                            <a:srgbClr val="1F303A"/>
                          </a:solidFill>
                          <a:latin typeface="Arial"/>
                        </a:rPr>
                        <a:t>Xóa 24/49 xoài chín → cần huấn luyện lại</a:t>
                      </a:r>
                    </a:p>
                  </a:txBody>
                  <a:tcPr marL="64008" marR="64008" marT="32004" marB="32004" anchor="ctr">
                    <a:solidFill>
                      <a:srgbClr val="F8FBF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14884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PHẦN 2</a:t>
            </a:r>
          </a:p>
        </p:txBody>
      </p:sp>
      <p:sp>
        <p:nvSpPr>
          <p:cNvPr id="3" name="TextBox 2"/>
          <p:cNvSpPr txBox="1"/>
          <p:nvPr/>
        </p:nvSpPr>
        <p:spPr>
          <a:xfrm>
            <a:off x="822960" y="2606040"/>
            <a:ext cx="10515600" cy="914400"/>
          </a:xfrm>
          <a:prstGeom prst="rect">
            <a:avLst/>
          </a:prstGeom>
          <a:noFill/>
        </p:spPr>
        <p:txBody>
          <a:bodyPr wrap="square" lIns="0" rIns="0" tIns="0" bIns="0" anchor="t">
            <a:spAutoFit/>
          </a:bodyPr>
          <a:lstStyle/>
          <a:p>
            <a:pPr algn="l">
              <a:spcAft>
                <a:spcPts val="400"/>
              </a:spcAft>
            </a:pPr>
            <a:r>
              <a:rPr sz="3800" b="1">
                <a:solidFill>
                  <a:srgbClr val="0F2331"/>
                </a:solidFill>
                <a:latin typeface="Arial"/>
              </a:rPr>
              <a:t>Giai đoạn 1: một detector làm mọi việc</a:t>
            </a:r>
          </a:p>
        </p:txBody>
      </p:sp>
      <p:sp>
        <p:nvSpPr>
          <p:cNvPr id="4" name="TextBox 3"/>
          <p:cNvSpPr txBox="1"/>
          <p:nvPr/>
        </p:nvSpPr>
        <p:spPr>
          <a:xfrm>
            <a:off x="822960" y="3611880"/>
            <a:ext cx="10515600" cy="1097280"/>
          </a:xfrm>
          <a:prstGeom prst="rect">
            <a:avLst/>
          </a:prstGeom>
          <a:noFill/>
        </p:spPr>
        <p:txBody>
          <a:bodyPr wrap="square" lIns="0" rIns="0" tIns="0" bIns="0" anchor="t">
            <a:spAutoFit/>
          </a:bodyPr>
          <a:lstStyle/>
          <a:p>
            <a:pPr algn="l">
              <a:spcAft>
                <a:spcPts val="400"/>
              </a:spcAft>
            </a:pPr>
            <a:r>
              <a:rPr sz="1800" b="0">
                <a:solidFill>
                  <a:srgbClr val="5C6E78"/>
                </a:solidFill>
                <a:latin typeface="Arial"/>
              </a:rPr>
              <a:t>Vòng 0 và vòng 1 trên Colab, lần triển khai đầu tiên, và vì sao phải đổi kiến trúc</a:t>
            </a:r>
          </a:p>
        </p:txBody>
      </p:sp>
      <p:sp>
        <p:nvSpPr>
          <p:cNvPr id="5" name="TextBox 4"/>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0</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Vòng 0 (12/09): YOLOv8s 4 lớp — điểm cao nhưng không đáng tin</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08</a:t>
            </a:r>
          </a:p>
        </p:txBody>
      </p:sp>
      <p:sp>
        <p:nvSpPr>
          <p:cNvPr id="5" name="Rounded Rectangle 4"/>
          <p:cNvSpPr/>
          <p:nvPr/>
        </p:nvSpPr>
        <p:spPr>
          <a:xfrm>
            <a:off x="548640" y="1280160"/>
            <a:ext cx="4572000" cy="4160520"/>
          </a:xfrm>
          <a:prstGeom prst="roundRect">
            <a:avLst>
              <a:gd name="adj" fmla="val 316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4169663"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Thiết lập</a:t>
            </a:r>
          </a:p>
        </p:txBody>
      </p:sp>
      <p:sp>
        <p:nvSpPr>
          <p:cNvPr id="7" name="TextBox 6"/>
          <p:cNvSpPr txBox="1"/>
          <p:nvPr/>
        </p:nvSpPr>
        <p:spPr>
          <a:xfrm>
            <a:off x="749808" y="1920239"/>
            <a:ext cx="4169663" cy="342899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2 bộ Roboflow: xoài (Premature / early / mature / ripe) và thanh long (Unripe / Ripe / Rotten)</a:t>
            </a:r>
          </a:p>
          <a:p>
            <a:pPr algn="l" marL="203200" indent="-203200">
              <a:spcAft>
                <a:spcPts val="600"/>
              </a:spcAft>
              <a:buChar char="•"/>
            </a:pPr>
            <a:r>
              <a:rPr sz="1600" b="0">
                <a:solidFill>
                  <a:srgbClr val="1F303A"/>
                </a:solidFill>
                <a:latin typeface="Arial"/>
              </a:rPr>
              <a:t>Gộp thành 4 lớp: mango_unripe/ripe, dragonfruit_unripe/ripe; bỏ Rotten</a:t>
            </a:r>
          </a:p>
          <a:p>
            <a:pPr algn="l" marL="203200" indent="-203200">
              <a:spcAft>
                <a:spcPts val="600"/>
              </a:spcAft>
              <a:buChar char="•"/>
            </a:pPr>
            <a:r>
              <a:rPr sz="1600" b="0">
                <a:solidFill>
                  <a:srgbClr val="1F303A"/>
                </a:solidFill>
                <a:latin typeface="Arial"/>
              </a:rPr>
              <a:t>YOLOv8s, 30 epoch, Colab T4, AdamW</a:t>
            </a:r>
          </a:p>
          <a:p>
            <a:pPr algn="l" marL="203200" indent="-203200">
              <a:spcAft>
                <a:spcPts val="600"/>
              </a:spcAft>
              <a:buChar char="•"/>
            </a:pPr>
            <a:r>
              <a:rPr sz="1600" b="0">
                <a:solidFill>
                  <a:srgbClr val="1F303A"/>
                </a:solidFill>
                <a:latin typeface="Arial"/>
              </a:rPr>
              <a:t>hsv_h = 0: không xoay màu, vì xoay hue biến xoài xanh thành vàng</a:t>
            </a:r>
          </a:p>
        </p:txBody>
      </p:sp>
      <p:sp>
        <p:nvSpPr>
          <p:cNvPr id="8" name="Rounded Rectangle 7"/>
          <p:cNvSpPr/>
          <p:nvPr/>
        </p:nvSpPr>
        <p:spPr>
          <a:xfrm>
            <a:off x="5349240" y="1280160"/>
            <a:ext cx="2194560" cy="1463040"/>
          </a:xfrm>
          <a:prstGeom prst="roundRect">
            <a:avLst>
              <a:gd name="adj" fmla="val 89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79" y="1408176"/>
            <a:ext cx="2011679" cy="731520"/>
          </a:xfrm>
          <a:prstGeom prst="rect">
            <a:avLst/>
          </a:prstGeom>
          <a:noFill/>
        </p:spPr>
        <p:txBody>
          <a:bodyPr wrap="square" lIns="0" rIns="0" tIns="0" bIns="0" anchor="t">
            <a:spAutoFit/>
          </a:bodyPr>
          <a:lstStyle/>
          <a:p>
            <a:pPr algn="ctr">
              <a:spcAft>
                <a:spcPts val="400"/>
              </a:spcAft>
            </a:pPr>
            <a:r>
              <a:rPr sz="3400" b="1">
                <a:solidFill>
                  <a:srgbClr val="187F5B"/>
                </a:solidFill>
                <a:latin typeface="Arial"/>
              </a:rPr>
              <a:t>91,3%</a:t>
            </a:r>
          </a:p>
        </p:txBody>
      </p:sp>
      <p:sp>
        <p:nvSpPr>
          <p:cNvPr id="10" name="TextBox 9"/>
          <p:cNvSpPr txBox="1"/>
          <p:nvPr/>
        </p:nvSpPr>
        <p:spPr>
          <a:xfrm>
            <a:off x="5486400" y="2084832"/>
            <a:ext cx="1920240" cy="614476"/>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mAP50 test</a:t>
            </a:r>
          </a:p>
          <a:p>
            <a:pPr algn="ctr">
              <a:spcAft>
                <a:spcPts val="400"/>
              </a:spcAft>
            </a:pPr>
            <a:r>
              <a:rPr sz="1300" b="0">
                <a:solidFill>
                  <a:srgbClr val="1F303A"/>
                </a:solidFill>
                <a:latin typeface="Arial"/>
              </a:rPr>
              <a:t>(714 ảnh)</a:t>
            </a:r>
          </a:p>
        </p:txBody>
      </p:sp>
      <p:sp>
        <p:nvSpPr>
          <p:cNvPr id="11" name="Rounded Rectangle 10"/>
          <p:cNvSpPr/>
          <p:nvPr/>
        </p:nvSpPr>
        <p:spPr>
          <a:xfrm>
            <a:off x="7680960" y="1280160"/>
            <a:ext cx="1828800" cy="1463040"/>
          </a:xfrm>
          <a:prstGeom prst="roundRect">
            <a:avLst>
              <a:gd name="adj" fmla="val 89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1408176"/>
            <a:ext cx="1645920" cy="731520"/>
          </a:xfrm>
          <a:prstGeom prst="rect">
            <a:avLst/>
          </a:prstGeom>
          <a:noFill/>
        </p:spPr>
        <p:txBody>
          <a:bodyPr wrap="square" lIns="0" rIns="0" tIns="0" bIns="0" anchor="t">
            <a:spAutoFit/>
          </a:bodyPr>
          <a:lstStyle/>
          <a:p>
            <a:pPr algn="ctr">
              <a:spcAft>
                <a:spcPts val="400"/>
              </a:spcAft>
            </a:pPr>
            <a:r>
              <a:rPr sz="2800" b="1">
                <a:solidFill>
                  <a:srgbClr val="187F5B"/>
                </a:solidFill>
                <a:latin typeface="Arial"/>
              </a:rPr>
              <a:t>95,6%</a:t>
            </a:r>
          </a:p>
        </p:txBody>
      </p:sp>
      <p:sp>
        <p:nvSpPr>
          <p:cNvPr id="13" name="TextBox 12"/>
          <p:cNvSpPr txBox="1"/>
          <p:nvPr/>
        </p:nvSpPr>
        <p:spPr>
          <a:xfrm>
            <a:off x="7818120" y="2084832"/>
            <a:ext cx="1554480" cy="614476"/>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Precision</a:t>
            </a:r>
          </a:p>
        </p:txBody>
      </p:sp>
      <p:sp>
        <p:nvSpPr>
          <p:cNvPr id="14" name="Rounded Rectangle 13"/>
          <p:cNvSpPr/>
          <p:nvPr/>
        </p:nvSpPr>
        <p:spPr>
          <a:xfrm>
            <a:off x="9646920" y="1280160"/>
            <a:ext cx="1993392" cy="1463040"/>
          </a:xfrm>
          <a:prstGeom prst="roundRect">
            <a:avLst>
              <a:gd name="adj" fmla="val 89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738360" y="1408176"/>
            <a:ext cx="1810512" cy="731520"/>
          </a:xfrm>
          <a:prstGeom prst="rect">
            <a:avLst/>
          </a:prstGeom>
          <a:noFill/>
        </p:spPr>
        <p:txBody>
          <a:bodyPr wrap="square" lIns="0" rIns="0" tIns="0" bIns="0" anchor="t">
            <a:spAutoFit/>
          </a:bodyPr>
          <a:lstStyle/>
          <a:p>
            <a:pPr algn="ctr">
              <a:spcAft>
                <a:spcPts val="400"/>
              </a:spcAft>
            </a:pPr>
            <a:r>
              <a:rPr sz="2800" b="1">
                <a:solidFill>
                  <a:srgbClr val="187F5B"/>
                </a:solidFill>
                <a:latin typeface="Arial"/>
              </a:rPr>
              <a:t>85,1%</a:t>
            </a:r>
          </a:p>
        </p:txBody>
      </p:sp>
      <p:sp>
        <p:nvSpPr>
          <p:cNvPr id="16" name="TextBox 15"/>
          <p:cNvSpPr txBox="1"/>
          <p:nvPr/>
        </p:nvSpPr>
        <p:spPr>
          <a:xfrm>
            <a:off x="9784080" y="2084832"/>
            <a:ext cx="1719072" cy="614476"/>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Recall</a:t>
            </a:r>
          </a:p>
        </p:txBody>
      </p:sp>
      <p:sp>
        <p:nvSpPr>
          <p:cNvPr id="17" name="Rounded Rectangle 16"/>
          <p:cNvSpPr/>
          <p:nvPr/>
        </p:nvSpPr>
        <p:spPr>
          <a:xfrm>
            <a:off x="5349240" y="2926080"/>
            <a:ext cx="6291072" cy="2514600"/>
          </a:xfrm>
          <a:prstGeom prst="roundRect">
            <a:avLst>
              <a:gd name="adj" fmla="val 5236"/>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50407" y="3108960"/>
            <a:ext cx="5888736"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Vấn đề phát hiện sau đó</a:t>
            </a:r>
          </a:p>
        </p:txBody>
      </p:sp>
      <p:sp>
        <p:nvSpPr>
          <p:cNvPr id="19" name="TextBox 18"/>
          <p:cNvSpPr txBox="1"/>
          <p:nvPr/>
        </p:nvSpPr>
        <p:spPr>
          <a:xfrm>
            <a:off x="5550407" y="3566160"/>
            <a:ext cx="5888736" cy="17830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Bộ xoài có 2.004 ảnh nhưng chỉ từ </a:t>
            </a:r>
            <a:r>
              <a:rPr sz="1600" b="1">
                <a:solidFill>
                  <a:srgbClr val="1F303A"/>
                </a:solidFill>
                <a:latin typeface="Arial"/>
              </a:rPr>
              <a:t>926 ảnh gốc</a:t>
            </a:r>
            <a:r>
              <a:rPr sz="1600" b="0">
                <a:solidFill>
                  <a:srgbClr val="1F303A"/>
                </a:solidFill>
                <a:latin typeface="Arial"/>
              </a:rPr>
              <a:t>; </a:t>
            </a:r>
            <a:r>
              <a:rPr sz="1600" b="1">
                <a:solidFill>
                  <a:srgbClr val="1F303A"/>
                </a:solidFill>
                <a:latin typeface="Arial"/>
              </a:rPr>
              <a:t>456 ảnh gốc</a:t>
            </a:r>
            <a:r>
              <a:rPr sz="1600" b="0">
                <a:solidFill>
                  <a:srgbClr val="1F303A"/>
                </a:solidFill>
                <a:latin typeface="Arial"/>
              </a:rPr>
              <a:t> có bản tăng cường nằm ở nhiều split</a:t>
            </a:r>
          </a:p>
          <a:p>
            <a:pPr algn="l" marL="203200" indent="-203200">
              <a:spcAft>
                <a:spcPts val="600"/>
              </a:spcAft>
              <a:buChar char="•"/>
            </a:pPr>
            <a:r>
              <a:rPr sz="1600" b="0">
                <a:solidFill>
                  <a:srgbClr val="1F303A"/>
                </a:solidFill>
                <a:latin typeface="Arial"/>
              </a:rPr>
              <a:t>Xoài vàng sau thu hoạch bị gọi là "unripe" (lệch miền dữ liệu)</a:t>
            </a:r>
          </a:p>
          <a:p>
            <a:pPr algn="l" marL="203200" indent="-203200">
              <a:spcAft>
                <a:spcPts val="600"/>
              </a:spcAft>
              <a:buChar char="•"/>
            </a:pPr>
            <a:r>
              <a:rPr sz="1600" b="0">
                <a:solidFill>
                  <a:srgbClr val="1F303A"/>
                </a:solidFill>
                <a:latin typeface="Arial"/>
              </a:rPr>
              <a:t>Ảnh kết quả bị xanh lơ do lẫn BGR/RGB</a:t>
            </a:r>
          </a:p>
        </p:txBody>
      </p:sp>
      <p:sp>
        <p:nvSpPr>
          <p:cNvPr id="20" name="Rounded Rectangle 19"/>
          <p:cNvSpPr/>
          <p:nvPr/>
        </p:nvSpPr>
        <p:spPr>
          <a:xfrm>
            <a:off x="548640" y="5623560"/>
            <a:ext cx="11091672" cy="59436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411480"/>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 Chạy lại: gom nhóm theo ảnh gốc (phần tên trước ".rf.") rồi mới chia 70/20/10; tách độ chín xoài thành 4 mức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1</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Vòng 1 (18–20/09): 7 lớp trên Colab và sự cố mất checkpoint</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09</a:t>
            </a:r>
          </a:p>
        </p:txBody>
      </p:sp>
      <p:sp>
        <p:nvSpPr>
          <p:cNvPr id="5" name="Rounded Rectangle 4"/>
          <p:cNvSpPr/>
          <p:nvPr/>
        </p:nvSpPr>
        <p:spPr>
          <a:xfrm>
            <a:off x="548640" y="1280160"/>
            <a:ext cx="3566160" cy="4206240"/>
          </a:xfrm>
          <a:prstGeom prst="roundRect">
            <a:avLst>
              <a:gd name="adj" fmla="val 31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316382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Thiết lập</a:t>
            </a:r>
          </a:p>
        </p:txBody>
      </p:sp>
      <p:sp>
        <p:nvSpPr>
          <p:cNvPr id="7" name="TextBox 6"/>
          <p:cNvSpPr txBox="1"/>
          <p:nvPr/>
        </p:nvSpPr>
        <p:spPr>
          <a:xfrm>
            <a:off x="749808" y="1920239"/>
            <a:ext cx="3163824" cy="347471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7 lớp: mango_premature / early / mature / ripe; dragonfruit_unripe / ripe / rotten</a:t>
            </a:r>
          </a:p>
          <a:p>
            <a:pPr algn="l" marL="203200" indent="-203200">
              <a:spcAft>
                <a:spcPts val="600"/>
              </a:spcAft>
              <a:buChar char="•"/>
            </a:pPr>
            <a:r>
              <a:rPr sz="1600" b="0">
                <a:solidFill>
                  <a:srgbClr val="1F303A"/>
                </a:solidFill>
                <a:latin typeface="Arial"/>
              </a:rPr>
              <a:t>Ánh xạ nhãn theo </a:t>
            </a:r>
            <a:r>
              <a:rPr sz="1600" b="1">
                <a:solidFill>
                  <a:srgbClr val="1F303A"/>
                </a:solidFill>
                <a:latin typeface="Arial"/>
              </a:rPr>
              <a:t>tên</a:t>
            </a:r>
            <a:r>
              <a:rPr sz="1600" b="0">
                <a:solidFill>
                  <a:srgbClr val="1F303A"/>
                </a:solidFill>
                <a:latin typeface="Arial"/>
              </a:rPr>
              <a:t>, không theo ID</a:t>
            </a:r>
          </a:p>
          <a:p>
            <a:pPr algn="l" marL="203200" indent="-203200">
              <a:spcAft>
                <a:spcPts val="600"/>
              </a:spcAft>
              <a:buChar char="•"/>
            </a:pPr>
            <a:r>
              <a:rPr sz="1600" b="0">
                <a:solidFill>
                  <a:srgbClr val="1F303A"/>
                </a:solidFill>
                <a:latin typeface="Arial"/>
              </a:rPr>
              <a:t>YOLOv8s, 80 epoch, 640 px, batch 16, AdamW, seed 42</a:t>
            </a:r>
          </a:p>
          <a:p>
            <a:pPr algn="l" marL="203200" indent="-203200">
              <a:spcAft>
                <a:spcPts val="600"/>
              </a:spcAft>
              <a:buChar char="•"/>
            </a:pPr>
            <a:r>
              <a:rPr sz="1600" b="0">
                <a:solidFill>
                  <a:srgbClr val="1F303A"/>
                </a:solidFill>
                <a:latin typeface="Arial"/>
              </a:rPr>
              <a:t>~76 giây/epoch, tổng 1 giờ 39 phút</a:t>
            </a:r>
          </a:p>
        </p:txBody>
      </p:sp>
      <p:sp>
        <p:nvSpPr>
          <p:cNvPr id="8" name="Rounded Rectangle 7"/>
          <p:cNvSpPr/>
          <p:nvPr/>
        </p:nvSpPr>
        <p:spPr>
          <a:xfrm>
            <a:off x="4315968" y="1280160"/>
            <a:ext cx="3657600" cy="4206240"/>
          </a:xfrm>
          <a:prstGeom prst="roundRect">
            <a:avLst>
              <a:gd name="adj" fmla="val 31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463039"/>
            <a:ext cx="325526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Hai sự cố</a:t>
            </a:r>
          </a:p>
        </p:txBody>
      </p:sp>
      <p:sp>
        <p:nvSpPr>
          <p:cNvPr id="10" name="TextBox 9"/>
          <p:cNvSpPr txBox="1"/>
          <p:nvPr/>
        </p:nvSpPr>
        <p:spPr>
          <a:xfrm>
            <a:off x="4517136" y="1920239"/>
            <a:ext cx="3255264" cy="347471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Colab ngắt kết nối, mất checkpoint → ghi thẳng lên Google Drive + ô resume (commit 98348dc)</a:t>
            </a:r>
          </a:p>
          <a:p>
            <a:pPr algn="l" marL="203200" indent="-203200">
              <a:spcAft>
                <a:spcPts val="600"/>
              </a:spcAft>
              <a:buChar char="•"/>
            </a:pPr>
            <a:r>
              <a:rPr sz="1600" b="0">
                <a:solidFill>
                  <a:srgbClr val="1F303A"/>
                </a:solidFill>
                <a:latin typeface="Arial"/>
              </a:rPr>
              <a:t>Một lần chạy nhầm trên </a:t>
            </a:r>
            <a:r>
              <a:rPr sz="1600" b="1">
                <a:solidFill>
                  <a:srgbClr val="1F303A"/>
                </a:solidFill>
                <a:latin typeface="Arial"/>
              </a:rPr>
              <a:t>CPU</a:t>
            </a:r>
            <a:r>
              <a:rPr sz="1600" b="0">
                <a:solidFill>
                  <a:srgbClr val="1F303A"/>
                </a:solidFill>
                <a:latin typeface="Arial"/>
              </a:rPr>
              <a:t> cùng tên run, exist_ok=True: ghi đè best.pt bằng mô hình 1 epoch (mAP50 0,027; 8.745 giây/epoch)</a:t>
            </a:r>
          </a:p>
          <a:p>
            <a:pPr algn="l" marL="203200" indent="-203200">
              <a:spcAft>
                <a:spcPts val="600"/>
              </a:spcAft>
              <a:buChar char="•"/>
            </a:pPr>
            <a:r>
              <a:rPr sz="1600" b="0">
                <a:solidFill>
                  <a:srgbClr val="1F303A"/>
                </a:solidFill>
                <a:latin typeface="Arial"/>
              </a:rPr>
              <a:t>Khôi phục best.pt 80 epoch từ lịch sử phiên bản của Drive</a:t>
            </a:r>
          </a:p>
        </p:txBody>
      </p:sp>
      <p:sp>
        <p:nvSpPr>
          <p:cNvPr id="11" name="Rounded Rectangle 10"/>
          <p:cNvSpPr/>
          <p:nvPr/>
        </p:nvSpPr>
        <p:spPr>
          <a:xfrm>
            <a:off x="8183879" y="1280160"/>
            <a:ext cx="1673352" cy="1325880"/>
          </a:xfrm>
          <a:prstGeom prst="roundRect">
            <a:avLst>
              <a:gd name="adj" fmla="val 993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75319" y="1408176"/>
            <a:ext cx="1490472" cy="662940"/>
          </a:xfrm>
          <a:prstGeom prst="rect">
            <a:avLst/>
          </a:prstGeom>
          <a:noFill/>
        </p:spPr>
        <p:txBody>
          <a:bodyPr wrap="square" lIns="0" rIns="0" tIns="0" bIns="0" anchor="t">
            <a:spAutoFit/>
          </a:bodyPr>
          <a:lstStyle/>
          <a:p>
            <a:pPr algn="ctr">
              <a:spcAft>
                <a:spcPts val="400"/>
              </a:spcAft>
            </a:pPr>
            <a:r>
              <a:rPr sz="2600" b="1">
                <a:solidFill>
                  <a:srgbClr val="187F5B"/>
                </a:solidFill>
                <a:latin typeface="Arial"/>
              </a:rPr>
              <a:t>85,4%</a:t>
            </a:r>
          </a:p>
        </p:txBody>
      </p:sp>
      <p:sp>
        <p:nvSpPr>
          <p:cNvPr id="13" name="TextBox 12"/>
          <p:cNvSpPr txBox="1"/>
          <p:nvPr/>
        </p:nvSpPr>
        <p:spPr>
          <a:xfrm>
            <a:off x="8321040" y="2009393"/>
            <a:ext cx="1399032" cy="556869"/>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mAP50 val</a:t>
            </a:r>
          </a:p>
        </p:txBody>
      </p:sp>
      <p:sp>
        <p:nvSpPr>
          <p:cNvPr id="14" name="Rounded Rectangle 13"/>
          <p:cNvSpPr/>
          <p:nvPr/>
        </p:nvSpPr>
        <p:spPr>
          <a:xfrm>
            <a:off x="9966960" y="1280160"/>
            <a:ext cx="1673352" cy="1325880"/>
          </a:xfrm>
          <a:prstGeom prst="roundRect">
            <a:avLst>
              <a:gd name="adj" fmla="val 993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0" y="1408176"/>
            <a:ext cx="1490472" cy="662940"/>
          </a:xfrm>
          <a:prstGeom prst="rect">
            <a:avLst/>
          </a:prstGeom>
          <a:noFill/>
        </p:spPr>
        <p:txBody>
          <a:bodyPr wrap="square" lIns="0" rIns="0" tIns="0" bIns="0" anchor="t">
            <a:spAutoFit/>
          </a:bodyPr>
          <a:lstStyle/>
          <a:p>
            <a:pPr algn="ctr">
              <a:spcAft>
                <a:spcPts val="400"/>
              </a:spcAft>
            </a:pPr>
            <a:r>
              <a:rPr sz="2600" b="1">
                <a:solidFill>
                  <a:srgbClr val="187F5B"/>
                </a:solidFill>
                <a:latin typeface="Arial"/>
              </a:rPr>
              <a:t>75,2%</a:t>
            </a:r>
          </a:p>
        </p:txBody>
      </p:sp>
      <p:sp>
        <p:nvSpPr>
          <p:cNvPr id="16" name="TextBox 15"/>
          <p:cNvSpPr txBox="1"/>
          <p:nvPr/>
        </p:nvSpPr>
        <p:spPr>
          <a:xfrm>
            <a:off x="10104120" y="2009393"/>
            <a:ext cx="1399032" cy="556869"/>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mAP50-95 val</a:t>
            </a:r>
          </a:p>
        </p:txBody>
      </p:sp>
      <p:sp>
        <p:nvSpPr>
          <p:cNvPr id="17" name="Rounded Rectangle 16"/>
          <p:cNvSpPr/>
          <p:nvPr/>
        </p:nvSpPr>
        <p:spPr>
          <a:xfrm>
            <a:off x="8183879" y="2788920"/>
            <a:ext cx="3456432" cy="2697480"/>
          </a:xfrm>
          <a:prstGeom prst="roundRect">
            <a:avLst>
              <a:gd name="adj" fmla="val 488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2971800"/>
            <a:ext cx="3054096"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Hạn chế</a:t>
            </a:r>
          </a:p>
        </p:txBody>
      </p:sp>
      <p:sp>
        <p:nvSpPr>
          <p:cNvPr id="19" name="TextBox 18"/>
          <p:cNvSpPr txBox="1"/>
          <p:nvPr/>
        </p:nvSpPr>
        <p:spPr>
          <a:xfrm>
            <a:off x="8385048" y="3429000"/>
            <a:ext cx="3054096" cy="196596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Chỉ có số validation, không chạy test</a:t>
            </a:r>
          </a:p>
          <a:p>
            <a:pPr algn="l" marL="203200" indent="-203200">
              <a:spcAft>
                <a:spcPts val="600"/>
              </a:spcAft>
              <a:buChar char="•"/>
            </a:pPr>
            <a:r>
              <a:rPr sz="1600" b="0">
                <a:solidFill>
                  <a:srgbClr val="1F303A"/>
                </a:solidFill>
                <a:latin typeface="Arial"/>
              </a:rPr>
              <a:t>premature hay bị nhầm với mature</a:t>
            </a:r>
          </a:p>
          <a:p>
            <a:pPr algn="l" marL="203200" indent="-203200">
              <a:spcAft>
                <a:spcPts val="600"/>
              </a:spcAft>
              <a:buChar char="•"/>
            </a:pPr>
            <a:r>
              <a:rPr sz="1600" b="0">
                <a:solidFill>
                  <a:srgbClr val="1F303A"/>
                </a:solidFill>
                <a:latin typeface="Arial"/>
              </a:rPr>
              <a:t>Bài học: kiểm tra có GPU, tên run mới mỗi lần, exist_ok=False</a:t>
            </a:r>
          </a:p>
        </p:txBody>
      </p:sp>
      <p:sp>
        <p:nvSpPr>
          <p:cNvPr id="20" name="Rounded Rectangle 19"/>
          <p:cNvSpPr/>
          <p:nvPr/>
        </p:nvSpPr>
        <p:spPr>
          <a:xfrm>
            <a:off x="548640" y="5669280"/>
            <a:ext cx="11091672" cy="54864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60720"/>
            <a:ext cx="10634472" cy="365759"/>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File còn dùng làm baseline: backend/weights/fruit_yolov8s_7class.pt (PIPELINE_MODE=legacy)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TRIỂN KHAI</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Triển khai đầu tiên (20–24/09): từ Modal sang Cloud Run</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10</a:t>
            </a:r>
          </a:p>
        </p:txBody>
      </p:sp>
      <p:sp>
        <p:nvSpPr>
          <p:cNvPr id="5" name="Rounded Rectangle 4"/>
          <p:cNvSpPr/>
          <p:nvPr/>
        </p:nvSpPr>
        <p:spPr>
          <a:xfrm>
            <a:off x="548640" y="1371600"/>
            <a:ext cx="2553462" cy="1920240"/>
          </a:xfrm>
          <a:prstGeom prst="roundRect">
            <a:avLst>
              <a:gd name="adj" fmla="val 685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9961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Modal</a:t>
            </a:r>
          </a:p>
        </p:txBody>
      </p:sp>
      <p:sp>
        <p:nvSpPr>
          <p:cNvPr id="7" name="TextBox 6"/>
          <p:cNvSpPr txBox="1"/>
          <p:nvPr/>
        </p:nvSpPr>
        <p:spPr>
          <a:xfrm>
            <a:off x="658368" y="1874519"/>
            <a:ext cx="2334006" cy="137160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Lỗi "Token missing", rồi "spend limit": gói miễn phí giới hạn $0 khi chưa gắn thẻ</a:t>
            </a:r>
          </a:p>
        </p:txBody>
      </p:sp>
      <p:sp>
        <p:nvSpPr>
          <p:cNvPr id="8" name="Right Arrow 7"/>
          <p:cNvSpPr/>
          <p:nvPr/>
        </p:nvSpPr>
        <p:spPr>
          <a:xfrm>
            <a:off x="3147822" y="223113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94710" y="1371600"/>
            <a:ext cx="2553462" cy="1920240"/>
          </a:xfrm>
          <a:prstGeom prst="roundRect">
            <a:avLst>
              <a:gd name="adj" fmla="val 685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4438" y="149961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Tạm thời</a:t>
            </a:r>
          </a:p>
        </p:txBody>
      </p:sp>
      <p:sp>
        <p:nvSpPr>
          <p:cNvPr id="11" name="TextBox 10"/>
          <p:cNvSpPr txBox="1"/>
          <p:nvPr/>
        </p:nvSpPr>
        <p:spPr>
          <a:xfrm>
            <a:off x="3504438" y="1874519"/>
            <a:ext cx="2334006" cy="137160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Backend chạy trên laptop qua Cloudflare quick tunnel — chỉ sống khi laptop bật</a:t>
            </a:r>
          </a:p>
        </p:txBody>
      </p:sp>
      <p:sp>
        <p:nvSpPr>
          <p:cNvPr id="12" name="Right Arrow 11"/>
          <p:cNvSpPr/>
          <p:nvPr/>
        </p:nvSpPr>
        <p:spPr>
          <a:xfrm>
            <a:off x="5993892" y="223113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40780" y="1371600"/>
            <a:ext cx="2553462" cy="1920240"/>
          </a:xfrm>
          <a:prstGeom prst="roundRect">
            <a:avLst>
              <a:gd name="adj" fmla="val 685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508" y="149961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Cloud Run 24/09</a:t>
            </a:r>
          </a:p>
        </p:txBody>
      </p:sp>
      <p:sp>
        <p:nvSpPr>
          <p:cNvPr id="15" name="TextBox 14"/>
          <p:cNvSpPr txBox="1"/>
          <p:nvPr/>
        </p:nvSpPr>
        <p:spPr>
          <a:xfrm>
            <a:off x="6350508" y="1874519"/>
            <a:ext cx="2334006" cy="137160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asia-southeast1, CPU, scale-to-zero; mô hình 7 lớp</a:t>
            </a:r>
          </a:p>
        </p:txBody>
      </p:sp>
      <p:sp>
        <p:nvSpPr>
          <p:cNvPr id="16" name="Right Arrow 15"/>
          <p:cNvSpPr/>
          <p:nvPr/>
        </p:nvSpPr>
        <p:spPr>
          <a:xfrm>
            <a:off x="8839962" y="223113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86850" y="1371600"/>
            <a:ext cx="2553462" cy="1920240"/>
          </a:xfrm>
          <a:prstGeom prst="roundRect">
            <a:avLst>
              <a:gd name="adj" fmla="val 685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6578" y="149961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Kết quả</a:t>
            </a:r>
          </a:p>
        </p:txBody>
      </p:sp>
      <p:sp>
        <p:nvSpPr>
          <p:cNvPr id="19" name="TextBox 18"/>
          <p:cNvSpPr txBox="1"/>
          <p:nvPr/>
        </p:nvSpPr>
        <p:spPr>
          <a:xfrm>
            <a:off x="9196578" y="1874519"/>
            <a:ext cx="2334006" cy="137160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/health và /detect chạy; ~7,6 giây/ảnh; revision fruit-detection-00001-z2h</a:t>
            </a:r>
          </a:p>
        </p:txBody>
      </p:sp>
      <p:sp>
        <p:nvSpPr>
          <p:cNvPr id="20" name="Rounded Rectangle 19"/>
          <p:cNvSpPr/>
          <p:nvPr/>
        </p:nvSpPr>
        <p:spPr>
          <a:xfrm>
            <a:off x="548640" y="3611880"/>
            <a:ext cx="5486400" cy="2103120"/>
          </a:xfrm>
          <a:prstGeom prst="roundRect">
            <a:avLst>
              <a:gd name="adj" fmla="val 626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3794760"/>
            <a:ext cx="508406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Hai lỗi khi deploy Cloud Run</a:t>
            </a:r>
          </a:p>
        </p:txBody>
      </p:sp>
      <p:sp>
        <p:nvSpPr>
          <p:cNvPr id="22" name="TextBox 21"/>
          <p:cNvSpPr txBox="1"/>
          <p:nvPr/>
        </p:nvSpPr>
        <p:spPr>
          <a:xfrm>
            <a:off x="749808" y="4251960"/>
            <a:ext cx="5084064" cy="137159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Service account của Cloud Build không đọc được source → cấp role Cloud Run Builder</a:t>
            </a:r>
          </a:p>
          <a:p>
            <a:pPr algn="l" marL="203200" indent="-203200">
              <a:spcAft>
                <a:spcPts val="600"/>
              </a:spcAft>
              <a:buChar char="•"/>
            </a:pPr>
            <a:r>
              <a:rPr sz="1600" b="0">
                <a:solidFill>
                  <a:srgbClr val="1F303A"/>
                </a:solidFill>
                <a:latin typeface="Arial"/>
              </a:rPr>
              <a:t>Chính sách tổ chức chặn truy cập công khai → --no-invoker-iam-check</a:t>
            </a:r>
          </a:p>
        </p:txBody>
      </p:sp>
      <p:sp>
        <p:nvSpPr>
          <p:cNvPr id="23" name="Rounded Rectangle 22"/>
          <p:cNvSpPr/>
          <p:nvPr/>
        </p:nvSpPr>
        <p:spPr>
          <a:xfrm>
            <a:off x="6245352" y="3611880"/>
            <a:ext cx="5394960" cy="2103120"/>
          </a:xfrm>
          <a:prstGeom prst="roundRect">
            <a:avLst>
              <a:gd name="adj" fmla="val 626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794760"/>
            <a:ext cx="499262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Vì sao quan trọng</a:t>
            </a:r>
          </a:p>
        </p:txBody>
      </p:sp>
      <p:sp>
        <p:nvSpPr>
          <p:cNvPr id="25" name="TextBox 24"/>
          <p:cNvSpPr txBox="1"/>
          <p:nvPr/>
        </p:nvSpPr>
        <p:spPr>
          <a:xfrm>
            <a:off x="6446520" y="4251960"/>
            <a:ext cx="4992624" cy="137159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Có bản chạy thật trên web giúp nhóm thử ảnh thật ngay. Chính lần thử này ngày 24/09 cho thấy mô hình 7 lớp không dùng được trên ảnh cả cây.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PHÂN TÍCH LỖI</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24/09: thử ảnh thật — "kết quả rất tệ"</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11</a:t>
            </a:r>
          </a:p>
        </p:txBody>
      </p:sp>
      <p:graphicFrame>
        <p:nvGraphicFramePr>
          <p:cNvPr id="5" name="Table 4"/>
          <p:cNvGraphicFramePr>
            <a:graphicFrameLocks noGrp="1"/>
          </p:cNvGraphicFramePr>
          <p:nvPr/>
        </p:nvGraphicFramePr>
        <p:xfrm>
          <a:off x="548640" y="1280160"/>
          <a:ext cx="5760719" cy="2834640"/>
        </p:xfrm>
        <a:graphic>
          <a:graphicData uri="http://schemas.openxmlformats.org/drawingml/2006/table">
            <a:tbl>
              <a:tblPr firstRow="1" bandRow="1">
                <a:tableStyleId>{5C22544A-7EE6-4342-B048-85BDC9FD1C3A}</a:tableStyleId>
              </a:tblPr>
              <a:tblGrid>
                <a:gridCol w="2743199"/>
                <a:gridCol w="1005840"/>
                <a:gridCol w="1005840"/>
                <a:gridCol w="1005840"/>
              </a:tblGrid>
              <a:tr h="566928">
                <a:tc>
                  <a:txBody>
                    <a:bodyPr wrap="square"/>
                    <a:lstStyle/>
                    <a:p>
                      <a:r>
                        <a:rPr sz="1400" b="1">
                          <a:solidFill>
                            <a:srgbClr val="FFFFFF"/>
                          </a:solidFill>
                          <a:latin typeface="Arial"/>
                        </a:rPr>
                        <a:t>Ảnh thử (mô hình 7 lớp)</a:t>
                      </a:r>
                    </a:p>
                  </a:txBody>
                  <a:tcPr marL="64008" marR="64008" marT="32004" marB="32004" anchor="ctr">
                    <a:solidFill>
                      <a:srgbClr val="0F2331"/>
                    </a:solidFill>
                  </a:tcPr>
                </a:tc>
                <a:tc>
                  <a:txBody>
                    <a:bodyPr wrap="square"/>
                    <a:lstStyle/>
                    <a:p>
                      <a:r>
                        <a:rPr sz="1400" b="1">
                          <a:solidFill>
                            <a:srgbClr val="FFFFFF"/>
                          </a:solidFill>
                          <a:latin typeface="Arial"/>
                        </a:rPr>
                        <a:t>conf 0,25</a:t>
                      </a:r>
                    </a:p>
                  </a:txBody>
                  <a:tcPr marL="64008" marR="64008" marT="32004" marB="32004" anchor="ctr">
                    <a:solidFill>
                      <a:srgbClr val="0F2331"/>
                    </a:solidFill>
                  </a:tcPr>
                </a:tc>
                <a:tc>
                  <a:txBody>
                    <a:bodyPr wrap="square"/>
                    <a:lstStyle/>
                    <a:p>
                      <a:r>
                        <a:rPr sz="1400" b="1">
                          <a:solidFill>
                            <a:srgbClr val="FFFFFF"/>
                          </a:solidFill>
                          <a:latin typeface="Arial"/>
                        </a:rPr>
                        <a:t>conf 0,80</a:t>
                      </a:r>
                    </a:p>
                  </a:txBody>
                  <a:tcPr marL="64008" marR="64008" marT="32004" marB="32004" anchor="ctr">
                    <a:solidFill>
                      <a:srgbClr val="0F2331"/>
                    </a:solidFill>
                  </a:tcPr>
                </a:tc>
                <a:tc>
                  <a:txBody>
                    <a:bodyPr wrap="square"/>
                    <a:lstStyle/>
                    <a:p>
                      <a:r>
                        <a:rPr sz="1400" b="1">
                          <a:solidFill>
                            <a:srgbClr val="FFFFFF"/>
                          </a:solidFill>
                          <a:latin typeface="Arial"/>
                        </a:rPr>
                        <a:t>conf 0,90</a:t>
                      </a:r>
                    </a:p>
                  </a:txBody>
                  <a:tcPr marL="64008" marR="64008" marT="32004" marB="32004" anchor="ctr">
                    <a:solidFill>
                      <a:srgbClr val="0F2331"/>
                    </a:solidFill>
                  </a:tcPr>
                </a:tc>
              </a:tr>
              <a:tr h="566928">
                <a:tc>
                  <a:txBody>
                    <a:bodyPr wrap="square"/>
                    <a:lstStyle/>
                    <a:p>
                      <a:r>
                        <a:rPr sz="1400" b="1">
                          <a:solidFill>
                            <a:srgbClr val="1F303A"/>
                          </a:solidFill>
                          <a:latin typeface="Arial"/>
                        </a:rPr>
                        <a:t>Thanh long cận cảnh</a:t>
                      </a:r>
                    </a:p>
                  </a:txBody>
                  <a:tcPr marL="64008" marR="64008" marT="32004" marB="32004" anchor="ctr">
                    <a:solidFill>
                      <a:srgbClr val="FFFFFF"/>
                    </a:solidFill>
                  </a:tcPr>
                </a:tc>
                <a:tc>
                  <a:txBody>
                    <a:bodyPr wrap="square"/>
                    <a:lstStyle/>
                    <a:p>
                      <a:r>
                        <a:rPr sz="1400" b="0">
                          <a:solidFill>
                            <a:srgbClr val="1F303A"/>
                          </a:solidFill>
                          <a:latin typeface="Arial"/>
                        </a:rPr>
                        <a:t>3</a:t>
                      </a:r>
                    </a:p>
                  </a:txBody>
                  <a:tcPr marL="64008" marR="64008" marT="32004" marB="32004" anchor="ctr">
                    <a:solidFill>
                      <a:srgbClr val="FFFFFF"/>
                    </a:solidFill>
                  </a:tcPr>
                </a:tc>
                <a:tc>
                  <a:txBody>
                    <a:bodyPr wrap="square"/>
                    <a:lstStyle/>
                    <a:p>
                      <a:r>
                        <a:rPr sz="1400" b="0">
                          <a:solidFill>
                            <a:srgbClr val="1F303A"/>
                          </a:solidFill>
                          <a:latin typeface="Arial"/>
                        </a:rPr>
                        <a:t>2</a:t>
                      </a:r>
                    </a:p>
                  </a:txBody>
                  <a:tcPr marL="64008" marR="64008" marT="32004" marB="32004" anchor="ctr">
                    <a:solidFill>
                      <a:srgbClr val="FFFFFF"/>
                    </a:solidFill>
                  </a:tcPr>
                </a:tc>
                <a:tc>
                  <a:txBody>
                    <a:bodyPr wrap="square"/>
                    <a:lstStyle/>
                    <a:p>
                      <a:r>
                        <a:rPr sz="1400" b="0">
                          <a:solidFill>
                            <a:srgbClr val="1F303A"/>
                          </a:solidFill>
                          <a:latin typeface="Arial"/>
                        </a:rPr>
                        <a:t>1</a:t>
                      </a:r>
                    </a:p>
                  </a:txBody>
                  <a:tcPr marL="64008" marR="64008" marT="32004" marB="32004" anchor="ctr">
                    <a:solidFill>
                      <a:srgbClr val="FFFFFF"/>
                    </a:solidFill>
                  </a:tcPr>
                </a:tc>
              </a:tr>
              <a:tr h="566928">
                <a:tc>
                  <a:txBody>
                    <a:bodyPr wrap="square"/>
                    <a:lstStyle/>
                    <a:p>
                      <a:r>
                        <a:rPr sz="1400" b="1">
                          <a:solidFill>
                            <a:srgbClr val="1F303A"/>
                          </a:solidFill>
                          <a:latin typeface="Arial"/>
                        </a:rPr>
                        <a:t>Cả cây thanh long</a:t>
                      </a:r>
                    </a:p>
                  </a:txBody>
                  <a:tcPr marL="64008" marR="64008" marT="32004" marB="32004" anchor="ctr">
                    <a:solidFill>
                      <a:srgbClr val="F8FBFA"/>
                    </a:solidFill>
                  </a:tcPr>
                </a:tc>
                <a:tc>
                  <a:txBody>
                    <a:bodyPr wrap="square"/>
                    <a:lstStyle/>
                    <a:p>
                      <a:r>
                        <a:rPr sz="1400" b="0">
                          <a:solidFill>
                            <a:srgbClr val="1F303A"/>
                          </a:solidFill>
                          <a:latin typeface="Arial"/>
                        </a:rPr>
                        <a:t>0</a:t>
                      </a:r>
                    </a:p>
                  </a:txBody>
                  <a:tcPr marL="64008" marR="64008" marT="32004" marB="32004" anchor="ctr">
                    <a:solidFill>
                      <a:srgbClr val="F8FBFA"/>
                    </a:solidFill>
                  </a:tcPr>
                </a:tc>
                <a:tc>
                  <a:txBody>
                    <a:bodyPr wrap="square"/>
                    <a:lstStyle/>
                    <a:p>
                      <a:r>
                        <a:rPr sz="1400" b="0">
                          <a:solidFill>
                            <a:srgbClr val="1F303A"/>
                          </a:solidFill>
                          <a:latin typeface="Arial"/>
                        </a:rPr>
                        <a:t>0</a:t>
                      </a:r>
                    </a:p>
                  </a:txBody>
                  <a:tcPr marL="64008" marR="64008" marT="32004" marB="32004" anchor="ctr">
                    <a:solidFill>
                      <a:srgbClr val="F8FBFA"/>
                    </a:solidFill>
                  </a:tcPr>
                </a:tc>
                <a:tc>
                  <a:txBody>
                    <a:bodyPr wrap="square"/>
                    <a:lstStyle/>
                    <a:p>
                      <a:r>
                        <a:rPr sz="1400" b="0">
                          <a:solidFill>
                            <a:srgbClr val="1F303A"/>
                          </a:solidFill>
                          <a:latin typeface="Arial"/>
                        </a:rPr>
                        <a:t>0</a:t>
                      </a:r>
                    </a:p>
                  </a:txBody>
                  <a:tcPr marL="64008" marR="64008" marT="32004" marB="32004" anchor="ctr">
                    <a:solidFill>
                      <a:srgbClr val="F8FBFA"/>
                    </a:solidFill>
                  </a:tcPr>
                </a:tc>
              </a:tr>
              <a:tr h="566928">
                <a:tc>
                  <a:txBody>
                    <a:bodyPr wrap="square"/>
                    <a:lstStyle/>
                    <a:p>
                      <a:r>
                        <a:rPr sz="1400" b="1">
                          <a:solidFill>
                            <a:srgbClr val="1F303A"/>
                          </a:solidFill>
                          <a:latin typeface="Arial"/>
                        </a:rPr>
                        <a:t>Cây xoài (hàng chục quả)</a:t>
                      </a:r>
                    </a:p>
                  </a:txBody>
                  <a:tcPr marL="64008" marR="64008" marT="32004" marB="32004" anchor="ctr">
                    <a:solidFill>
                      <a:srgbClr val="FFFFFF"/>
                    </a:solidFill>
                  </a:tcPr>
                </a:tc>
                <a:tc>
                  <a:txBody>
                    <a:bodyPr wrap="square"/>
                    <a:lstStyle/>
                    <a:p>
                      <a:r>
                        <a:rPr sz="1400" b="0">
                          <a:solidFill>
                            <a:srgbClr val="1F303A"/>
                          </a:solidFill>
                          <a:latin typeface="Arial"/>
                        </a:rPr>
                        <a:t>7</a:t>
                      </a:r>
                    </a:p>
                  </a:txBody>
                  <a:tcPr marL="64008" marR="64008" marT="32004" marB="32004" anchor="ctr">
                    <a:solidFill>
                      <a:srgbClr val="FFFFFF"/>
                    </a:solidFill>
                  </a:tcPr>
                </a:tc>
                <a:tc>
                  <a:txBody>
                    <a:bodyPr wrap="square"/>
                    <a:lstStyle/>
                    <a:p>
                      <a:r>
                        <a:rPr sz="1400" b="0">
                          <a:solidFill>
                            <a:srgbClr val="1F303A"/>
                          </a:solidFill>
                          <a:latin typeface="Arial"/>
                        </a:rPr>
                        <a:t>0</a:t>
                      </a:r>
                    </a:p>
                  </a:txBody>
                  <a:tcPr marL="64008" marR="64008" marT="32004" marB="32004" anchor="ctr">
                    <a:solidFill>
                      <a:srgbClr val="FFFFFF"/>
                    </a:solidFill>
                  </a:tcPr>
                </a:tc>
                <a:tc>
                  <a:txBody>
                    <a:bodyPr wrap="square"/>
                    <a:lstStyle/>
                    <a:p>
                      <a:r>
                        <a:rPr sz="1400" b="0">
                          <a:solidFill>
                            <a:srgbClr val="1F303A"/>
                          </a:solidFill>
                          <a:latin typeface="Arial"/>
                        </a:rPr>
                        <a:t>0</a:t>
                      </a:r>
                    </a:p>
                  </a:txBody>
                  <a:tcPr marL="64008" marR="64008" marT="32004" marB="32004" anchor="ctr">
                    <a:solidFill>
                      <a:srgbClr val="FFFFFF"/>
                    </a:solidFill>
                  </a:tcPr>
                </a:tc>
              </a:tr>
              <a:tr h="566928">
                <a:tc>
                  <a:txBody>
                    <a:bodyPr wrap="square"/>
                    <a:lstStyle/>
                    <a:p>
                      <a:r>
                        <a:rPr sz="1400" b="1">
                          <a:solidFill>
                            <a:srgbClr val="1F303A"/>
                          </a:solidFill>
                          <a:latin typeface="Arial"/>
                        </a:rPr>
                        <a:t>Xoài chín</a:t>
                      </a:r>
                    </a:p>
                  </a:txBody>
                  <a:tcPr marL="64008" marR="64008" marT="32004" marB="32004" anchor="ctr">
                    <a:solidFill>
                      <a:srgbClr val="F8FBFA"/>
                    </a:solidFill>
                  </a:tcPr>
                </a:tc>
                <a:tc>
                  <a:txBody>
                    <a:bodyPr wrap="square"/>
                    <a:lstStyle/>
                    <a:p>
                      <a:r>
                        <a:rPr sz="1400" b="0">
                          <a:solidFill>
                            <a:srgbClr val="1F303A"/>
                          </a:solidFill>
                          <a:latin typeface="Arial"/>
                        </a:rPr>
                        <a:t>2 (gọi là mature)</a:t>
                      </a:r>
                    </a:p>
                  </a:txBody>
                  <a:tcPr marL="64008" marR="64008" marT="32004" marB="32004" anchor="ctr">
                    <a:solidFill>
                      <a:srgbClr val="F8FBFA"/>
                    </a:solidFill>
                  </a:tcPr>
                </a:tc>
                <a:tc>
                  <a:txBody>
                    <a:bodyPr wrap="square"/>
                    <a:lstStyle/>
                    <a:p>
                      <a:r>
                        <a:rPr sz="1400" b="0">
                          <a:solidFill>
                            <a:srgbClr val="1F303A"/>
                          </a:solidFill>
                          <a:latin typeface="Arial"/>
                        </a:rPr>
                        <a:t>0</a:t>
                      </a:r>
                    </a:p>
                  </a:txBody>
                  <a:tcPr marL="64008" marR="64008" marT="32004" marB="32004" anchor="ctr">
                    <a:solidFill>
                      <a:srgbClr val="F8FBFA"/>
                    </a:solidFill>
                  </a:tcPr>
                </a:tc>
                <a:tc>
                  <a:txBody>
                    <a:bodyPr wrap="square"/>
                    <a:lstStyle/>
                    <a:p>
                      <a:r>
                        <a:rPr sz="1400" b="0">
                          <a:solidFill>
                            <a:srgbClr val="1F303A"/>
                          </a:solidFill>
                          <a:latin typeface="Arial"/>
                        </a:rPr>
                        <a:t>0</a:t>
                      </a:r>
                    </a:p>
                  </a:txBody>
                  <a:tcPr marL="64008" marR="64008" marT="32004" marB="32004" anchor="ctr">
                    <a:solidFill>
                      <a:srgbClr val="F8FBFA"/>
                    </a:solidFill>
                  </a:tcPr>
                </a:tc>
              </a:tr>
            </a:tbl>
          </a:graphicData>
        </a:graphic>
      </p:graphicFrame>
      <p:sp>
        <p:nvSpPr>
          <p:cNvPr id="6" name="TextBox 5"/>
          <p:cNvSpPr txBox="1"/>
          <p:nvPr/>
        </p:nvSpPr>
        <p:spPr>
          <a:xfrm>
            <a:off x="548640" y="4206240"/>
            <a:ext cx="5760720" cy="27432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Số box tìm được ở từng ngưỡng confidence</a:t>
            </a:r>
          </a:p>
        </p:txBody>
      </p:sp>
      <p:sp>
        <p:nvSpPr>
          <p:cNvPr id="7" name="Rounded Rectangle 6"/>
          <p:cNvSpPr/>
          <p:nvPr/>
        </p:nvSpPr>
        <p:spPr>
          <a:xfrm>
            <a:off x="6537960" y="1280160"/>
            <a:ext cx="5102352" cy="4023360"/>
          </a:xfrm>
          <a:prstGeom prst="roundRect">
            <a:avLst>
              <a:gd name="adj" fmla="val 327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39128" y="1463039"/>
            <a:ext cx="4700016"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Ba nguyên nhân tìm được</a:t>
            </a:r>
          </a:p>
        </p:txBody>
      </p:sp>
      <p:sp>
        <p:nvSpPr>
          <p:cNvPr id="9" name="TextBox 8"/>
          <p:cNvSpPr txBox="1"/>
          <p:nvPr/>
        </p:nvSpPr>
        <p:spPr>
          <a:xfrm>
            <a:off x="6739128" y="1920239"/>
            <a:ext cx="4700016" cy="3291840"/>
          </a:xfrm>
          <a:prstGeom prst="rect">
            <a:avLst/>
          </a:prstGeom>
          <a:noFill/>
        </p:spPr>
        <p:txBody>
          <a:bodyPr wrap="square" lIns="0" rIns="0" tIns="0" bIns="0" anchor="t">
            <a:spAutoFit/>
          </a:bodyPr>
          <a:lstStyle/>
          <a:p>
            <a:pPr algn="l" marL="203200" indent="-203200">
              <a:spcAft>
                <a:spcPts val="600"/>
              </a:spcAft>
              <a:buChar char="•"/>
            </a:pPr>
            <a:r>
              <a:rPr sz="1600" b="1">
                <a:solidFill>
                  <a:srgbClr val="1F303A"/>
                </a:solidFill>
                <a:latin typeface="Arial"/>
              </a:rPr>
              <a:t>Lệch miền:</a:t>
            </a:r>
            <a:r>
              <a:rPr sz="1600" b="0">
                <a:solidFill>
                  <a:srgbClr val="1F303A"/>
                </a:solidFill>
                <a:latin typeface="Arial"/>
              </a:rPr>
              <a:t> dữ liệu là ảnh cận cảnh 640 px; trên ảnh cả cây mỗi quả chỉ 10–25 px</a:t>
            </a:r>
          </a:p>
          <a:p>
            <a:pPr algn="l" marL="203200" indent="-203200">
              <a:spcAft>
                <a:spcPts val="600"/>
              </a:spcAft>
              <a:buChar char="•"/>
            </a:pPr>
            <a:r>
              <a:rPr sz="1600" b="1">
                <a:solidFill>
                  <a:srgbClr val="1F303A"/>
                </a:solidFill>
                <a:latin typeface="Arial"/>
              </a:rPr>
              <a:t>Confidence chưa hiệu chỉnh:</a:t>
            </a:r>
            <a:r>
              <a:rPr sz="1600" b="0">
                <a:solidFill>
                  <a:srgbClr val="1F303A"/>
                </a:solidFill>
                <a:latin typeface="Arial"/>
              </a:rPr>
              <a:t> F1 tốt nhất ở ngưỡng ~0,42, nên đòi 80–90% là mất gần hết box</a:t>
            </a:r>
          </a:p>
          <a:p>
            <a:pPr algn="l" marL="203200" indent="-203200">
              <a:spcAft>
                <a:spcPts val="600"/>
              </a:spcAft>
              <a:buChar char="•"/>
            </a:pPr>
            <a:r>
              <a:rPr sz="1600" b="1">
                <a:solidFill>
                  <a:srgbClr val="1F303A"/>
                </a:solidFill>
                <a:latin typeface="Arial"/>
              </a:rPr>
              <a:t>Một mô hình làm hai việc:</a:t>
            </a:r>
            <a:r>
              <a:rPr sz="1600" b="0">
                <a:solidFill>
                  <a:srgbClr val="1F303A"/>
                </a:solidFill>
                <a:latin typeface="Arial"/>
              </a:rPr>
              <a:t> vừa tìm quả vừa phân 7 mức chín; độ chính xác theo mức chỉ ~56% (premature), ~67% (mature), ~84% (ripe)</a:t>
            </a:r>
          </a:p>
        </p:txBody>
      </p:sp>
      <p:sp>
        <p:nvSpPr>
          <p:cNvPr id="10" name="Rounded Rectangle 9"/>
          <p:cNvSpPr/>
          <p:nvPr/>
        </p:nvSpPr>
        <p:spPr>
          <a:xfrm>
            <a:off x="548640" y="5532120"/>
            <a:ext cx="11091672" cy="54864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623559"/>
            <a:ext cx="10634472" cy="365759"/>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Quyết định: tách việc tìm quả và việc đánh giá độ chín thành hai mô hình riêng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KIẾN TRÚC</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Thiết kế mới: pipeline hai giai đoạn (commit f2c43ab, 24/09)</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12</a:t>
            </a:r>
          </a:p>
        </p:txBody>
      </p:sp>
      <p:sp>
        <p:nvSpPr>
          <p:cNvPr id="5" name="Rounded Rectangle 4"/>
          <p:cNvSpPr/>
          <p:nvPr/>
        </p:nvSpPr>
        <p:spPr>
          <a:xfrm>
            <a:off x="548640" y="1325880"/>
            <a:ext cx="1984248" cy="2057400"/>
          </a:xfrm>
          <a:prstGeom prst="roundRect">
            <a:avLst>
              <a:gd name="adj" fmla="val 64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53895"/>
            <a:ext cx="1764792"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Ảnh vào</a:t>
            </a:r>
          </a:p>
        </p:txBody>
      </p:sp>
      <p:sp>
        <p:nvSpPr>
          <p:cNvPr id="7" name="TextBox 6"/>
          <p:cNvSpPr txBox="1"/>
          <p:nvPr/>
        </p:nvSpPr>
        <p:spPr>
          <a:xfrm>
            <a:off x="658368" y="1828800"/>
            <a:ext cx="1764792" cy="150876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Ảnh vườn, xoay đúng EXIF, RGB</a:t>
            </a:r>
          </a:p>
        </p:txBody>
      </p:sp>
      <p:sp>
        <p:nvSpPr>
          <p:cNvPr id="8" name="Right Arrow 7"/>
          <p:cNvSpPr/>
          <p:nvPr/>
        </p:nvSpPr>
        <p:spPr>
          <a:xfrm>
            <a:off x="2578608" y="225399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25496" y="1325880"/>
            <a:ext cx="1984248" cy="2057400"/>
          </a:xfrm>
          <a:prstGeom prst="roundRect">
            <a:avLst>
              <a:gd name="adj" fmla="val 64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453895"/>
            <a:ext cx="1764792"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Detector</a:t>
            </a:r>
          </a:p>
        </p:txBody>
      </p:sp>
      <p:sp>
        <p:nvSpPr>
          <p:cNvPr id="11" name="TextBox 10"/>
          <p:cNvSpPr txBox="1"/>
          <p:nvPr/>
        </p:nvSpPr>
        <p:spPr>
          <a:xfrm>
            <a:off x="2935224" y="1828800"/>
            <a:ext cx="1764792" cy="150876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YOLOv8s 2 lớp: mango / dragonfruit; conf thấp 0,25 để không mất quả nhỏ</a:t>
            </a:r>
          </a:p>
        </p:txBody>
      </p:sp>
      <p:sp>
        <p:nvSpPr>
          <p:cNvPr id="12" name="Right Arrow 11"/>
          <p:cNvSpPr/>
          <p:nvPr/>
        </p:nvSpPr>
        <p:spPr>
          <a:xfrm>
            <a:off x="4855464" y="225399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02352" y="1325880"/>
            <a:ext cx="1984248" cy="2057400"/>
          </a:xfrm>
          <a:prstGeom prst="roundRect">
            <a:avLst>
              <a:gd name="adj" fmla="val 64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453895"/>
            <a:ext cx="1764792"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Cắt quả</a:t>
            </a:r>
          </a:p>
        </p:txBody>
      </p:sp>
      <p:sp>
        <p:nvSpPr>
          <p:cNvPr id="15" name="TextBox 14"/>
          <p:cNvSpPr txBox="1"/>
          <p:nvPr/>
        </p:nvSpPr>
        <p:spPr>
          <a:xfrm>
            <a:off x="5212080" y="1828800"/>
            <a:ext cx="1764792" cy="150876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Nới box 10%; crop &lt; 64 px → uncertain</a:t>
            </a:r>
          </a:p>
        </p:txBody>
      </p:sp>
      <p:sp>
        <p:nvSpPr>
          <p:cNvPr id="16" name="Right Arrow 15"/>
          <p:cNvSpPr/>
          <p:nvPr/>
        </p:nvSpPr>
        <p:spPr>
          <a:xfrm>
            <a:off x="7132320" y="225399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79208" y="1325880"/>
            <a:ext cx="1984248" cy="2057400"/>
          </a:xfrm>
          <a:prstGeom prst="roundRect">
            <a:avLst>
              <a:gd name="adj" fmla="val 64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8936" y="1453895"/>
            <a:ext cx="1764792"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Classifier</a:t>
            </a:r>
          </a:p>
        </p:txBody>
      </p:sp>
      <p:sp>
        <p:nvSpPr>
          <p:cNvPr id="19" name="TextBox 18"/>
          <p:cNvSpPr txBox="1"/>
          <p:nvPr/>
        </p:nvSpPr>
        <p:spPr>
          <a:xfrm>
            <a:off x="7488936" y="1828800"/>
            <a:ext cx="1764792" cy="150876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YOLOv8s-cls riêng cho xoài (4 mức) và thanh long (3 mức)</a:t>
            </a:r>
          </a:p>
        </p:txBody>
      </p:sp>
      <p:sp>
        <p:nvSpPr>
          <p:cNvPr id="20" name="Right Arrow 19"/>
          <p:cNvSpPr/>
          <p:nvPr/>
        </p:nvSpPr>
        <p:spPr>
          <a:xfrm>
            <a:off x="9409176" y="225399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656064" y="1325880"/>
            <a:ext cx="1984248" cy="2057400"/>
          </a:xfrm>
          <a:prstGeom prst="roundRect">
            <a:avLst>
              <a:gd name="adj" fmla="val 64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65792" y="1453895"/>
            <a:ext cx="1764792"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Hiệu chỉnh</a:t>
            </a:r>
          </a:p>
        </p:txBody>
      </p:sp>
      <p:sp>
        <p:nvSpPr>
          <p:cNvPr id="23" name="TextBox 22"/>
          <p:cNvSpPr txBox="1"/>
          <p:nvPr/>
        </p:nvSpPr>
        <p:spPr>
          <a:xfrm>
            <a:off x="9765792" y="1828800"/>
            <a:ext cx="1764792" cy="150876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Temperature scaling + ngưỡng riêng từng lớp → nhãn hoặc *_uncertain</a:t>
            </a:r>
          </a:p>
        </p:txBody>
      </p:sp>
      <p:sp>
        <p:nvSpPr>
          <p:cNvPr id="24" name="Rounded Rectangle 23"/>
          <p:cNvSpPr/>
          <p:nvPr/>
        </p:nvSpPr>
        <p:spPr>
          <a:xfrm>
            <a:off x="548640" y="3657600"/>
            <a:ext cx="356616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3840480"/>
            <a:ext cx="316382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Lợi ích</a:t>
            </a:r>
          </a:p>
        </p:txBody>
      </p:sp>
      <p:sp>
        <p:nvSpPr>
          <p:cNvPr id="26" name="TextBox 25"/>
          <p:cNvSpPr txBox="1"/>
          <p:nvPr/>
        </p:nvSpPr>
        <p:spPr>
          <a:xfrm>
            <a:off x="749808" y="4297680"/>
            <a:ext cx="3163824" cy="14173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Mỗi bước có chỉ số riêng: detector đo precision/recall/mAP; classifier đo accuracy trên crop.</a:t>
            </a:r>
          </a:p>
        </p:txBody>
      </p:sp>
      <p:sp>
        <p:nvSpPr>
          <p:cNvPr id="27" name="Rounded Rectangle 26"/>
          <p:cNvSpPr/>
          <p:nvPr/>
        </p:nvSpPr>
        <p:spPr>
          <a:xfrm>
            <a:off x="4315968" y="3657600"/>
            <a:ext cx="356616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17136" y="3840480"/>
            <a:ext cx="316382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Dữ liệu dùng được nhiều hơn</a:t>
            </a:r>
          </a:p>
        </p:txBody>
      </p:sp>
      <p:sp>
        <p:nvSpPr>
          <p:cNvPr id="29" name="TextBox 28"/>
          <p:cNvSpPr txBox="1"/>
          <p:nvPr/>
        </p:nvSpPr>
        <p:spPr>
          <a:xfrm>
            <a:off x="4517136" y="4297680"/>
            <a:ext cx="3163824" cy="14173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Bộ chỉ có box (MangoYOLO) vẫn dùng cho detector; bộ chỉ có nhãn ảnh (Black_Rot) dùng cho classifier.</a:t>
            </a:r>
          </a:p>
        </p:txBody>
      </p:sp>
      <p:sp>
        <p:nvSpPr>
          <p:cNvPr id="30" name="Rounded Rectangle 29"/>
          <p:cNvSpPr/>
          <p:nvPr/>
        </p:nvSpPr>
        <p:spPr>
          <a:xfrm>
            <a:off x="8083296" y="3657600"/>
            <a:ext cx="3557016"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4464" y="3840480"/>
            <a:ext cx="3154680"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Trả lời trung thực</a:t>
            </a:r>
          </a:p>
        </p:txBody>
      </p:sp>
      <p:sp>
        <p:nvSpPr>
          <p:cNvPr id="32" name="TextBox 31"/>
          <p:cNvSpPr txBox="1"/>
          <p:nvPr/>
        </p:nvSpPr>
        <p:spPr>
          <a:xfrm>
            <a:off x="8284464" y="4297680"/>
            <a:ext cx="3154680" cy="14173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Detector giữ quả ở ngưỡng thấp để đếm; độ chín chỉ hiện khi xác suất hiệu chỉnh đủ cao.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2</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Vòng 2 (24–27/09): hai giai đoạn trên Colab — thất bại</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13</a:t>
            </a:r>
          </a:p>
        </p:txBody>
      </p:sp>
      <p:sp>
        <p:nvSpPr>
          <p:cNvPr id="5" name="Rounded Rectangle 4"/>
          <p:cNvSpPr/>
          <p:nvPr/>
        </p:nvSpPr>
        <p:spPr>
          <a:xfrm>
            <a:off x="548640" y="1280160"/>
            <a:ext cx="3566160" cy="4069080"/>
          </a:xfrm>
          <a:prstGeom prst="roundRect">
            <a:avLst>
              <a:gd name="adj" fmla="val 323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316382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Đã chạy</a:t>
            </a:r>
          </a:p>
        </p:txBody>
      </p:sp>
      <p:sp>
        <p:nvSpPr>
          <p:cNvPr id="7" name="TextBox 6"/>
          <p:cNvSpPr txBox="1"/>
          <p:nvPr/>
        </p:nvSpPr>
        <p:spPr>
          <a:xfrm>
            <a:off x="749808" y="1920239"/>
            <a:ext cx="3163824" cy="333756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Detector (bước 6A) và classifier xoài (6B) chạy xong</a:t>
            </a:r>
          </a:p>
          <a:p>
            <a:pPr algn="l" marL="203200" indent="-203200">
              <a:spcAft>
                <a:spcPts val="600"/>
              </a:spcAft>
              <a:buChar char="•"/>
            </a:pPr>
            <a:r>
              <a:rPr sz="1600" b="0">
                <a:solidFill>
                  <a:srgbClr val="1F303A"/>
                </a:solidFill>
                <a:latin typeface="Arial"/>
              </a:rPr>
              <a:t>Classifier thanh long (6C) lỗi</a:t>
            </a:r>
          </a:p>
          <a:p>
            <a:pPr algn="l" marL="203200" indent="-203200">
              <a:spcAft>
                <a:spcPts val="600"/>
              </a:spcAft>
              <a:buChar char="•"/>
            </a:pPr>
            <a:r>
              <a:rPr sz="1600" b="0">
                <a:solidFill>
                  <a:srgbClr val="1F303A"/>
                </a:solidFill>
                <a:latin typeface="Arial"/>
              </a:rPr>
              <a:t>Dữ liệu mới: MangoYOLO, CQU on-tree, Mendeley thanh long; loại 630/2.127 ảnh thanh long trùng byte</a:t>
            </a:r>
          </a:p>
        </p:txBody>
      </p:sp>
      <p:sp>
        <p:nvSpPr>
          <p:cNvPr id="8" name="Rounded Rectangle 7"/>
          <p:cNvSpPr/>
          <p:nvPr/>
        </p:nvSpPr>
        <p:spPr>
          <a:xfrm>
            <a:off x="4315968" y="1280160"/>
            <a:ext cx="3566160" cy="4069080"/>
          </a:xfrm>
          <a:prstGeom prst="roundRect">
            <a:avLst>
              <a:gd name="adj" fmla="val 323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463039"/>
            <a:ext cx="316382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Sự cố</a:t>
            </a:r>
          </a:p>
        </p:txBody>
      </p:sp>
      <p:sp>
        <p:nvSpPr>
          <p:cNvPr id="10" name="TextBox 9"/>
          <p:cNvSpPr txBox="1"/>
          <p:nvPr/>
        </p:nvSpPr>
        <p:spPr>
          <a:xfrm>
            <a:off x="4517136" y="1920239"/>
            <a:ext cx="3163824" cy="333756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Resume lỗi: Ultralytics đánh dấu run xong bằng epoch = −1 → sửa ở commit 237fd8f</a:t>
            </a:r>
          </a:p>
          <a:p>
            <a:pPr algn="l" marL="203200" indent="-203200">
              <a:spcAft>
                <a:spcPts val="600"/>
              </a:spcAft>
              <a:buChar char="•"/>
            </a:pPr>
            <a:r>
              <a:rPr sz="1600" b="0">
                <a:solidFill>
                  <a:srgbClr val="1F303A"/>
                </a:solidFill>
                <a:latin typeface="Arial"/>
              </a:rPr>
              <a:t>Runtime ngắt; runtime mới không thấy file zip Roboflow trên Drive</a:t>
            </a:r>
          </a:p>
          <a:p>
            <a:pPr algn="l" marL="203200" indent="-203200">
              <a:spcAft>
                <a:spcPts val="600"/>
              </a:spcAft>
              <a:buChar char="•"/>
            </a:pPr>
            <a:r>
              <a:rPr sz="1600" b="0">
                <a:solidFill>
                  <a:srgbClr val="1F303A"/>
                </a:solidFill>
                <a:latin typeface="Arial"/>
              </a:rPr>
              <a:t>27/09 thử ảnh trên cây: "terrible"; log Colab bị mất</a:t>
            </a:r>
          </a:p>
        </p:txBody>
      </p:sp>
      <p:sp>
        <p:nvSpPr>
          <p:cNvPr id="11" name="Rounded Rectangle 10"/>
          <p:cNvSpPr/>
          <p:nvPr/>
        </p:nvSpPr>
        <p:spPr>
          <a:xfrm>
            <a:off x="8083296" y="1280160"/>
            <a:ext cx="3557016" cy="4069080"/>
          </a:xfrm>
          <a:prstGeom prst="roundRect">
            <a:avLst>
              <a:gd name="adj" fmla="val 323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463039"/>
            <a:ext cx="3154680"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Nguyên nhân gốc (28/09)</a:t>
            </a:r>
          </a:p>
        </p:txBody>
      </p:sp>
      <p:sp>
        <p:nvSpPr>
          <p:cNvPr id="13" name="TextBox 12"/>
          <p:cNvSpPr txBox="1"/>
          <p:nvPr/>
        </p:nvSpPr>
        <p:spPr>
          <a:xfrm>
            <a:off x="8284464" y="1920239"/>
            <a:ext cx="3154680" cy="33375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Bộ thanh long Roboflow ".yolov8" thực ra chứa </a:t>
            </a:r>
            <a:r>
              <a:rPr sz="1600" b="1">
                <a:solidFill>
                  <a:srgbClr val="1F303A"/>
                </a:solidFill>
                <a:latin typeface="Arial"/>
              </a:rPr>
              <a:t>polygon phân đoạn</a:t>
            </a:r>
            <a:r>
              <a:rPr sz="1600" b="0">
                <a:solidFill>
                  <a:srgbClr val="1F303A"/>
                </a:solidFill>
                <a:latin typeface="Arial"/>
              </a:rPr>
              <a:t>. Hàm read_yolo_boxes lấy 4 số đầu của polygon làm x, y, w, h → box và crop đều sai. Mọi checkpoint detector/thanh long trước đó phải bỏ.</a:t>
            </a:r>
          </a:p>
        </p:txBody>
      </p:sp>
      <p:sp>
        <p:nvSpPr>
          <p:cNvPr id="14" name="Rounded Rectangle 13"/>
          <p:cNvSpPr/>
          <p:nvPr/>
        </p:nvSpPr>
        <p:spPr>
          <a:xfrm>
            <a:off x="548640" y="5532120"/>
            <a:ext cx="11091672" cy="548640"/>
          </a:xfrm>
          <a:prstGeom prst="roundRect">
            <a:avLst>
              <a:gd name="adj" fmla="val 12000"/>
            </a:avLst>
          </a:prstGeom>
          <a:solidFill>
            <a:srgbClr val="FA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623559"/>
            <a:ext cx="10634472" cy="365759"/>
          </a:xfrm>
          <a:prstGeom prst="rect">
            <a:avLst/>
          </a:prstGeom>
          <a:noFill/>
        </p:spPr>
        <p:txBody>
          <a:bodyPr wrap="square" lIns="0" rIns="0" tIns="0" bIns="0" anchor="ctr">
            <a:spAutoFit/>
          </a:bodyPr>
          <a:lstStyle/>
          <a:p>
            <a:pPr algn="l">
              <a:spcAft>
                <a:spcPts val="400"/>
              </a:spcAft>
            </a:pPr>
            <a:r>
              <a:rPr sz="1400" b="0">
                <a:solidFill>
                  <a:srgbClr val="B34340"/>
                </a:solidFill>
                <a:latin typeface="Arial"/>
              </a:rPr>
              <a:t>Quyết định 28/09: "đã huấn luyện nhiều mà vẫn không nhận ra" → dừng huấn luyện, sửa dữ liệu trước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14884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PHẦN 3</a:t>
            </a:r>
          </a:p>
        </p:txBody>
      </p:sp>
      <p:sp>
        <p:nvSpPr>
          <p:cNvPr id="3" name="TextBox 2"/>
          <p:cNvSpPr txBox="1"/>
          <p:nvPr/>
        </p:nvSpPr>
        <p:spPr>
          <a:xfrm>
            <a:off x="822960" y="2606040"/>
            <a:ext cx="10515600" cy="914400"/>
          </a:xfrm>
          <a:prstGeom prst="rect">
            <a:avLst/>
          </a:prstGeom>
          <a:noFill/>
        </p:spPr>
        <p:txBody>
          <a:bodyPr wrap="square" lIns="0" rIns="0" tIns="0" bIns="0" anchor="t">
            <a:spAutoFit/>
          </a:bodyPr>
          <a:lstStyle/>
          <a:p>
            <a:pPr algn="l">
              <a:spcAft>
                <a:spcPts val="400"/>
              </a:spcAft>
            </a:pPr>
            <a:r>
              <a:rPr sz="3800" b="1">
                <a:solidFill>
                  <a:srgbClr val="0F2331"/>
                </a:solidFill>
                <a:latin typeface="Arial"/>
              </a:rPr>
              <a:t>Dữ liệu</a:t>
            </a:r>
          </a:p>
        </p:txBody>
      </p:sp>
      <p:sp>
        <p:nvSpPr>
          <p:cNvPr id="4" name="TextBox 3"/>
          <p:cNvSpPr txBox="1"/>
          <p:nvPr/>
        </p:nvSpPr>
        <p:spPr>
          <a:xfrm>
            <a:off x="822960" y="3611880"/>
            <a:ext cx="10515600" cy="1097280"/>
          </a:xfrm>
          <a:prstGeom prst="rect">
            <a:avLst/>
          </a:prstGeom>
          <a:noFill/>
        </p:spPr>
        <p:txBody>
          <a:bodyPr wrap="square" lIns="0" rIns="0" tIns="0" bIns="0" anchor="t">
            <a:spAutoFit/>
          </a:bodyPr>
          <a:lstStyle/>
          <a:p>
            <a:pPr algn="l">
              <a:spcAft>
                <a:spcPts val="400"/>
              </a:spcAft>
            </a:pPr>
            <a:r>
              <a:rPr sz="1800" b="0">
                <a:solidFill>
                  <a:srgbClr val="5C6E78"/>
                </a:solidFill>
                <a:latin typeface="Arial"/>
              </a:rPr>
              <a:t>Nguồn dữ liệu, các lỗi nhãn đã phát hiện, và 9 phiên bản dữ liệu</a:t>
            </a:r>
          </a:p>
        </p:txBody>
      </p:sp>
      <p:sp>
        <p:nvSpPr>
          <p:cNvPr id="5" name="TextBox 4"/>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NGUỒN DỮ LIỆU</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Nguồn dữ liệu (1/2): bộ gốc và bộ thêm ngày 24–28/09</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15</a:t>
            </a:r>
          </a:p>
        </p:txBody>
      </p:sp>
      <p:graphicFrame>
        <p:nvGraphicFramePr>
          <p:cNvPr id="5" name="Table 4"/>
          <p:cNvGraphicFramePr>
            <a:graphicFrameLocks noGrp="1"/>
          </p:cNvGraphicFramePr>
          <p:nvPr/>
        </p:nvGraphicFramePr>
        <p:xfrm>
          <a:off x="548640" y="1234440"/>
          <a:ext cx="11091670" cy="4608576"/>
        </p:xfrm>
        <a:graphic>
          <a:graphicData uri="http://schemas.openxmlformats.org/drawingml/2006/table">
            <a:tbl>
              <a:tblPr firstRow="1" bandRow="1">
                <a:tableStyleId>{5C22544A-7EE6-4342-B048-85BDC9FD1C3A}</a:tableStyleId>
              </a:tblPr>
              <a:tblGrid>
                <a:gridCol w="2829973"/>
                <a:gridCol w="3286421"/>
                <a:gridCol w="1232408"/>
                <a:gridCol w="3742868"/>
              </a:tblGrid>
              <a:tr h="512064">
                <a:tc>
                  <a:txBody>
                    <a:bodyPr wrap="square"/>
                    <a:lstStyle/>
                    <a:p>
                      <a:r>
                        <a:rPr sz="1300" b="1">
                          <a:solidFill>
                            <a:srgbClr val="FFFFFF"/>
                          </a:solidFill>
                          <a:latin typeface="Arial"/>
                        </a:rPr>
                        <a:t>Bộ dữ liệu</a:t>
                      </a:r>
                    </a:p>
                  </a:txBody>
                  <a:tcPr marL="64008" marR="64008" marT="32004" marB="32004" anchor="ctr">
                    <a:solidFill>
                      <a:srgbClr val="0F2331"/>
                    </a:solidFill>
                  </a:tcPr>
                </a:tc>
                <a:tc>
                  <a:txBody>
                    <a:bodyPr wrap="square"/>
                    <a:lstStyle/>
                    <a:p>
                      <a:r>
                        <a:rPr sz="1300" b="1">
                          <a:solidFill>
                            <a:srgbClr val="FFFFFF"/>
                          </a:solidFill>
                          <a:latin typeface="Arial"/>
                        </a:rPr>
                        <a:t>Nội dung</a:t>
                      </a:r>
                    </a:p>
                  </a:txBody>
                  <a:tcPr marL="64008" marR="64008" marT="32004" marB="32004" anchor="ctr">
                    <a:solidFill>
                      <a:srgbClr val="0F2331"/>
                    </a:solidFill>
                  </a:tcPr>
                </a:tc>
                <a:tc>
                  <a:txBody>
                    <a:bodyPr wrap="square"/>
                    <a:lstStyle/>
                    <a:p>
                      <a:r>
                        <a:rPr sz="1300" b="1">
                          <a:solidFill>
                            <a:srgbClr val="FFFFFF"/>
                          </a:solidFill>
                          <a:latin typeface="Arial"/>
                        </a:rPr>
                        <a:t>Giấy phép</a:t>
                      </a:r>
                    </a:p>
                  </a:txBody>
                  <a:tcPr marL="64008" marR="64008" marT="32004" marB="32004" anchor="ctr">
                    <a:solidFill>
                      <a:srgbClr val="0F2331"/>
                    </a:solidFill>
                  </a:tcPr>
                </a:tc>
                <a:tc>
                  <a:txBody>
                    <a:bodyPr wrap="square"/>
                    <a:lstStyle/>
                    <a:p>
                      <a:r>
                        <a:rPr sz="1300" b="1">
                          <a:solidFill>
                            <a:srgbClr val="FFFFFF"/>
                          </a:solidFill>
                          <a:latin typeface="Arial"/>
                        </a:rPr>
                        <a:t>Cách dùng</a:t>
                      </a:r>
                    </a:p>
                  </a:txBody>
                  <a:tcPr marL="64008" marR="64008" marT="32004" marB="32004" anchor="ctr">
                    <a:solidFill>
                      <a:srgbClr val="0F2331"/>
                    </a:solidFill>
                  </a:tcPr>
                </a:tc>
              </a:tr>
              <a:tr h="512064">
                <a:tc>
                  <a:txBody>
                    <a:bodyPr wrap="square"/>
                    <a:lstStyle/>
                    <a:p>
                      <a:r>
                        <a:rPr sz="1300" b="1">
                          <a:solidFill>
                            <a:srgbClr val="1F303A"/>
                          </a:solidFill>
                          <a:latin typeface="Arial"/>
                        </a:rPr>
                        <a:t>Roboflow xoài (export gốc)</a:t>
                      </a:r>
                    </a:p>
                  </a:txBody>
                  <a:tcPr marL="64008" marR="64008" marT="32004" marB="32004" anchor="ctr">
                    <a:solidFill>
                      <a:srgbClr val="FFFFFF"/>
                    </a:solidFill>
                  </a:tcPr>
                </a:tc>
                <a:tc>
                  <a:txBody>
                    <a:bodyPr wrap="square"/>
                    <a:lstStyle/>
                    <a:p>
                      <a:r>
                        <a:rPr sz="1300" b="0">
                          <a:solidFill>
                            <a:srgbClr val="1F303A"/>
                          </a:solidFill>
                          <a:latin typeface="Arial"/>
                        </a:rPr>
                        <a:t>2.004 ảnh từ 926 ảnh gốc; 4 giai đoạn</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Detector + classifier xoài (mọi phiên bản)</a:t>
                      </a:r>
                    </a:p>
                  </a:txBody>
                  <a:tcPr marL="64008" marR="64008" marT="32004" marB="32004" anchor="ctr">
                    <a:solidFill>
                      <a:srgbClr val="FFFFFF"/>
                    </a:solidFill>
                  </a:tcPr>
                </a:tc>
              </a:tr>
              <a:tr h="512064">
                <a:tc>
                  <a:txBody>
                    <a:bodyPr wrap="square"/>
                    <a:lstStyle/>
                    <a:p>
                      <a:r>
                        <a:rPr sz="1300" b="1">
                          <a:solidFill>
                            <a:srgbClr val="1F303A"/>
                          </a:solidFill>
                          <a:latin typeface="Arial"/>
                        </a:rPr>
                        <a:t>Roboflow thanh long (export gốc)</a:t>
                      </a:r>
                    </a:p>
                  </a:txBody>
                  <a:tcPr marL="64008" marR="64008" marT="32004" marB="32004" anchor="ctr">
                    <a:solidFill>
                      <a:srgbClr val="F8FBFA"/>
                    </a:solidFill>
                  </a:tcPr>
                </a:tc>
                <a:tc>
                  <a:txBody>
                    <a:bodyPr wrap="square"/>
                    <a:lstStyle/>
                    <a:p>
                      <a:r>
                        <a:rPr sz="1300" b="0">
                          <a:solidFill>
                            <a:srgbClr val="1F303A"/>
                          </a:solidFill>
                          <a:latin typeface="Arial"/>
                        </a:rPr>
                        <a:t>3.007 ảnh; Unripe/Ripe/Rotten; nhãn polygon</a:t>
                      </a:r>
                    </a:p>
                  </a:txBody>
                  <a:tcPr marL="64008" marR="64008" marT="32004" marB="32004" anchor="ctr">
                    <a:solidFill>
                      <a:srgbClr val="F8FBFA"/>
                    </a:solidFill>
                  </a:tcPr>
                </a:tc>
                <a:tc>
                  <a:txBody>
                    <a:bodyPr wrap="square"/>
                    <a:lstStyle/>
                    <a:p>
                      <a:r>
                        <a:rPr sz="1300" b="0">
                          <a:solidFill>
                            <a:srgbClr val="1F303A"/>
                          </a:solidFill>
                          <a:latin typeface="Arial"/>
                        </a:rPr>
                        <a:t>CC BY 4.0</a:t>
                      </a:r>
                    </a:p>
                  </a:txBody>
                  <a:tcPr marL="64008" marR="64008" marT="32004" marB="32004" anchor="ctr">
                    <a:solidFill>
                      <a:srgbClr val="F8FBFA"/>
                    </a:solidFill>
                  </a:tcPr>
                </a:tc>
                <a:tc>
                  <a:txBody>
                    <a:bodyPr wrap="square"/>
                    <a:lstStyle/>
                    <a:p>
                      <a:r>
                        <a:rPr sz="1300" b="0">
                          <a:solidFill>
                            <a:srgbClr val="1F303A"/>
                          </a:solidFill>
                          <a:latin typeface="Arial"/>
                        </a:rPr>
                        <a:t>Từ v2 chỉ giữ crop quả nổi bật đã rà</a:t>
                      </a:r>
                    </a:p>
                  </a:txBody>
                  <a:tcPr marL="64008" marR="64008" marT="32004" marB="32004" anchor="ctr">
                    <a:solidFill>
                      <a:srgbClr val="F8FBFA"/>
                    </a:solidFill>
                  </a:tcPr>
                </a:tc>
              </a:tr>
              <a:tr h="512064">
                <a:tc>
                  <a:txBody>
                    <a:bodyPr wrap="square"/>
                    <a:lstStyle/>
                    <a:p>
                      <a:r>
                        <a:rPr sz="1300" b="1">
                          <a:solidFill>
                            <a:srgbClr val="1F303A"/>
                          </a:solidFill>
                          <a:latin typeface="Arial"/>
                        </a:rPr>
                        <a:t>MangoYOLO — CQUniversity</a:t>
                      </a:r>
                    </a:p>
                  </a:txBody>
                  <a:tcPr marL="64008" marR="64008" marT="32004" marB="32004" anchor="ctr">
                    <a:solidFill>
                      <a:srgbClr val="FFFFFF"/>
                    </a:solidFill>
                  </a:tcPr>
                </a:tc>
                <a:tc>
                  <a:txBody>
                    <a:bodyPr wrap="square"/>
                    <a:lstStyle/>
                    <a:p>
                      <a:r>
                        <a:rPr sz="1300" b="0">
                          <a:solidFill>
                            <a:srgbClr val="1F303A"/>
                          </a:solidFill>
                          <a:latin typeface="Arial"/>
                        </a:rPr>
                        <a:t>1.730 ảnh, 15.281 box, chụp đêm có đèn</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Chỉ detector (không có độ chín)</a:t>
                      </a:r>
                    </a:p>
                  </a:txBody>
                  <a:tcPr marL="64008" marR="64008" marT="32004" marB="32004" anchor="ctr">
                    <a:solidFill>
                      <a:srgbClr val="FFFFFF"/>
                    </a:solidFill>
                  </a:tcPr>
                </a:tc>
              </a:tr>
              <a:tr h="512064">
                <a:tc>
                  <a:txBody>
                    <a:bodyPr wrap="square"/>
                    <a:lstStyle/>
                    <a:p>
                      <a:r>
                        <a:rPr sz="1300" b="1">
                          <a:solidFill>
                            <a:srgbClr val="1F303A"/>
                          </a:solidFill>
                          <a:latin typeface="Arial"/>
                        </a:rPr>
                        <a:t>CQU on-tree mango segmentation</a:t>
                      </a:r>
                    </a:p>
                  </a:txBody>
                  <a:tcPr marL="64008" marR="64008" marT="32004" marB="32004" anchor="ctr">
                    <a:solidFill>
                      <a:srgbClr val="F8FBFA"/>
                    </a:solidFill>
                  </a:tcPr>
                </a:tc>
                <a:tc>
                  <a:txBody>
                    <a:bodyPr wrap="square"/>
                    <a:lstStyle/>
                    <a:p>
                      <a:r>
                        <a:rPr sz="1300" b="0">
                          <a:solidFill>
                            <a:srgbClr val="1F303A"/>
                          </a:solidFill>
                          <a:latin typeface="Arial"/>
                        </a:rPr>
                        <a:t>542 tile tán cây, 5.314 mask</a:t>
                      </a:r>
                    </a:p>
                  </a:txBody>
                  <a:tcPr marL="64008" marR="64008" marT="32004" marB="32004" anchor="ctr">
                    <a:solidFill>
                      <a:srgbClr val="F8FBFA"/>
                    </a:solidFill>
                  </a:tcPr>
                </a:tc>
                <a:tc>
                  <a:txBody>
                    <a:bodyPr wrap="square"/>
                    <a:lstStyle/>
                    <a:p>
                      <a:r>
                        <a:rPr sz="1300" b="0">
                          <a:solidFill>
                            <a:srgbClr val="1F303A"/>
                          </a:solidFill>
                          <a:latin typeface="Arial"/>
                        </a:rPr>
                        <a:t>CC BY 4.0</a:t>
                      </a:r>
                    </a:p>
                  </a:txBody>
                  <a:tcPr marL="64008" marR="64008" marT="32004" marB="32004" anchor="ctr">
                    <a:solidFill>
                      <a:srgbClr val="F8FBFA"/>
                    </a:solidFill>
                  </a:tcPr>
                </a:tc>
                <a:tc>
                  <a:txBody>
                    <a:bodyPr wrap="square"/>
                    <a:lstStyle/>
                    <a:p>
                      <a:r>
                        <a:rPr sz="1300" b="0">
                          <a:solidFill>
                            <a:srgbClr val="1F303A"/>
                          </a:solidFill>
                          <a:latin typeface="Arial"/>
                        </a:rPr>
                        <a:t>Detector: mask → box (536 tile)</a:t>
                      </a:r>
                    </a:p>
                  </a:txBody>
                  <a:tcPr marL="64008" marR="64008" marT="32004" marB="32004" anchor="ctr">
                    <a:solidFill>
                      <a:srgbClr val="F8FBFA"/>
                    </a:solidFill>
                  </a:tcPr>
                </a:tc>
              </a:tr>
              <a:tr h="512064">
                <a:tc>
                  <a:txBody>
                    <a:bodyPr wrap="square"/>
                    <a:lstStyle/>
                    <a:p>
                      <a:r>
                        <a:rPr sz="1300" b="1">
                          <a:solidFill>
                            <a:srgbClr val="1F303A"/>
                          </a:solidFill>
                          <a:latin typeface="Arial"/>
                        </a:rPr>
                        <a:t>Mendeley 2jpzbx8tm6 — maturity</a:t>
                      </a:r>
                    </a:p>
                  </a:txBody>
                  <a:tcPr marL="64008" marR="64008" marT="32004" marB="32004" anchor="ctr">
                    <a:solidFill>
                      <a:srgbClr val="FFFFFF"/>
                    </a:solidFill>
                  </a:tcPr>
                </a:tc>
                <a:tc>
                  <a:txBody>
                    <a:bodyPr wrap="square"/>
                    <a:lstStyle/>
                    <a:p>
                      <a:r>
                        <a:rPr sz="1300" b="0">
                          <a:solidFill>
                            <a:srgbClr val="1F303A"/>
                          </a:solidFill>
                          <a:latin typeface="Arial"/>
                        </a:rPr>
                        <a:t>2.127 ảnh gốc Immature/Mature</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Classifier thanh long; bỏ từ v2</a:t>
                      </a:r>
                    </a:p>
                  </a:txBody>
                  <a:tcPr marL="64008" marR="64008" marT="32004" marB="32004" anchor="ctr">
                    <a:solidFill>
                      <a:srgbClr val="FFFFFF"/>
                    </a:solidFill>
                  </a:tcPr>
                </a:tc>
              </a:tr>
              <a:tr h="512064">
                <a:tc>
                  <a:txBody>
                    <a:bodyPr wrap="square"/>
                    <a:lstStyle/>
                    <a:p>
                      <a:r>
                        <a:rPr sz="1300" b="1">
                          <a:solidFill>
                            <a:srgbClr val="1F303A"/>
                          </a:solidFill>
                          <a:latin typeface="Arial"/>
                        </a:rPr>
                        <a:t>Mendeley 2jpzbx8tm6 — quality</a:t>
                      </a:r>
                    </a:p>
                  </a:txBody>
                  <a:tcPr marL="64008" marR="64008" marT="32004" marB="32004" anchor="ctr">
                    <a:solidFill>
                      <a:srgbClr val="F8FBFA"/>
                    </a:solidFill>
                  </a:tcPr>
                </a:tc>
                <a:tc>
                  <a:txBody>
                    <a:bodyPr wrap="square"/>
                    <a:lstStyle/>
                    <a:p>
                      <a:r>
                        <a:rPr sz="1300" b="0">
                          <a:solidFill>
                            <a:srgbClr val="1F303A"/>
                          </a:solidFill>
                          <a:latin typeface="Arial"/>
                        </a:rPr>
                        <a:t>1.652 ảnh Fresh/Defect</a:t>
                      </a:r>
                    </a:p>
                  </a:txBody>
                  <a:tcPr marL="64008" marR="64008" marT="32004" marB="32004" anchor="ctr">
                    <a:solidFill>
                      <a:srgbClr val="F8FBFA"/>
                    </a:solidFill>
                  </a:tcPr>
                </a:tc>
                <a:tc>
                  <a:txBody>
                    <a:bodyPr wrap="square"/>
                    <a:lstStyle/>
                    <a:p>
                      <a:r>
                        <a:rPr sz="1300" b="0">
                          <a:solidFill>
                            <a:srgbClr val="1F303A"/>
                          </a:solidFill>
                          <a:latin typeface="Arial"/>
                        </a:rPr>
                        <a:t>CC BY 4.0</a:t>
                      </a:r>
                    </a:p>
                  </a:txBody>
                  <a:tcPr marL="64008" marR="64008" marT="32004" marB="32004" anchor="ctr">
                    <a:solidFill>
                      <a:srgbClr val="F8FBFA"/>
                    </a:solidFill>
                  </a:tcPr>
                </a:tc>
                <a:tc>
                  <a:txBody>
                    <a:bodyPr wrap="square"/>
                    <a:lstStyle/>
                    <a:p>
                      <a:r>
                        <a:rPr sz="1300" b="0">
                          <a:solidFill>
                            <a:srgbClr val="1F303A"/>
                          </a:solidFill>
                          <a:latin typeface="Arial"/>
                        </a:rPr>
                        <a:t>Không dùng: Fresh/Defect ≠ chín/hỏng</a:t>
                      </a:r>
                    </a:p>
                  </a:txBody>
                  <a:tcPr marL="64008" marR="64008" marT="32004" marB="32004" anchor="ctr">
                    <a:solidFill>
                      <a:srgbClr val="F8FBFA"/>
                    </a:solidFill>
                  </a:tcPr>
                </a:tc>
              </a:tr>
              <a:tr h="512064">
                <a:tc>
                  <a:txBody>
                    <a:bodyPr wrap="square"/>
                    <a:lstStyle/>
                    <a:p>
                      <a:r>
                        <a:rPr sz="1300" b="1">
                          <a:solidFill>
                            <a:srgbClr val="1F303A"/>
                          </a:solidFill>
                          <a:latin typeface="Arial"/>
                        </a:rPr>
                        <a:t>DF pose v2 — Mendeley t8kbmg6cgz</a:t>
                      </a:r>
                    </a:p>
                  </a:txBody>
                  <a:tcPr marL="64008" marR="64008" marT="32004" marB="32004" anchor="ctr">
                    <a:solidFill>
                      <a:srgbClr val="FFFFFF"/>
                    </a:solidFill>
                  </a:tcPr>
                </a:tc>
                <a:tc>
                  <a:txBody>
                    <a:bodyPr wrap="square"/>
                    <a:lstStyle/>
                    <a:p>
                      <a:r>
                        <a:rPr sz="1300" b="0">
                          <a:solidFill>
                            <a:srgbClr val="1F303A"/>
                          </a:solidFill>
                          <a:latin typeface="Arial"/>
                        </a:rPr>
                        <a:t>2.448 frame vườn, 4.637 box, từ 7 video</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Detector thanh long ngoài vườn</a:t>
                      </a:r>
                    </a:p>
                  </a:txBody>
                  <a:tcPr marL="64008" marR="64008" marT="32004" marB="32004" anchor="ctr">
                    <a:solidFill>
                      <a:srgbClr val="FFFFFF"/>
                    </a:solidFill>
                  </a:tcPr>
                </a:tc>
              </a:tr>
              <a:tr h="512064">
                <a:tc>
                  <a:txBody>
                    <a:bodyPr wrap="square"/>
                    <a:lstStyle/>
                    <a:p>
                      <a:r>
                        <a:rPr sz="1300" b="1">
                          <a:solidFill>
                            <a:srgbClr val="1F303A"/>
                          </a:solidFill>
                          <a:latin typeface="Arial"/>
                        </a:rPr>
                        <a:t>MangoFruitBD v2 — bhrz29mkmr</a:t>
                      </a:r>
                    </a:p>
                  </a:txBody>
                  <a:tcPr marL="64008" marR="64008" marT="32004" marB="32004" anchor="ctr">
                    <a:solidFill>
                      <a:srgbClr val="F8FBFA"/>
                    </a:solidFill>
                  </a:tcPr>
                </a:tc>
                <a:tc>
                  <a:txBody>
                    <a:bodyPr wrap="square"/>
                    <a:lstStyle/>
                    <a:p>
                      <a:r>
                        <a:rPr sz="1300" b="0">
                          <a:solidFill>
                            <a:srgbClr val="1F303A"/>
                          </a:solidFill>
                          <a:latin typeface="Arial"/>
                        </a:rPr>
                        <a:t>1.070 ảnh xoài ban ngày, 1.841 box</a:t>
                      </a:r>
                    </a:p>
                  </a:txBody>
                  <a:tcPr marL="64008" marR="64008" marT="32004" marB="32004" anchor="ctr">
                    <a:solidFill>
                      <a:srgbClr val="F8FBFA"/>
                    </a:solidFill>
                  </a:tcPr>
                </a:tc>
                <a:tc>
                  <a:txBody>
                    <a:bodyPr wrap="square"/>
                    <a:lstStyle/>
                    <a:p>
                      <a:r>
                        <a:rPr sz="1300" b="0">
                          <a:solidFill>
                            <a:srgbClr val="1F303A"/>
                          </a:solidFill>
                          <a:latin typeface="Arial"/>
                        </a:rPr>
                        <a:t>CC BY-NC</a:t>
                      </a:r>
                    </a:p>
                  </a:txBody>
                  <a:tcPr marL="64008" marR="64008" marT="32004" marB="32004" anchor="ctr">
                    <a:solidFill>
                      <a:srgbClr val="F8FBFA"/>
                    </a:solidFill>
                  </a:tcPr>
                </a:tc>
                <a:tc>
                  <a:txBody>
                    <a:bodyPr wrap="square"/>
                    <a:lstStyle/>
                    <a:p>
                      <a:r>
                        <a:rPr sz="1300" b="0">
                          <a:solidFill>
                            <a:srgbClr val="1F303A"/>
                          </a:solidFill>
                          <a:latin typeface="Arial"/>
                        </a:rPr>
                        <a:t>Detector; chỉ dùng phi thương mại</a:t>
                      </a:r>
                    </a:p>
                  </a:txBody>
                  <a:tcPr marL="64008" marR="64008" marT="32004" marB="32004" anchor="ctr">
                    <a:solidFill>
                      <a:srgbClr val="F8FBFA"/>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NGUỒN DỮ LIỆU</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Nguồn dữ liệu (2/2): ảnh cả cây, quả hỏng và ảnh âm tính</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16</a:t>
            </a:r>
          </a:p>
        </p:txBody>
      </p:sp>
      <p:graphicFrame>
        <p:nvGraphicFramePr>
          <p:cNvPr id="5" name="Table 4"/>
          <p:cNvGraphicFramePr>
            <a:graphicFrameLocks noGrp="1"/>
          </p:cNvGraphicFramePr>
          <p:nvPr/>
        </p:nvGraphicFramePr>
        <p:xfrm>
          <a:off x="548640" y="1234440"/>
          <a:ext cx="11091671" cy="4754880"/>
        </p:xfrm>
        <a:graphic>
          <a:graphicData uri="http://schemas.openxmlformats.org/drawingml/2006/table">
            <a:tbl>
              <a:tblPr firstRow="1" bandRow="1">
                <a:tableStyleId>{5C22544A-7EE6-4342-B048-85BDC9FD1C3A}</a:tableStyleId>
              </a:tblPr>
              <a:tblGrid>
                <a:gridCol w="2966908"/>
                <a:gridCol w="3240776"/>
                <a:gridCol w="1232408"/>
                <a:gridCol w="3651579"/>
              </a:tblGrid>
              <a:tr h="475488">
                <a:tc>
                  <a:txBody>
                    <a:bodyPr wrap="square"/>
                    <a:lstStyle/>
                    <a:p>
                      <a:r>
                        <a:rPr sz="1300" b="1">
                          <a:solidFill>
                            <a:srgbClr val="FFFFFF"/>
                          </a:solidFill>
                          <a:latin typeface="Arial"/>
                        </a:rPr>
                        <a:t>Bộ dữ liệu</a:t>
                      </a:r>
                    </a:p>
                  </a:txBody>
                  <a:tcPr marL="64008" marR="64008" marT="32004" marB="32004" anchor="ctr">
                    <a:solidFill>
                      <a:srgbClr val="0F2331"/>
                    </a:solidFill>
                  </a:tcPr>
                </a:tc>
                <a:tc>
                  <a:txBody>
                    <a:bodyPr wrap="square"/>
                    <a:lstStyle/>
                    <a:p>
                      <a:r>
                        <a:rPr sz="1300" b="1">
                          <a:solidFill>
                            <a:srgbClr val="FFFFFF"/>
                          </a:solidFill>
                          <a:latin typeface="Arial"/>
                        </a:rPr>
                        <a:t>Nội dung</a:t>
                      </a:r>
                    </a:p>
                  </a:txBody>
                  <a:tcPr marL="64008" marR="64008" marT="32004" marB="32004" anchor="ctr">
                    <a:solidFill>
                      <a:srgbClr val="0F2331"/>
                    </a:solidFill>
                  </a:tcPr>
                </a:tc>
                <a:tc>
                  <a:txBody>
                    <a:bodyPr wrap="square"/>
                    <a:lstStyle/>
                    <a:p>
                      <a:r>
                        <a:rPr sz="1300" b="1">
                          <a:solidFill>
                            <a:srgbClr val="FFFFFF"/>
                          </a:solidFill>
                          <a:latin typeface="Arial"/>
                        </a:rPr>
                        <a:t>Giấy phép</a:t>
                      </a:r>
                    </a:p>
                  </a:txBody>
                  <a:tcPr marL="64008" marR="64008" marT="32004" marB="32004" anchor="ctr">
                    <a:solidFill>
                      <a:srgbClr val="0F2331"/>
                    </a:solidFill>
                  </a:tcPr>
                </a:tc>
                <a:tc>
                  <a:txBody>
                    <a:bodyPr wrap="square"/>
                    <a:lstStyle/>
                    <a:p>
                      <a:r>
                        <a:rPr sz="1300" b="1">
                          <a:solidFill>
                            <a:srgbClr val="FFFFFF"/>
                          </a:solidFill>
                          <a:latin typeface="Arial"/>
                        </a:rPr>
                        <a:t>Cách dùng • từ phiên bản</a:t>
                      </a:r>
                    </a:p>
                  </a:txBody>
                  <a:tcPr marL="64008" marR="64008" marT="32004" marB="32004" anchor="ctr">
                    <a:solidFill>
                      <a:srgbClr val="0F2331"/>
                    </a:solidFill>
                  </a:tcPr>
                </a:tc>
              </a:tr>
              <a:tr h="475488">
                <a:tc>
                  <a:txBody>
                    <a:bodyPr wrap="square"/>
                    <a:lstStyle/>
                    <a:p>
                      <a:r>
                        <a:rPr sz="1300" b="1">
                          <a:solidFill>
                            <a:srgbClr val="1F303A"/>
                          </a:solidFill>
                          <a:latin typeface="Arial"/>
                        </a:rPr>
                        <a:t>DF-MOD Black_Rot — kpsywfwkrf</a:t>
                      </a:r>
                    </a:p>
                  </a:txBody>
                  <a:tcPr marL="64008" marR="64008" marT="32004" marB="32004" anchor="ctr">
                    <a:solidFill>
                      <a:srgbClr val="FFFFFF"/>
                    </a:solidFill>
                  </a:tcPr>
                </a:tc>
                <a:tc>
                  <a:txBody>
                    <a:bodyPr wrap="square"/>
                    <a:lstStyle/>
                    <a:p>
                      <a:r>
                        <a:rPr sz="1300" b="0">
                          <a:solidFill>
                            <a:srgbClr val="1F303A"/>
                          </a:solidFill>
                          <a:latin typeface="Arial"/>
                        </a:rPr>
                        <a:t>675 file nhưng chỉ 270 ảnh khác nhau</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thanh long rotten • v2</a:t>
                      </a:r>
                    </a:p>
                  </a:txBody>
                  <a:tcPr marL="64008" marR="64008" marT="32004" marB="32004" anchor="ctr">
                    <a:solidFill>
                      <a:srgbClr val="FFFFFF"/>
                    </a:solidFill>
                  </a:tcPr>
                </a:tc>
              </a:tr>
              <a:tr h="475488">
                <a:tc>
                  <a:txBody>
                    <a:bodyPr wrap="square"/>
                    <a:lstStyle/>
                    <a:p>
                      <a:r>
                        <a:rPr sz="1300" b="1">
                          <a:solidFill>
                            <a:srgbClr val="1F303A"/>
                          </a:solidFill>
                          <a:latin typeface="Arial"/>
                        </a:rPr>
                        <a:t>Mendeley gcgrjvwmm2 far-field</a:t>
                      </a:r>
                    </a:p>
                  </a:txBody>
                  <a:tcPr marL="64008" marR="64008" marT="32004" marB="32004" anchor="ctr">
                    <a:solidFill>
                      <a:srgbClr val="F8FBFA"/>
                    </a:solidFill>
                  </a:tcPr>
                </a:tc>
                <a:tc>
                  <a:txBody>
                    <a:bodyPr wrap="square"/>
                    <a:lstStyle/>
                    <a:p>
                      <a:r>
                        <a:rPr sz="1300" b="0">
                          <a:solidFill>
                            <a:srgbClr val="1F303A"/>
                          </a:solidFill>
                          <a:latin typeface="Arial"/>
                        </a:rPr>
                        <a:t>1.023 ảnh xoài chụp xa/gần</a:t>
                      </a:r>
                    </a:p>
                  </a:txBody>
                  <a:tcPr marL="64008" marR="64008" marT="32004" marB="32004" anchor="ctr">
                    <a:solidFill>
                      <a:srgbClr val="F8FBFA"/>
                    </a:solidFill>
                  </a:tcPr>
                </a:tc>
                <a:tc>
                  <a:txBody>
                    <a:bodyPr wrap="square"/>
                    <a:lstStyle/>
                    <a:p>
                      <a:r>
                        <a:rPr sz="1300" b="0">
                          <a:solidFill>
                            <a:srgbClr val="1F303A"/>
                          </a:solidFill>
                          <a:latin typeface="Arial"/>
                        </a:rPr>
                        <a:t>CC BY 4.0</a:t>
                      </a:r>
                    </a:p>
                  </a:txBody>
                  <a:tcPr marL="64008" marR="64008" marT="32004" marB="32004" anchor="ctr">
                    <a:solidFill>
                      <a:srgbClr val="F8FBFA"/>
                    </a:solidFill>
                  </a:tcPr>
                </a:tc>
                <a:tc>
                  <a:txBody>
                    <a:bodyPr wrap="square"/>
                    <a:lstStyle/>
                    <a:p>
                      <a:r>
                        <a:rPr sz="1300" b="0">
                          <a:solidFill>
                            <a:srgbClr val="1F303A"/>
                          </a:solidFill>
                          <a:latin typeface="Arial"/>
                        </a:rPr>
                        <a:t>Detector, nhóm 10 ảnh liên tiếp • v3</a:t>
                      </a:r>
                    </a:p>
                  </a:txBody>
                  <a:tcPr marL="64008" marR="64008" marT="32004" marB="32004" anchor="ctr">
                    <a:solidFill>
                      <a:srgbClr val="F8FBFA"/>
                    </a:solidFill>
                  </a:tcPr>
                </a:tc>
              </a:tr>
              <a:tr h="475488">
                <a:tc>
                  <a:txBody>
                    <a:bodyPr wrap="square"/>
                    <a:lstStyle/>
                    <a:p>
                      <a:r>
                        <a:rPr sz="1300" b="1">
                          <a:solidFill>
                            <a:srgbClr val="1F303A"/>
                          </a:solidFill>
                          <a:latin typeface="Arial"/>
                        </a:rPr>
                        <a:t>Mendeley mm8g66d7rc ripening</a:t>
                      </a:r>
                    </a:p>
                  </a:txBody>
                  <a:tcPr marL="64008" marR="64008" marT="32004" marB="32004" anchor="ctr">
                    <a:solidFill>
                      <a:srgbClr val="FFFFFF"/>
                    </a:solidFill>
                  </a:tcPr>
                </a:tc>
                <a:tc>
                  <a:txBody>
                    <a:bodyPr wrap="square"/>
                    <a:lstStyle/>
                    <a:p>
                      <a:r>
                        <a:rPr sz="1300" b="0">
                          <a:solidFill>
                            <a:srgbClr val="1F303A"/>
                          </a:solidFill>
                          <a:latin typeface="Arial"/>
                        </a:rPr>
                        <a:t>951 ảnh xoài chín dần trên bàn</a:t>
                      </a:r>
                    </a:p>
                  </a:txBody>
                  <a:tcPr marL="64008" marR="64008" marT="32004" marB="32004" anchor="ctr">
                    <a:solidFill>
                      <a:srgbClr val="FFFFFF"/>
                    </a:solidFill>
                  </a:tcPr>
                </a:tc>
                <a:tc>
                  <a:txBody>
                    <a:bodyPr wrap="square"/>
                    <a:lstStyle/>
                    <a:p>
                      <a:r>
                        <a:rPr sz="1300" b="0">
                          <a:solidFill>
                            <a:srgbClr val="1F303A"/>
                          </a:solidFill>
                          <a:latin typeface="Arial"/>
                        </a:rPr>
                        <a:t>chưa ghi</a:t>
                      </a:r>
                    </a:p>
                  </a:txBody>
                  <a:tcPr marL="64008" marR="64008" marT="32004" marB="32004" anchor="ctr">
                    <a:solidFill>
                      <a:srgbClr val="FFFFFF"/>
                    </a:solidFill>
                  </a:tcPr>
                </a:tc>
                <a:tc>
                  <a:txBody>
                    <a:bodyPr wrap="square"/>
                    <a:lstStyle/>
                    <a:p>
                      <a:r>
                        <a:rPr sz="1300" b="0">
                          <a:solidFill>
                            <a:srgbClr val="1F303A"/>
                          </a:solidFill>
                          <a:latin typeface="Arial"/>
                        </a:rPr>
                        <a:t>Classifier: stage 2 → turning • v3</a:t>
                      </a:r>
                    </a:p>
                  </a:txBody>
                  <a:tcPr marL="64008" marR="64008" marT="32004" marB="32004" anchor="ctr">
                    <a:solidFill>
                      <a:srgbClr val="FFFFFF"/>
                    </a:solidFill>
                  </a:tcPr>
                </a:tc>
              </a:tr>
              <a:tr h="475488">
                <a:tc>
                  <a:txBody>
                    <a:bodyPr wrap="square"/>
                    <a:lstStyle/>
                    <a:p>
                      <a:r>
                        <a:rPr sz="1300" b="1">
                          <a:solidFill>
                            <a:srgbClr val="1F303A"/>
                          </a:solidFill>
                          <a:latin typeface="Arial"/>
                        </a:rPr>
                        <a:t>Roboflow mango-tree (jerng-mi)</a:t>
                      </a:r>
                    </a:p>
                  </a:txBody>
                  <a:tcPr marL="64008" marR="64008" marT="32004" marB="32004" anchor="ctr">
                    <a:solidFill>
                      <a:srgbClr val="F8FBFA"/>
                    </a:solidFill>
                  </a:tcPr>
                </a:tc>
                <a:tc>
                  <a:txBody>
                    <a:bodyPr wrap="square"/>
                    <a:lstStyle/>
                    <a:p>
                      <a:r>
                        <a:rPr sz="1300" b="0">
                          <a:solidFill>
                            <a:srgbClr val="1F303A"/>
                          </a:solidFill>
                          <a:latin typeface="Arial"/>
                        </a:rPr>
                        <a:t>690 ảnh cả cây, ~13 quả/ảnh</a:t>
                      </a:r>
                    </a:p>
                  </a:txBody>
                  <a:tcPr marL="64008" marR="64008" marT="32004" marB="32004" anchor="ctr">
                    <a:solidFill>
                      <a:srgbClr val="F8FBFA"/>
                    </a:solidFill>
                  </a:tcPr>
                </a:tc>
                <a:tc>
                  <a:txBody>
                    <a:bodyPr wrap="square"/>
                    <a:lstStyle/>
                    <a:p>
                      <a:r>
                        <a:rPr sz="1300" b="0">
                          <a:solidFill>
                            <a:srgbClr val="1F303A"/>
                          </a:solidFill>
                          <a:latin typeface="Arial"/>
                        </a:rPr>
                        <a:t>CC BY 4.0</a:t>
                      </a:r>
                    </a:p>
                  </a:txBody>
                  <a:tcPr marL="64008" marR="64008" marT="32004" marB="32004" anchor="ctr">
                    <a:solidFill>
                      <a:srgbClr val="F8FBFA"/>
                    </a:solidFill>
                  </a:tcPr>
                </a:tc>
                <a:tc>
                  <a:txBody>
                    <a:bodyPr wrap="square"/>
                    <a:lstStyle/>
                    <a:p>
                      <a:r>
                        <a:rPr sz="1300" b="0">
                          <a:solidFill>
                            <a:srgbClr val="1F303A"/>
                          </a:solidFill>
                          <a:latin typeface="Arial"/>
                        </a:rPr>
                        <a:t>Detector • v3</a:t>
                      </a:r>
                    </a:p>
                  </a:txBody>
                  <a:tcPr marL="64008" marR="64008" marT="32004" marB="32004" anchor="ctr">
                    <a:solidFill>
                      <a:srgbClr val="F8FBFA"/>
                    </a:solidFill>
                  </a:tcPr>
                </a:tc>
              </a:tr>
              <a:tr h="475488">
                <a:tc>
                  <a:txBody>
                    <a:bodyPr wrap="square"/>
                    <a:lstStyle/>
                    <a:p>
                      <a:r>
                        <a:rPr sz="1300" b="1">
                          <a:solidFill>
                            <a:srgbClr val="1F303A"/>
                          </a:solidFill>
                          <a:latin typeface="Arial"/>
                        </a:rPr>
                        <a:t>Roboflow pitaya "goodgoodgood"</a:t>
                      </a:r>
                    </a:p>
                  </a:txBody>
                  <a:tcPr marL="64008" marR="64008" marT="32004" marB="32004" anchor="ctr">
                    <a:solidFill>
                      <a:srgbClr val="FFFFFF"/>
                    </a:solidFill>
                  </a:tcPr>
                </a:tc>
                <a:tc>
                  <a:txBody>
                    <a:bodyPr wrap="square"/>
                    <a:lstStyle/>
                    <a:p>
                      <a:r>
                        <a:rPr sz="1300" b="0">
                          <a:solidFill>
                            <a:srgbClr val="1F303A"/>
                          </a:solidFill>
                          <a:latin typeface="Arial"/>
                        </a:rPr>
                        <a:t>992 ảnh hàng thanh long</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Detector • v3</a:t>
                      </a:r>
                    </a:p>
                  </a:txBody>
                  <a:tcPr marL="64008" marR="64008" marT="32004" marB="32004" anchor="ctr">
                    <a:solidFill>
                      <a:srgbClr val="FFFFFF"/>
                    </a:solidFill>
                  </a:tcPr>
                </a:tc>
              </a:tr>
              <a:tr h="475488">
                <a:tc>
                  <a:txBody>
                    <a:bodyPr wrap="square"/>
                    <a:lstStyle/>
                    <a:p>
                      <a:r>
                        <a:rPr sz="1300" b="1">
                          <a:solidFill>
                            <a:srgbClr val="1F303A"/>
                          </a:solidFill>
                          <a:latin typeface="Arial"/>
                        </a:rPr>
                        <a:t>Roboflow ripe-dragon-fruits</a:t>
                      </a:r>
                    </a:p>
                  </a:txBody>
                  <a:tcPr marL="64008" marR="64008" marT="32004" marB="32004" anchor="ctr">
                    <a:solidFill>
                      <a:srgbClr val="F8FBFA"/>
                    </a:solidFill>
                  </a:tcPr>
                </a:tc>
                <a:tc>
                  <a:txBody>
                    <a:bodyPr wrap="square"/>
                    <a:lstStyle/>
                    <a:p>
                      <a:r>
                        <a:rPr sz="1300" b="0">
                          <a:solidFill>
                            <a:srgbClr val="1F303A"/>
                          </a:solidFill>
                          <a:latin typeface="Arial"/>
                        </a:rPr>
                        <a:t>97 ảnh cả trụ thanh long</a:t>
                      </a:r>
                    </a:p>
                  </a:txBody>
                  <a:tcPr marL="64008" marR="64008" marT="32004" marB="32004" anchor="ctr">
                    <a:solidFill>
                      <a:srgbClr val="F8FBFA"/>
                    </a:solidFill>
                  </a:tcPr>
                </a:tc>
                <a:tc>
                  <a:txBody>
                    <a:bodyPr wrap="square"/>
                    <a:lstStyle/>
                    <a:p>
                      <a:r>
                        <a:rPr sz="1300" b="0">
                          <a:solidFill>
                            <a:srgbClr val="1F303A"/>
                          </a:solidFill>
                          <a:latin typeface="Arial"/>
                        </a:rPr>
                        <a:t>CC BY 4.0</a:t>
                      </a:r>
                    </a:p>
                  </a:txBody>
                  <a:tcPr marL="64008" marR="64008" marT="32004" marB="32004" anchor="ctr">
                    <a:solidFill>
                      <a:srgbClr val="F8FBFA"/>
                    </a:solidFill>
                  </a:tcPr>
                </a:tc>
                <a:tc>
                  <a:txBody>
                    <a:bodyPr wrap="square"/>
                    <a:lstStyle/>
                    <a:p>
                      <a:r>
                        <a:rPr sz="1300" b="0">
                          <a:solidFill>
                            <a:srgbClr val="1F303A"/>
                          </a:solidFill>
                          <a:latin typeface="Arial"/>
                        </a:rPr>
                        <a:t>Detector • v3</a:t>
                      </a:r>
                    </a:p>
                  </a:txBody>
                  <a:tcPr marL="64008" marR="64008" marT="32004" marB="32004" anchor="ctr">
                    <a:solidFill>
                      <a:srgbClr val="F8FBFA"/>
                    </a:solidFill>
                  </a:tcPr>
                </a:tc>
              </a:tr>
              <a:tr h="475488">
                <a:tc>
                  <a:txBody>
                    <a:bodyPr wrap="square"/>
                    <a:lstStyle/>
                    <a:p>
                      <a:r>
                        <a:rPr sz="1300" b="1">
                          <a:solidFill>
                            <a:srgbClr val="1F303A"/>
                          </a:solidFill>
                          <a:latin typeface="Arial"/>
                        </a:rPr>
                        <a:t>Roboflow thanh-long-detection</a:t>
                      </a:r>
                    </a:p>
                  </a:txBody>
                  <a:tcPr marL="64008" marR="64008" marT="32004" marB="32004" anchor="ctr">
                    <a:solidFill>
                      <a:srgbClr val="FFFFFF"/>
                    </a:solidFill>
                  </a:tcPr>
                </a:tc>
                <a:tc>
                  <a:txBody>
                    <a:bodyPr wrap="square"/>
                    <a:lstStyle/>
                    <a:p>
                      <a:r>
                        <a:rPr sz="1300" b="0">
                          <a:solidFill>
                            <a:srgbClr val="1F303A"/>
                          </a:solidFill>
                          <a:latin typeface="Arial"/>
                        </a:rPr>
                        <a:t>5.534 ảnh; 19 tên lớp lộn xộn</a:t>
                      </a:r>
                    </a:p>
                  </a:txBody>
                  <a:tcPr marL="64008" marR="64008" marT="32004" marB="32004" anchor="ctr">
                    <a:solidFill>
                      <a:srgbClr val="FFFFFF"/>
                    </a:solidFill>
                  </a:tcPr>
                </a:tc>
                <a:tc>
                  <a:txBody>
                    <a:bodyPr wrap="square"/>
                    <a:lstStyle/>
                    <a:p>
                      <a:r>
                        <a:rPr sz="1300" b="0">
                          <a:solidFill>
                            <a:srgbClr val="1F303A"/>
                          </a:solidFill>
                          <a:latin typeface="Arial"/>
                        </a:rPr>
                        <a:t>CC BY 4.0</a:t>
                      </a:r>
                    </a:p>
                  </a:txBody>
                  <a:tcPr marL="64008" marR="64008" marT="32004" marB="32004" anchor="ctr">
                    <a:solidFill>
                      <a:srgbClr val="FFFFFF"/>
                    </a:solidFill>
                  </a:tcPr>
                </a:tc>
                <a:tc>
                  <a:txBody>
                    <a:bodyPr wrap="square"/>
                    <a:lstStyle/>
                    <a:p>
                      <a:r>
                        <a:rPr sz="1300" b="0">
                          <a:solidFill>
                            <a:srgbClr val="1F303A"/>
                          </a:solidFill>
                          <a:latin typeface="Arial"/>
                        </a:rPr>
                        <a:t>Detector • v4 (C: giới hạn 600)</a:t>
                      </a:r>
                    </a:p>
                  </a:txBody>
                  <a:tcPr marL="64008" marR="64008" marT="32004" marB="32004" anchor="ctr">
                    <a:solidFill>
                      <a:srgbClr val="FFFFFF"/>
                    </a:solidFill>
                  </a:tcPr>
                </a:tc>
              </a:tr>
              <a:tr h="475488">
                <a:tc>
                  <a:txBody>
                    <a:bodyPr wrap="square"/>
                    <a:lstStyle/>
                    <a:p>
                      <a:r>
                        <a:rPr sz="1300" b="1">
                          <a:solidFill>
                            <a:srgbClr val="1F303A"/>
                          </a:solidFill>
                          <a:latin typeface="Arial"/>
                        </a:rPr>
                        <a:t>10 nguồn ảnh âm tính</a:t>
                      </a:r>
                    </a:p>
                  </a:txBody>
                  <a:tcPr marL="64008" marR="64008" marT="32004" marB="32004" anchor="ctr">
                    <a:solidFill>
                      <a:srgbClr val="F8FBFA"/>
                    </a:solidFill>
                  </a:tcPr>
                </a:tc>
                <a:tc>
                  <a:txBody>
                    <a:bodyPr wrap="square"/>
                    <a:lstStyle/>
                    <a:p>
                      <a:r>
                        <a:rPr sz="1300" b="0">
                          <a:solidFill>
                            <a:srgbClr val="1F303A"/>
                          </a:solidFill>
                          <a:latin typeface="Arial"/>
                        </a:rPr>
                        <a:t>1.428 ảnh vải, chôm chôm, lựu, táo, cà chua, hoa thanh long</a:t>
                      </a:r>
                    </a:p>
                  </a:txBody>
                  <a:tcPr marL="64008" marR="64008" marT="32004" marB="32004" anchor="ctr">
                    <a:solidFill>
                      <a:srgbClr val="F8FBFA"/>
                    </a:solidFill>
                  </a:tcPr>
                </a:tc>
                <a:tc>
                  <a:txBody>
                    <a:bodyPr wrap="square"/>
                    <a:lstStyle/>
                    <a:p>
                      <a:r>
                        <a:rPr sz="1300" b="0">
                          <a:solidFill>
                            <a:srgbClr val="1F303A"/>
                          </a:solidFill>
                          <a:latin typeface="Arial"/>
                        </a:rPr>
                        <a:t>CC BY / MIT</a:t>
                      </a:r>
                    </a:p>
                  </a:txBody>
                  <a:tcPr marL="64008" marR="64008" marT="32004" marB="32004" anchor="ctr">
                    <a:solidFill>
                      <a:srgbClr val="F8FBFA"/>
                    </a:solidFill>
                  </a:tcPr>
                </a:tc>
                <a:tc>
                  <a:txBody>
                    <a:bodyPr wrap="square"/>
                    <a:lstStyle/>
                    <a:p>
                      <a:r>
                        <a:rPr sz="1300" b="0">
                          <a:solidFill>
                            <a:srgbClr val="1F303A"/>
                          </a:solidFill>
                          <a:latin typeface="Arial"/>
                        </a:rPr>
                        <a:t>Ảnh không có quả • v4</a:t>
                      </a:r>
                    </a:p>
                  </a:txBody>
                  <a:tcPr marL="64008" marR="64008" marT="32004" marB="32004" anchor="ctr">
                    <a:solidFill>
                      <a:srgbClr val="F8FBFA"/>
                    </a:solidFill>
                  </a:tcPr>
                </a:tc>
              </a:tr>
              <a:tr h="475488">
                <a:tc>
                  <a:txBody>
                    <a:bodyPr wrap="square"/>
                    <a:lstStyle/>
                    <a:p>
                      <a:r>
                        <a:rPr sz="1300" b="1">
                          <a:solidFill>
                            <a:srgbClr val="1F303A"/>
                          </a:solidFill>
                          <a:latin typeface="Arial"/>
                        </a:rPr>
                        <a:t>Wikimedia Commons</a:t>
                      </a:r>
                    </a:p>
                  </a:txBody>
                  <a:tcPr marL="64008" marR="64008" marT="32004" marB="32004" anchor="ctr">
                    <a:solidFill>
                      <a:srgbClr val="FFFFFF"/>
                    </a:solidFill>
                  </a:tcPr>
                </a:tc>
                <a:tc>
                  <a:txBody>
                    <a:bodyPr wrap="square"/>
                    <a:lstStyle/>
                    <a:p>
                      <a:r>
                        <a:rPr sz="1300" b="0">
                          <a:solidFill>
                            <a:srgbClr val="1F303A"/>
                          </a:solidFill>
                          <a:latin typeface="Arial"/>
                        </a:rPr>
                        <a:t>11 ảnh xoài đỏ/trên cây, tự gán box</a:t>
                      </a:r>
                    </a:p>
                  </a:txBody>
                  <a:tcPr marL="64008" marR="64008" marT="32004" marB="32004" anchor="ctr">
                    <a:solidFill>
                      <a:srgbClr val="FFFFFF"/>
                    </a:solidFill>
                  </a:tcPr>
                </a:tc>
                <a:tc>
                  <a:txBody>
                    <a:bodyPr wrap="square"/>
                    <a:lstStyle/>
                    <a:p>
                      <a:r>
                        <a:rPr sz="1300" b="0">
                          <a:solidFill>
                            <a:srgbClr val="1F303A"/>
                          </a:solidFill>
                          <a:latin typeface="Arial"/>
                        </a:rPr>
                        <a:t>CC0 / BY / BY-SA</a:t>
                      </a:r>
                    </a:p>
                  </a:txBody>
                  <a:tcPr marL="64008" marR="64008" marT="32004" marB="32004" anchor="ctr">
                    <a:solidFill>
                      <a:srgbClr val="FFFFFF"/>
                    </a:solidFill>
                  </a:tcPr>
                </a:tc>
                <a:tc>
                  <a:txBody>
                    <a:bodyPr wrap="square"/>
                    <a:lstStyle/>
                    <a:p>
                      <a:r>
                        <a:rPr sz="1300" b="0">
                          <a:solidFill>
                            <a:srgbClr val="1F303A"/>
                          </a:solidFill>
                          <a:latin typeface="Arial"/>
                        </a:rPr>
                        <a:t>Detector • recovery C</a:t>
                      </a:r>
                    </a:p>
                  </a:txBody>
                  <a:tcPr marL="64008" marR="64008" marT="32004" marB="32004" anchor="ctr">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LÀM SẠCH DỮ LIỆU</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28/09: những lỗi dữ liệu đã tìm và sửa</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17</a:t>
            </a:r>
          </a:p>
        </p:txBody>
      </p:sp>
      <p:sp>
        <p:nvSpPr>
          <p:cNvPr id="5" name="Rounded Rectangle 4"/>
          <p:cNvSpPr/>
          <p:nvPr/>
        </p:nvSpPr>
        <p:spPr>
          <a:xfrm>
            <a:off x="548640" y="1280160"/>
            <a:ext cx="5449824"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5047488"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Polygon đọc thành box</a:t>
            </a:r>
          </a:p>
        </p:txBody>
      </p:sp>
      <p:sp>
        <p:nvSpPr>
          <p:cNvPr id="7" name="TextBox 6"/>
          <p:cNvSpPr txBox="1"/>
          <p:nvPr/>
        </p:nvSpPr>
        <p:spPr>
          <a:xfrm>
            <a:off x="749808" y="1920239"/>
            <a:ext cx="5047488" cy="10515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Đổi mỗi polygon thành box bao ngoài; kiểm tra tọa độ trong [0,1]; bỏ box diện tích 0.</a:t>
            </a:r>
          </a:p>
        </p:txBody>
      </p:sp>
      <p:sp>
        <p:nvSpPr>
          <p:cNvPr id="8" name="Rounded Rectangle 7"/>
          <p:cNvSpPr/>
          <p:nvPr/>
        </p:nvSpPr>
        <p:spPr>
          <a:xfrm>
            <a:off x="6190488" y="1280160"/>
            <a:ext cx="5449824"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91655" y="1463039"/>
            <a:ext cx="5047488"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Nhãn thanh long nhiễu</a:t>
            </a:r>
          </a:p>
        </p:txBody>
      </p:sp>
      <p:sp>
        <p:nvSpPr>
          <p:cNvPr id="10" name="TextBox 9"/>
          <p:cNvSpPr txBox="1"/>
          <p:nvPr/>
        </p:nvSpPr>
        <p:spPr>
          <a:xfrm>
            <a:off x="6391655" y="1920239"/>
            <a:ext cx="5047488" cy="10515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145 nhãn mâu thuẫn với nguồn, 703 box &lt; 1% ảnh; cuống xanh gán Unripe, mảnh vụn gán Rotten → chỉ giữ quả nổi bật, crop ≥ 64 px.</a:t>
            </a:r>
          </a:p>
        </p:txBody>
      </p:sp>
      <p:sp>
        <p:nvSpPr>
          <p:cNvPr id="11" name="Rounded Rectangle 10"/>
          <p:cNvSpPr/>
          <p:nvPr/>
        </p:nvSpPr>
        <p:spPr>
          <a:xfrm>
            <a:off x="548640" y="3218688"/>
            <a:ext cx="5449824"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401568"/>
            <a:ext cx="5047488"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Thiếu ảnh ngoài vườn</a:t>
            </a:r>
          </a:p>
        </p:txBody>
      </p:sp>
      <p:sp>
        <p:nvSpPr>
          <p:cNvPr id="13" name="TextBox 12"/>
          <p:cNvSpPr txBox="1"/>
          <p:nvPr/>
        </p:nvSpPr>
        <p:spPr>
          <a:xfrm>
            <a:off x="749808" y="3858768"/>
            <a:ext cx="5047488" cy="10515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Thêm DF pose v2 (2.448 frame) và MangoFruitBD (1.070 ảnh); frame cùng một video luôn nằm chung một tập.</a:t>
            </a:r>
          </a:p>
        </p:txBody>
      </p:sp>
      <p:sp>
        <p:nvSpPr>
          <p:cNvPr id="14" name="Rounded Rectangle 13"/>
          <p:cNvSpPr/>
          <p:nvPr/>
        </p:nvSpPr>
        <p:spPr>
          <a:xfrm>
            <a:off x="6190488" y="3218688"/>
            <a:ext cx="5449824"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1655" y="3401568"/>
            <a:ext cx="5047488"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Thiếu quả hỏng thật</a:t>
            </a:r>
          </a:p>
        </p:txBody>
      </p:sp>
      <p:sp>
        <p:nvSpPr>
          <p:cNvPr id="16" name="TextBox 15"/>
          <p:cNvSpPr txBox="1"/>
          <p:nvPr/>
        </p:nvSpPr>
        <p:spPr>
          <a:xfrm>
            <a:off x="6391655" y="3858768"/>
            <a:ext cx="5047488" cy="10515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Black_Rot: 675 file → 270 ảnh duy nhất (bỏ 405 bản sao), gom 3 cặp chụp cùng quả.</a:t>
            </a:r>
          </a:p>
        </p:txBody>
      </p:sp>
      <p:sp>
        <p:nvSpPr>
          <p:cNvPr id="17" name="Rounded Rectangle 16"/>
          <p:cNvSpPr/>
          <p:nvPr/>
        </p:nvSpPr>
        <p:spPr>
          <a:xfrm>
            <a:off x="548640" y="5257800"/>
            <a:ext cx="11091672" cy="86868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349240"/>
            <a:ext cx="10634472" cy="685800"/>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Cổng sẵn sàng: mỗi lớp cần ≥ 80 nhóm ảnh gốc ở train và ≥ 20 ở val/calib/test, nếu không script từ chối huấn luyện. Kết quả maturity_v2: detector 10.438 ảnh, classifier xoài 2.534 crop, thanh long 1.416 crop; 22 test pass.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PHIÊN BẢN DỮ LIỆU</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9 phiên bản dữ liệu: số ảnh và thay đổi</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18</a:t>
            </a:r>
          </a:p>
        </p:txBody>
      </p:sp>
      <p:graphicFrame>
        <p:nvGraphicFramePr>
          <p:cNvPr id="5" name="Table 4"/>
          <p:cNvGraphicFramePr>
            <a:graphicFrameLocks noGrp="1"/>
          </p:cNvGraphicFramePr>
          <p:nvPr/>
        </p:nvGraphicFramePr>
        <p:xfrm>
          <a:off x="548640" y="1234440"/>
          <a:ext cx="11091670" cy="4572000"/>
        </p:xfrm>
        <a:graphic>
          <a:graphicData uri="http://schemas.openxmlformats.org/drawingml/2006/table">
            <a:tbl>
              <a:tblPr firstRow="1" bandRow="1">
                <a:tableStyleId>{5C22544A-7EE6-4342-B048-85BDC9FD1C3A}</a:tableStyleId>
              </a:tblPr>
              <a:tblGrid>
                <a:gridCol w="2468880"/>
                <a:gridCol w="777239"/>
                <a:gridCol w="2057399"/>
                <a:gridCol w="5788152"/>
              </a:tblGrid>
              <a:tr h="457200">
                <a:tc>
                  <a:txBody>
                    <a:bodyPr wrap="square"/>
                    <a:lstStyle/>
                    <a:p>
                      <a:r>
                        <a:rPr sz="1300" b="1">
                          <a:solidFill>
                            <a:srgbClr val="FFFFFF"/>
                          </a:solidFill>
                          <a:latin typeface="Arial"/>
                        </a:rPr>
                        <a:t>Phiên bản</a:t>
                      </a:r>
                    </a:p>
                  </a:txBody>
                  <a:tcPr marL="64008" marR="64008" marT="32004" marB="32004" anchor="ctr">
                    <a:solidFill>
                      <a:srgbClr val="0F2331"/>
                    </a:solidFill>
                  </a:tcPr>
                </a:tc>
                <a:tc>
                  <a:txBody>
                    <a:bodyPr wrap="square"/>
                    <a:lstStyle/>
                    <a:p>
                      <a:r>
                        <a:rPr sz="1300" b="1">
                          <a:solidFill>
                            <a:srgbClr val="FFFFFF"/>
                          </a:solidFill>
                          <a:latin typeface="Arial"/>
                        </a:rPr>
                        <a:t>Ngày</a:t>
                      </a:r>
                    </a:p>
                  </a:txBody>
                  <a:tcPr marL="64008" marR="64008" marT="32004" marB="32004" anchor="ctr">
                    <a:solidFill>
                      <a:srgbClr val="0F2331"/>
                    </a:solidFill>
                  </a:tcPr>
                </a:tc>
                <a:tc>
                  <a:txBody>
                    <a:bodyPr wrap="square"/>
                    <a:lstStyle/>
                    <a:p>
                      <a:r>
                        <a:rPr sz="1300" b="1">
                          <a:solidFill>
                            <a:srgbClr val="FFFFFF"/>
                          </a:solidFill>
                          <a:latin typeface="Arial"/>
                        </a:rPr>
                        <a:t>Detector train/val/test</a:t>
                      </a:r>
                    </a:p>
                  </a:txBody>
                  <a:tcPr marL="64008" marR="64008" marT="32004" marB="32004" anchor="ctr">
                    <a:solidFill>
                      <a:srgbClr val="0F2331"/>
                    </a:solidFill>
                  </a:tcPr>
                </a:tc>
                <a:tc>
                  <a:txBody>
                    <a:bodyPr wrap="square"/>
                    <a:lstStyle/>
                    <a:p>
                      <a:r>
                        <a:rPr sz="1300" b="1">
                          <a:solidFill>
                            <a:srgbClr val="FFFFFF"/>
                          </a:solidFill>
                          <a:latin typeface="Arial"/>
                        </a:rPr>
                        <a:t>Thay đổi chính và lý do</a:t>
                      </a:r>
                    </a:p>
                  </a:txBody>
                  <a:tcPr marL="64008" marR="64008" marT="32004" marB="32004" anchor="ctr">
                    <a:solidFill>
                      <a:srgbClr val="0F2331"/>
                    </a:solidFill>
                  </a:tcPr>
                </a:tc>
              </a:tr>
              <a:tr h="457200">
                <a:tc>
                  <a:txBody>
                    <a:bodyPr wrap="square"/>
                    <a:lstStyle/>
                    <a:p>
                      <a:r>
                        <a:rPr sz="1300" b="1">
                          <a:solidFill>
                            <a:srgbClr val="1F303A"/>
                          </a:solidFill>
                          <a:latin typeface="Arial"/>
                        </a:rPr>
                        <a:t>two_stage_public</a:t>
                      </a:r>
                    </a:p>
                  </a:txBody>
                  <a:tcPr marL="64008" marR="64008" marT="32004" marB="32004" anchor="ctr">
                    <a:solidFill>
                      <a:srgbClr val="FFFFFF"/>
                    </a:solidFill>
                  </a:tcPr>
                </a:tc>
                <a:tc>
                  <a:txBody>
                    <a:bodyPr wrap="square"/>
                    <a:lstStyle/>
                    <a:p>
                      <a:r>
                        <a:rPr sz="1300" b="0">
                          <a:solidFill>
                            <a:srgbClr val="1F303A"/>
                          </a:solidFill>
                          <a:latin typeface="Arial"/>
                        </a:rPr>
                        <a:t>24/09</a:t>
                      </a:r>
                    </a:p>
                  </a:txBody>
                  <a:tcPr marL="64008" marR="64008" marT="32004" marB="32004" anchor="ctr">
                    <a:solidFill>
                      <a:srgbClr val="FFFFFF"/>
                    </a:solidFill>
                  </a:tcPr>
                </a:tc>
                <a:tc>
                  <a:txBody>
                    <a:bodyPr wrap="square"/>
                    <a:lstStyle/>
                    <a:p>
                      <a:r>
                        <a:rPr sz="1300" b="0">
                          <a:solidFill>
                            <a:srgbClr val="1F303A"/>
                          </a:solidFill>
                          <a:latin typeface="Arial"/>
                        </a:rPr>
                        <a:t>1.570 / 354 / 342</a:t>
                      </a:r>
                    </a:p>
                  </a:txBody>
                  <a:tcPr marL="64008" marR="64008" marT="32004" marB="32004" anchor="ctr">
                    <a:solidFill>
                      <a:srgbClr val="FFFFFF"/>
                    </a:solidFill>
                  </a:tcPr>
                </a:tc>
                <a:tc>
                  <a:txBody>
                    <a:bodyPr wrap="square"/>
                    <a:lstStyle/>
                    <a:p>
                      <a:r>
                        <a:rPr sz="1300" b="0">
                          <a:solidFill>
                            <a:srgbClr val="1F303A"/>
                          </a:solidFill>
                          <a:latin typeface="Arial"/>
                        </a:rPr>
                        <a:t>Chỉ có box xoài; lỗi polygon chưa phát hiện</a:t>
                      </a:r>
                    </a:p>
                  </a:txBody>
                  <a:tcPr marL="64008" marR="64008" marT="32004" marB="32004" anchor="ctr">
                    <a:solidFill>
                      <a:srgbClr val="FFFFFF"/>
                    </a:solidFill>
                  </a:tcPr>
                </a:tc>
              </a:tr>
              <a:tr h="457200">
                <a:tc>
                  <a:txBody>
                    <a:bodyPr wrap="square"/>
                    <a:lstStyle/>
                    <a:p>
                      <a:r>
                        <a:rPr sz="1300" b="1">
                          <a:solidFill>
                            <a:srgbClr val="1F303A"/>
                          </a:solidFill>
                          <a:latin typeface="Arial"/>
                        </a:rPr>
                        <a:t>orchard_v1</a:t>
                      </a:r>
                    </a:p>
                  </a:txBody>
                  <a:tcPr marL="64008" marR="64008" marT="32004" marB="32004" anchor="ctr">
                    <a:solidFill>
                      <a:srgbClr val="F8FBFA"/>
                    </a:solidFill>
                  </a:tcPr>
                </a:tc>
                <a:tc>
                  <a:txBody>
                    <a:bodyPr wrap="square"/>
                    <a:lstStyle/>
                    <a:p>
                      <a:r>
                        <a:rPr sz="1300" b="0">
                          <a:solidFill>
                            <a:srgbClr val="1F303A"/>
                          </a:solidFill>
                          <a:latin typeface="Arial"/>
                        </a:rPr>
                        <a:t>28/09</a:t>
                      </a:r>
                    </a:p>
                  </a:txBody>
                  <a:tcPr marL="64008" marR="64008" marT="32004" marB="32004" anchor="ctr">
                    <a:solidFill>
                      <a:srgbClr val="F8FBFA"/>
                    </a:solidFill>
                  </a:tcPr>
                </a:tc>
                <a:tc>
                  <a:txBody>
                    <a:bodyPr wrap="square"/>
                    <a:lstStyle/>
                    <a:p>
                      <a:r>
                        <a:rPr sz="1300" b="0">
                          <a:solidFill>
                            <a:srgbClr val="1F303A"/>
                          </a:solidFill>
                          <a:latin typeface="Arial"/>
                        </a:rPr>
                        <a:t>7.522 / 1.610 / 1.663</a:t>
                      </a:r>
                    </a:p>
                  </a:txBody>
                  <a:tcPr marL="64008" marR="64008" marT="32004" marB="32004" anchor="ctr">
                    <a:solidFill>
                      <a:srgbClr val="F8FBFA"/>
                    </a:solidFill>
                  </a:tcPr>
                </a:tc>
                <a:tc>
                  <a:txBody>
                    <a:bodyPr wrap="square"/>
                    <a:lstStyle/>
                    <a:p>
                      <a:r>
                        <a:rPr sz="1300" b="0">
                          <a:solidFill>
                            <a:srgbClr val="1F303A"/>
                          </a:solidFill>
                          <a:latin typeface="Arial"/>
                        </a:rPr>
                        <a:t>Thêm DF pose, MangoFruitBD; chia frame theo video</a:t>
                      </a:r>
                    </a:p>
                  </a:txBody>
                  <a:tcPr marL="64008" marR="64008" marT="32004" marB="32004" anchor="ctr">
                    <a:solidFill>
                      <a:srgbClr val="F8FBFA"/>
                    </a:solidFill>
                  </a:tcPr>
                </a:tc>
              </a:tr>
              <a:tr h="457200">
                <a:tc>
                  <a:txBody>
                    <a:bodyPr wrap="square"/>
                    <a:lstStyle/>
                    <a:p>
                      <a:r>
                        <a:rPr sz="1300" b="1">
                          <a:solidFill>
                            <a:srgbClr val="1F303A"/>
                          </a:solidFill>
                          <a:latin typeface="Arial"/>
                        </a:rPr>
                        <a:t>maturity_v2</a:t>
                      </a:r>
                    </a:p>
                  </a:txBody>
                  <a:tcPr marL="64008" marR="64008" marT="32004" marB="32004" anchor="ctr">
                    <a:solidFill>
                      <a:srgbClr val="FFFFFF"/>
                    </a:solidFill>
                  </a:tcPr>
                </a:tc>
                <a:tc>
                  <a:txBody>
                    <a:bodyPr wrap="square"/>
                    <a:lstStyle/>
                    <a:p>
                      <a:r>
                        <a:rPr sz="1300" b="0">
                          <a:solidFill>
                            <a:srgbClr val="1F303A"/>
                          </a:solidFill>
                          <a:latin typeface="Arial"/>
                        </a:rPr>
                        <a:t>28/09</a:t>
                      </a:r>
                    </a:p>
                  </a:txBody>
                  <a:tcPr marL="64008" marR="64008" marT="32004" marB="32004" anchor="ctr">
                    <a:solidFill>
                      <a:srgbClr val="FFFFFF"/>
                    </a:solidFill>
                  </a:tcPr>
                </a:tc>
                <a:tc>
                  <a:txBody>
                    <a:bodyPr wrap="square"/>
                    <a:lstStyle/>
                    <a:p>
                      <a:r>
                        <a:rPr sz="1300" b="0">
                          <a:solidFill>
                            <a:srgbClr val="1F303A"/>
                          </a:solidFill>
                          <a:latin typeface="Arial"/>
                        </a:rPr>
                        <a:t>7.272 / 1.556 / 1.610</a:t>
                      </a:r>
                    </a:p>
                  </a:txBody>
                  <a:tcPr marL="64008" marR="64008" marT="32004" marB="32004" anchor="ctr">
                    <a:solidFill>
                      <a:srgbClr val="FFFFFF"/>
                    </a:solidFill>
                  </a:tcPr>
                </a:tc>
                <a:tc>
                  <a:txBody>
                    <a:bodyPr wrap="square"/>
                    <a:lstStyle/>
                    <a:p>
                      <a:r>
                        <a:rPr sz="1300" b="0">
                          <a:solidFill>
                            <a:srgbClr val="1F303A"/>
                          </a:solidFill>
                          <a:latin typeface="Arial"/>
                        </a:rPr>
                        <a:t>Rà thanh long; cách ly 1.406 nhãn Fresh/Defect; Black_Rot</a:t>
                      </a:r>
                    </a:p>
                  </a:txBody>
                  <a:tcPr marL="64008" marR="64008" marT="32004" marB="32004" anchor="ctr">
                    <a:solidFill>
                      <a:srgbClr val="FFFFFF"/>
                    </a:solidFill>
                  </a:tcPr>
                </a:tc>
              </a:tr>
              <a:tr h="457200">
                <a:tc>
                  <a:txBody>
                    <a:bodyPr wrap="square"/>
                    <a:lstStyle/>
                    <a:p>
                      <a:r>
                        <a:rPr sz="1300" b="1">
                          <a:solidFill>
                            <a:srgbClr val="1F303A"/>
                          </a:solidFill>
                          <a:latin typeface="Arial"/>
                        </a:rPr>
                        <a:t>maturity_v3 ✔</a:t>
                      </a:r>
                    </a:p>
                  </a:txBody>
                  <a:tcPr marL="64008" marR="64008" marT="32004" marB="32004" anchor="ctr">
                    <a:solidFill>
                      <a:srgbClr val="DAF3E6"/>
                    </a:solidFill>
                  </a:tcPr>
                </a:tc>
                <a:tc>
                  <a:txBody>
                    <a:bodyPr wrap="square"/>
                    <a:lstStyle/>
                    <a:p>
                      <a:r>
                        <a:rPr sz="1300" b="0">
                          <a:solidFill>
                            <a:srgbClr val="1F303A"/>
                          </a:solidFill>
                          <a:latin typeface="Arial"/>
                        </a:rPr>
                        <a:t>29/09</a:t>
                      </a:r>
                    </a:p>
                  </a:txBody>
                  <a:tcPr marL="64008" marR="64008" marT="32004" marB="32004" anchor="ctr">
                    <a:solidFill>
                      <a:srgbClr val="DAF3E6"/>
                    </a:solidFill>
                  </a:tcPr>
                </a:tc>
                <a:tc>
                  <a:txBody>
                    <a:bodyPr wrap="square"/>
                    <a:lstStyle/>
                    <a:p>
                      <a:r>
                        <a:rPr sz="1300" b="0">
                          <a:solidFill>
                            <a:srgbClr val="1F303A"/>
                          </a:solidFill>
                          <a:latin typeface="Arial"/>
                        </a:rPr>
                        <a:t>9.231 / 1.972 / 2.037</a:t>
                      </a:r>
                    </a:p>
                  </a:txBody>
                  <a:tcPr marL="64008" marR="64008" marT="32004" marB="32004" anchor="ctr">
                    <a:solidFill>
                      <a:srgbClr val="DAF3E6"/>
                    </a:solidFill>
                  </a:tcPr>
                </a:tc>
                <a:tc>
                  <a:txBody>
                    <a:bodyPr wrap="square"/>
                    <a:lstStyle/>
                    <a:p>
                      <a:r>
                        <a:rPr sz="1300" b="0">
                          <a:solidFill>
                            <a:srgbClr val="1F303A"/>
                          </a:solidFill>
                          <a:latin typeface="Arial"/>
                        </a:rPr>
                        <a:t>+2.802 ảnh cả cây; lớp xoài theo hình thức — bản đang dùng</a:t>
                      </a:r>
                    </a:p>
                  </a:txBody>
                  <a:tcPr marL="64008" marR="64008" marT="32004" marB="32004" anchor="ctr">
                    <a:solidFill>
                      <a:srgbClr val="DAF3E6"/>
                    </a:solidFill>
                  </a:tcPr>
                </a:tc>
              </a:tr>
              <a:tr h="457200">
                <a:tc>
                  <a:txBody>
                    <a:bodyPr wrap="square"/>
                    <a:lstStyle/>
                    <a:p>
                      <a:r>
                        <a:rPr sz="1300" b="1">
                          <a:solidFill>
                            <a:srgbClr val="1F303A"/>
                          </a:solidFill>
                          <a:latin typeface="Arial"/>
                        </a:rPr>
                        <a:t>detector_v4</a:t>
                      </a:r>
                    </a:p>
                  </a:txBody>
                  <a:tcPr marL="64008" marR="64008" marT="32004" marB="32004" anchor="ctr">
                    <a:solidFill>
                      <a:srgbClr val="FFFFFF"/>
                    </a:solidFill>
                  </a:tcPr>
                </a:tc>
                <a:tc>
                  <a:txBody>
                    <a:bodyPr wrap="square"/>
                    <a:lstStyle/>
                    <a:p>
                      <a:r>
                        <a:rPr sz="1300" b="0">
                          <a:solidFill>
                            <a:srgbClr val="1F303A"/>
                          </a:solidFill>
                          <a:latin typeface="Arial"/>
                        </a:rPr>
                        <a:t>30/09</a:t>
                      </a:r>
                    </a:p>
                  </a:txBody>
                  <a:tcPr marL="64008" marR="64008" marT="32004" marB="32004" anchor="ctr">
                    <a:solidFill>
                      <a:srgbClr val="FFFFFF"/>
                    </a:solidFill>
                  </a:tcPr>
                </a:tc>
                <a:tc>
                  <a:txBody>
                    <a:bodyPr wrap="square"/>
                    <a:lstStyle/>
                    <a:p>
                      <a:r>
                        <a:rPr sz="1300" b="0">
                          <a:solidFill>
                            <a:srgbClr val="1F303A"/>
                          </a:solidFill>
                          <a:latin typeface="Arial"/>
                        </a:rPr>
                        <a:t>14.094 / 3.016 / 3.077</a:t>
                      </a:r>
                    </a:p>
                  </a:txBody>
                  <a:tcPr marL="64008" marR="64008" marT="32004" marB="32004" anchor="ctr">
                    <a:solidFill>
                      <a:srgbClr val="FFFFFF"/>
                    </a:solidFill>
                  </a:tcPr>
                </a:tc>
                <a:tc>
                  <a:txBody>
                    <a:bodyPr wrap="square"/>
                    <a:lstStyle/>
                    <a:p>
                      <a:r>
                        <a:rPr sz="1300" b="0">
                          <a:solidFill>
                            <a:srgbClr val="1F303A"/>
                          </a:solidFill>
                          <a:latin typeface="Arial"/>
                        </a:rPr>
                        <a:t>+5.534 thanh-long, +1.428 ảnh âm tính; 3 ảnh test rò rỉ</a:t>
                      </a:r>
                    </a:p>
                  </a:txBody>
                  <a:tcPr marL="64008" marR="64008" marT="32004" marB="32004" anchor="ctr">
                    <a:solidFill>
                      <a:srgbClr val="FFFFFF"/>
                    </a:solidFill>
                  </a:tcPr>
                </a:tc>
              </a:tr>
              <a:tr h="457200">
                <a:tc>
                  <a:txBody>
                    <a:bodyPr wrap="square"/>
                    <a:lstStyle/>
                    <a:p>
                      <a:r>
                        <a:rPr sz="1300" b="1">
                          <a:solidFill>
                            <a:srgbClr val="1F303A"/>
                          </a:solidFill>
                          <a:latin typeface="Arial"/>
                        </a:rPr>
                        <a:t>v5_audit (A)</a:t>
                      </a:r>
                    </a:p>
                  </a:txBody>
                  <a:tcPr marL="64008" marR="64008" marT="32004" marB="32004" anchor="ctr">
                    <a:solidFill>
                      <a:srgbClr val="F8FBFA"/>
                    </a:solidFill>
                  </a:tcPr>
                </a:tc>
                <a:tc>
                  <a:txBody>
                    <a:bodyPr wrap="square"/>
                    <a:lstStyle/>
                    <a:p>
                      <a:r>
                        <a:rPr sz="1300" b="0">
                          <a:solidFill>
                            <a:srgbClr val="1F303A"/>
                          </a:solidFill>
                          <a:latin typeface="Arial"/>
                        </a:rPr>
                        <a:t>02/10</a:t>
                      </a:r>
                    </a:p>
                  </a:txBody>
                  <a:tcPr marL="64008" marR="64008" marT="32004" marB="32004" anchor="ctr">
                    <a:solidFill>
                      <a:srgbClr val="F8FBFA"/>
                    </a:solidFill>
                  </a:tcPr>
                </a:tc>
                <a:tc>
                  <a:txBody>
                    <a:bodyPr wrap="square"/>
                    <a:lstStyle/>
                    <a:p>
                      <a:r>
                        <a:rPr sz="1300" b="0">
                          <a:solidFill>
                            <a:srgbClr val="1F303A"/>
                          </a:solidFill>
                          <a:latin typeface="Arial"/>
                        </a:rPr>
                        <a:t>13.551 / 2.735 / 2.819</a:t>
                      </a:r>
                    </a:p>
                  </a:txBody>
                  <a:tcPr marL="64008" marR="64008" marT="32004" marB="32004" anchor="ctr">
                    <a:solidFill>
                      <a:srgbClr val="F8FBFA"/>
                    </a:solidFill>
                  </a:tcPr>
                </a:tc>
                <a:tc>
                  <a:txBody>
                    <a:bodyPr wrap="square"/>
                    <a:lstStyle/>
                    <a:p>
                      <a:r>
                        <a:rPr sz="1300" b="0">
                          <a:solidFill>
                            <a:srgbClr val="1F303A"/>
                          </a:solidFill>
                          <a:latin typeface="Arial"/>
                        </a:rPr>
                        <a:t>Cách ly 1.082 ảnh có split/nhãn mâu thuẫn</a:t>
                      </a:r>
                    </a:p>
                  </a:txBody>
                  <a:tcPr marL="64008" marR="64008" marT="32004" marB="32004" anchor="ctr">
                    <a:solidFill>
                      <a:srgbClr val="F8FBFA"/>
                    </a:solidFill>
                  </a:tcPr>
                </a:tc>
              </a:tr>
              <a:tr h="457200">
                <a:tc>
                  <a:txBody>
                    <a:bodyPr wrap="square"/>
                    <a:lstStyle/>
                    <a:p>
                      <a:r>
                        <a:rPr sz="1300" b="1">
                          <a:solidFill>
                            <a:srgbClr val="1F303A"/>
                          </a:solidFill>
                          <a:latin typeface="Arial"/>
                        </a:rPr>
                        <a:t>v5 không âm tính giống (B)</a:t>
                      </a:r>
                    </a:p>
                  </a:txBody>
                  <a:tcPr marL="64008" marR="64008" marT="32004" marB="32004" anchor="ctr">
                    <a:solidFill>
                      <a:srgbClr val="FFFFFF"/>
                    </a:solidFill>
                  </a:tcPr>
                </a:tc>
                <a:tc>
                  <a:txBody>
                    <a:bodyPr wrap="square"/>
                    <a:lstStyle/>
                    <a:p>
                      <a:r>
                        <a:rPr sz="1300" b="0">
                          <a:solidFill>
                            <a:srgbClr val="1F303A"/>
                          </a:solidFill>
                          <a:latin typeface="Arial"/>
                        </a:rPr>
                        <a:t>02/10</a:t>
                      </a:r>
                    </a:p>
                  </a:txBody>
                  <a:tcPr marL="64008" marR="64008" marT="32004" marB="32004" anchor="ctr">
                    <a:solidFill>
                      <a:srgbClr val="FFFFFF"/>
                    </a:solidFill>
                  </a:tcPr>
                </a:tc>
                <a:tc>
                  <a:txBody>
                    <a:bodyPr wrap="square"/>
                    <a:lstStyle/>
                    <a:p>
                      <a:r>
                        <a:rPr sz="1300" b="0">
                          <a:solidFill>
                            <a:srgbClr val="1F303A"/>
                          </a:solidFill>
                          <a:latin typeface="Arial"/>
                        </a:rPr>
                        <a:t>13.278 / 2.735 / 2.819</a:t>
                      </a:r>
                    </a:p>
                  </a:txBody>
                  <a:tcPr marL="64008" marR="64008" marT="32004" marB="32004" anchor="ctr">
                    <a:solidFill>
                      <a:srgbClr val="FFFFFF"/>
                    </a:solidFill>
                  </a:tcPr>
                </a:tc>
                <a:tc>
                  <a:txBody>
                    <a:bodyPr wrap="square"/>
                    <a:lstStyle/>
                    <a:p>
                      <a:r>
                        <a:rPr sz="1300" b="0">
                          <a:solidFill>
                            <a:srgbClr val="1F303A"/>
                          </a:solidFill>
                          <a:latin typeface="Arial"/>
                        </a:rPr>
                        <a:t>A bỏ 273 ảnh táo/lựu/cà chua</a:t>
                      </a:r>
                    </a:p>
                  </a:txBody>
                  <a:tcPr marL="64008" marR="64008" marT="32004" marB="32004" anchor="ctr">
                    <a:solidFill>
                      <a:srgbClr val="FFFFFF"/>
                    </a:solidFill>
                  </a:tcPr>
                </a:tc>
              </a:tr>
              <a:tr h="457200">
                <a:tc>
                  <a:txBody>
                    <a:bodyPr wrap="square"/>
                    <a:lstStyle/>
                    <a:p>
                      <a:r>
                        <a:rPr sz="1300" b="1">
                          <a:solidFill>
                            <a:srgbClr val="1F303A"/>
                          </a:solidFill>
                          <a:latin typeface="Arial"/>
                        </a:rPr>
                        <a:t>v5_label_review</a:t>
                      </a:r>
                    </a:p>
                  </a:txBody>
                  <a:tcPr marL="64008" marR="64008" marT="32004" marB="32004" anchor="ctr">
                    <a:solidFill>
                      <a:srgbClr val="F8FBFA"/>
                    </a:solidFill>
                  </a:tcPr>
                </a:tc>
                <a:tc>
                  <a:txBody>
                    <a:bodyPr wrap="square"/>
                    <a:lstStyle/>
                    <a:p>
                      <a:r>
                        <a:rPr sz="1300" b="0">
                          <a:solidFill>
                            <a:srgbClr val="1F303A"/>
                          </a:solidFill>
                          <a:latin typeface="Arial"/>
                        </a:rPr>
                        <a:t>02/10</a:t>
                      </a:r>
                    </a:p>
                  </a:txBody>
                  <a:tcPr marL="64008" marR="64008" marT="32004" marB="32004" anchor="ctr">
                    <a:solidFill>
                      <a:srgbClr val="F8FBFA"/>
                    </a:solidFill>
                  </a:tcPr>
                </a:tc>
                <a:tc>
                  <a:txBody>
                    <a:bodyPr wrap="square"/>
                    <a:lstStyle/>
                    <a:p>
                      <a:r>
                        <a:rPr sz="1300" b="0">
                          <a:solidFill>
                            <a:srgbClr val="1F303A"/>
                          </a:solidFill>
                          <a:latin typeface="Arial"/>
                        </a:rPr>
                        <a:t>12.255 / 2.735 / 2.819</a:t>
                      </a:r>
                    </a:p>
                  </a:txBody>
                  <a:tcPr marL="64008" marR="64008" marT="32004" marB="32004" anchor="ctr">
                    <a:solidFill>
                      <a:srgbClr val="F8FBFA"/>
                    </a:solidFill>
                  </a:tcPr>
                </a:tc>
                <a:tc>
                  <a:txBody>
                    <a:bodyPr wrap="square"/>
                    <a:lstStyle/>
                    <a:p>
                      <a:r>
                        <a:rPr sz="1300" b="0">
                          <a:solidFill>
                            <a:srgbClr val="1F303A"/>
                          </a:solidFill>
                          <a:latin typeface="Arial"/>
                        </a:rPr>
                        <a:t>Bỏ 1.604 box trùng; chưa đủ điều kiện huấn luyện</a:t>
                      </a:r>
                    </a:p>
                  </a:txBody>
                  <a:tcPr marL="64008" marR="64008" marT="32004" marB="32004" anchor="ctr">
                    <a:solidFill>
                      <a:srgbClr val="F8FBFA"/>
                    </a:solidFill>
                  </a:tcPr>
                </a:tc>
              </a:tr>
              <a:tr h="457200">
                <a:tc>
                  <a:txBody>
                    <a:bodyPr wrap="square"/>
                    <a:lstStyle/>
                    <a:p>
                      <a:r>
                        <a:rPr sz="1300" b="1">
                          <a:solidFill>
                            <a:srgbClr val="1F303A"/>
                          </a:solidFill>
                          <a:latin typeface="Arial"/>
                        </a:rPr>
                        <a:t>v5_recovery_c (C)</a:t>
                      </a:r>
                    </a:p>
                  </a:txBody>
                  <a:tcPr marL="64008" marR="64008" marT="32004" marB="32004" anchor="ctr">
                    <a:solidFill>
                      <a:srgbClr val="FFFFFF"/>
                    </a:solidFill>
                  </a:tcPr>
                </a:tc>
                <a:tc>
                  <a:txBody>
                    <a:bodyPr wrap="square"/>
                    <a:lstStyle/>
                    <a:p>
                      <a:r>
                        <a:rPr sz="1300" b="0">
                          <a:solidFill>
                            <a:srgbClr val="1F303A"/>
                          </a:solidFill>
                          <a:latin typeface="Arial"/>
                        </a:rPr>
                        <a:t>02/10</a:t>
                      </a:r>
                    </a:p>
                  </a:txBody>
                  <a:tcPr marL="64008" marR="64008" marT="32004" marB="32004" anchor="ctr">
                    <a:solidFill>
                      <a:srgbClr val="FFFFFF"/>
                    </a:solidFill>
                  </a:tcPr>
                </a:tc>
                <a:tc>
                  <a:txBody>
                    <a:bodyPr wrap="square"/>
                    <a:lstStyle/>
                    <a:p>
                      <a:r>
                        <a:rPr sz="1300" b="0">
                          <a:solidFill>
                            <a:srgbClr val="1F303A"/>
                          </a:solidFill>
                          <a:latin typeface="Arial"/>
                        </a:rPr>
                        <a:t>9.183 / 2.735 / 2.819</a:t>
                      </a:r>
                    </a:p>
                  </a:txBody>
                  <a:tcPr marL="64008" marR="64008" marT="32004" marB="32004" anchor="ctr">
                    <a:solidFill>
                      <a:srgbClr val="FFFFFF"/>
                    </a:solidFill>
                  </a:tcPr>
                </a:tc>
                <a:tc>
                  <a:txBody>
                    <a:bodyPr wrap="square"/>
                    <a:lstStyle/>
                    <a:p>
                      <a:r>
                        <a:rPr sz="1300" b="0">
                          <a:solidFill>
                            <a:srgbClr val="1F303A"/>
                          </a:solidFill>
                          <a:latin typeface="Arial"/>
                        </a:rPr>
                        <a:t>50 nhãn sửa ×4, 11 ảnh xoài ×16, thanh-long ≤ 600</a:t>
                      </a:r>
                    </a:p>
                  </a:txBody>
                  <a:tcPr marL="64008" marR="64008" marT="32004" marB="32004"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KIỂM SOÁT DỮ LIỆU</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Quy tắc chất lượng được viết thành code</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19</a:t>
            </a:r>
          </a:p>
        </p:txBody>
      </p:sp>
      <p:sp>
        <p:nvSpPr>
          <p:cNvPr id="5" name="Rounded Rectangle 4"/>
          <p:cNvSpPr/>
          <p:nvPr/>
        </p:nvSpPr>
        <p:spPr>
          <a:xfrm>
            <a:off x="548640" y="126187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81328"/>
            <a:ext cx="3657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1</a:t>
            </a:r>
          </a:p>
        </p:txBody>
      </p:sp>
      <p:sp>
        <p:nvSpPr>
          <p:cNvPr id="7" name="TextBox 6"/>
          <p:cNvSpPr txBox="1"/>
          <p:nvPr/>
        </p:nvSpPr>
        <p:spPr>
          <a:xfrm>
            <a:off x="1280160" y="1353312"/>
            <a:ext cx="246888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Chống rò rỉ</a:t>
            </a:r>
          </a:p>
        </p:txBody>
      </p:sp>
      <p:sp>
        <p:nvSpPr>
          <p:cNvPr id="8" name="TextBox 7"/>
          <p:cNvSpPr txBox="1"/>
          <p:nvPr/>
        </p:nvSpPr>
        <p:spPr>
          <a:xfrm>
            <a:off x="3794760" y="1335024"/>
            <a:ext cx="768096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rf_group_id gom mọi bản ".rf." của một ảnh gốc; assert_no_group_leakage dừng nếu một nhóm nằm ở hai tập</a:t>
            </a:r>
          </a:p>
        </p:txBody>
      </p:sp>
      <p:sp>
        <p:nvSpPr>
          <p:cNvPr id="9" name="Rounded Rectangle 8"/>
          <p:cNvSpPr/>
          <p:nvPr/>
        </p:nvSpPr>
        <p:spPr>
          <a:xfrm>
            <a:off x="548640" y="2084831"/>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304287"/>
            <a:ext cx="365760" cy="274320"/>
          </a:xfrm>
          <a:prstGeom prst="roundRect">
            <a:avLst>
              <a:gd name="adj" fmla="val 12000"/>
            </a:avLst>
          </a:prstGeom>
          <a:solidFill>
            <a:srgbClr val="0F2331"/>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2</a:t>
            </a:r>
          </a:p>
        </p:txBody>
      </p:sp>
      <p:sp>
        <p:nvSpPr>
          <p:cNvPr id="11" name="TextBox 10"/>
          <p:cNvSpPr txBox="1"/>
          <p:nvPr/>
        </p:nvSpPr>
        <p:spPr>
          <a:xfrm>
            <a:off x="1280160" y="2176272"/>
            <a:ext cx="246888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Bản sao gần giống</a:t>
            </a:r>
          </a:p>
        </p:txBody>
      </p:sp>
      <p:sp>
        <p:nvSpPr>
          <p:cNvPr id="12" name="TextBox 11"/>
          <p:cNvSpPr txBox="1"/>
          <p:nvPr/>
        </p:nvSpPr>
        <p:spPr>
          <a:xfrm>
            <a:off x="3794760" y="2157984"/>
            <a:ext cx="768096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dHash 64-bit (cả ảnh lật) lệch ≤ 4 bit + so màu thu nhỏ; cụm có nhãn khác nhau bị cách ly</a:t>
            </a:r>
          </a:p>
        </p:txBody>
      </p:sp>
      <p:sp>
        <p:nvSpPr>
          <p:cNvPr id="13" name="Rounded Rectangle 12"/>
          <p:cNvSpPr/>
          <p:nvPr/>
        </p:nvSpPr>
        <p:spPr>
          <a:xfrm>
            <a:off x="548640" y="2907791"/>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127248"/>
            <a:ext cx="3657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3</a:t>
            </a:r>
          </a:p>
        </p:txBody>
      </p:sp>
      <p:sp>
        <p:nvSpPr>
          <p:cNvPr id="15" name="TextBox 14"/>
          <p:cNvSpPr txBox="1"/>
          <p:nvPr/>
        </p:nvSpPr>
        <p:spPr>
          <a:xfrm>
            <a:off x="1280160" y="2999232"/>
            <a:ext cx="246888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Quả nổi bật</a:t>
            </a:r>
          </a:p>
        </p:txBody>
      </p:sp>
      <p:sp>
        <p:nvSpPr>
          <p:cNvPr id="16" name="TextBox 15"/>
          <p:cNvSpPr txBox="1"/>
          <p:nvPr/>
        </p:nvSpPr>
        <p:spPr>
          <a:xfrm>
            <a:off x="3794760" y="2980944"/>
            <a:ext cx="768096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dominant_fruit: box lớn nhất ≥ 10% ảnh, cạnh ≥ 64 px, tỉ lệ 0,25–4, các box khác nằm trong nó</a:t>
            </a:r>
          </a:p>
        </p:txBody>
      </p:sp>
      <p:sp>
        <p:nvSpPr>
          <p:cNvPr id="17" name="Rounded Rectangle 16"/>
          <p:cNvSpPr/>
          <p:nvPr/>
        </p:nvSpPr>
        <p:spPr>
          <a:xfrm>
            <a:off x="548640" y="373075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950208"/>
            <a:ext cx="365760" cy="274320"/>
          </a:xfrm>
          <a:prstGeom prst="roundRect">
            <a:avLst>
              <a:gd name="adj" fmla="val 12000"/>
            </a:avLst>
          </a:prstGeom>
          <a:solidFill>
            <a:srgbClr val="0F2331"/>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4</a:t>
            </a:r>
          </a:p>
        </p:txBody>
      </p:sp>
      <p:sp>
        <p:nvSpPr>
          <p:cNvPr id="19" name="TextBox 18"/>
          <p:cNvSpPr txBox="1"/>
          <p:nvPr/>
        </p:nvSpPr>
        <p:spPr>
          <a:xfrm>
            <a:off x="1280160" y="3822191"/>
            <a:ext cx="246888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Nhãn đúng nghĩa</a:t>
            </a:r>
          </a:p>
        </p:txBody>
      </p:sp>
      <p:sp>
        <p:nvSpPr>
          <p:cNvPr id="20" name="TextBox 19"/>
          <p:cNvSpPr txBox="1"/>
          <p:nvPr/>
        </p:nvSpPr>
        <p:spPr>
          <a:xfrm>
            <a:off x="3794760" y="3803904"/>
            <a:ext cx="768096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curate_dragon: nhãn box phải khớp nhãn nguồn; Fresh/Defect không bao giờ thành ripe/rotten</a:t>
            </a:r>
          </a:p>
        </p:txBody>
      </p:sp>
      <p:sp>
        <p:nvSpPr>
          <p:cNvPr id="21" name="Rounded Rectangle 20"/>
          <p:cNvSpPr/>
          <p:nvPr/>
        </p:nvSpPr>
        <p:spPr>
          <a:xfrm>
            <a:off x="548640" y="455371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773168"/>
            <a:ext cx="36576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5</a:t>
            </a:r>
          </a:p>
        </p:txBody>
      </p:sp>
      <p:sp>
        <p:nvSpPr>
          <p:cNvPr id="23" name="TextBox 22"/>
          <p:cNvSpPr txBox="1"/>
          <p:nvPr/>
        </p:nvSpPr>
        <p:spPr>
          <a:xfrm>
            <a:off x="1280160" y="4645152"/>
            <a:ext cx="246888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Đủ dữ liệu mới train</a:t>
            </a:r>
          </a:p>
        </p:txBody>
      </p:sp>
      <p:sp>
        <p:nvSpPr>
          <p:cNvPr id="24" name="TextBox 23"/>
          <p:cNvSpPr txBox="1"/>
          <p:nvPr/>
        </p:nvSpPr>
        <p:spPr>
          <a:xfrm>
            <a:off x="3794760" y="4626864"/>
            <a:ext cx="768096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MIN_GROUPS = 80 / 20 / 20 / 20 nhóm mỗi lớp; thiếu thì "BLOCKED"</a:t>
            </a:r>
          </a:p>
        </p:txBody>
      </p:sp>
      <p:sp>
        <p:nvSpPr>
          <p:cNvPr id="25" name="Rounded Rectangle 24"/>
          <p:cNvSpPr/>
          <p:nvPr/>
        </p:nvSpPr>
        <p:spPr>
          <a:xfrm>
            <a:off x="548640" y="537667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1520" y="5596128"/>
            <a:ext cx="365760" cy="274320"/>
          </a:xfrm>
          <a:prstGeom prst="roundRect">
            <a:avLst>
              <a:gd name="adj" fmla="val 12000"/>
            </a:avLst>
          </a:prstGeom>
          <a:solidFill>
            <a:srgbClr val="0F2331"/>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6</a:t>
            </a:r>
          </a:p>
        </p:txBody>
      </p:sp>
      <p:sp>
        <p:nvSpPr>
          <p:cNvPr id="27" name="TextBox 26"/>
          <p:cNvSpPr txBox="1"/>
          <p:nvPr/>
        </p:nvSpPr>
        <p:spPr>
          <a:xfrm>
            <a:off x="1280160" y="5468112"/>
            <a:ext cx="246888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Giữ màu</a:t>
            </a:r>
          </a:p>
        </p:txBody>
      </p:sp>
      <p:sp>
        <p:nvSpPr>
          <p:cNvPr id="28" name="TextBox 27"/>
          <p:cNvSpPr txBox="1"/>
          <p:nvPr/>
        </p:nvSpPr>
        <p:spPr>
          <a:xfrm>
            <a:off x="3794760" y="5449824"/>
            <a:ext cx="768096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hsv_h = 0 và tắt auto_augment của classifier, vì màu chính là tín hiệu độ chín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14884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PHẦN 4</a:t>
            </a:r>
          </a:p>
        </p:txBody>
      </p:sp>
      <p:sp>
        <p:nvSpPr>
          <p:cNvPr id="3" name="TextBox 2"/>
          <p:cNvSpPr txBox="1"/>
          <p:nvPr/>
        </p:nvSpPr>
        <p:spPr>
          <a:xfrm>
            <a:off x="822960" y="2606040"/>
            <a:ext cx="10515600" cy="914400"/>
          </a:xfrm>
          <a:prstGeom prst="rect">
            <a:avLst/>
          </a:prstGeom>
          <a:noFill/>
        </p:spPr>
        <p:txBody>
          <a:bodyPr wrap="square" lIns="0" rIns="0" tIns="0" bIns="0" anchor="t">
            <a:spAutoFit/>
          </a:bodyPr>
          <a:lstStyle/>
          <a:p>
            <a:pPr algn="l">
              <a:spcAft>
                <a:spcPts val="400"/>
              </a:spcAft>
            </a:pPr>
            <a:r>
              <a:rPr sz="3800" b="1">
                <a:solidFill>
                  <a:srgbClr val="0F2331"/>
                </a:solidFill>
                <a:latin typeface="Arial"/>
              </a:rPr>
              <a:t>Huấn luyện trên Google Cloud</a:t>
            </a:r>
          </a:p>
        </p:txBody>
      </p:sp>
      <p:sp>
        <p:nvSpPr>
          <p:cNvPr id="4" name="TextBox 3"/>
          <p:cNvSpPr txBox="1"/>
          <p:nvPr/>
        </p:nvSpPr>
        <p:spPr>
          <a:xfrm>
            <a:off x="822960" y="3611880"/>
            <a:ext cx="10515600" cy="1097280"/>
          </a:xfrm>
          <a:prstGeom prst="rect">
            <a:avLst/>
          </a:prstGeom>
          <a:noFill/>
        </p:spPr>
        <p:txBody>
          <a:bodyPr wrap="square" lIns="0" rIns="0" tIns="0" bIns="0" anchor="t">
            <a:spAutoFit/>
          </a:bodyPr>
          <a:lstStyle/>
          <a:p>
            <a:pPr algn="l">
              <a:spcAft>
                <a:spcPts val="400"/>
              </a:spcAft>
            </a:pPr>
            <a:r>
              <a:rPr sz="1800" b="0">
                <a:solidFill>
                  <a:srgbClr val="5C6E78"/>
                </a:solidFill>
                <a:latin typeface="Arial"/>
              </a:rPr>
              <a:t>v2 → v3 (bản đang dùng) → v4 hỏng → ba thử nghiệm có kiểm soát A / B / C</a:t>
            </a:r>
          </a:p>
        </p:txBody>
      </p:sp>
      <p:sp>
        <p:nvSpPr>
          <p:cNvPr id="5" name="TextBox 4"/>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HẠ TẦNG</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Vì sao chuyển sang Vertex AI (28/09)</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21</a:t>
            </a:r>
          </a:p>
        </p:txBody>
      </p:sp>
      <p:sp>
        <p:nvSpPr>
          <p:cNvPr id="5" name="Rounded Rectangle 4"/>
          <p:cNvSpPr/>
          <p:nvPr/>
        </p:nvSpPr>
        <p:spPr>
          <a:xfrm>
            <a:off x="548640" y="1280160"/>
            <a:ext cx="2606040" cy="1600200"/>
          </a:xfrm>
          <a:prstGeom prst="roundRect">
            <a:avLst>
              <a:gd name="adj" fmla="val 8228"/>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08176"/>
            <a:ext cx="2423160" cy="800100"/>
          </a:xfrm>
          <a:prstGeom prst="rect">
            <a:avLst/>
          </a:prstGeom>
          <a:noFill/>
        </p:spPr>
        <p:txBody>
          <a:bodyPr wrap="square" lIns="0" rIns="0" tIns="0" bIns="0" anchor="t">
            <a:spAutoFit/>
          </a:bodyPr>
          <a:lstStyle/>
          <a:p>
            <a:pPr algn="ctr">
              <a:spcAft>
                <a:spcPts val="400"/>
              </a:spcAft>
            </a:pPr>
            <a:r>
              <a:rPr sz="3000" b="1">
                <a:solidFill>
                  <a:srgbClr val="B34340"/>
                </a:solidFill>
                <a:latin typeface="Arial"/>
              </a:rPr>
              <a:t>7–14 giờ</a:t>
            </a:r>
          </a:p>
        </p:txBody>
      </p:sp>
      <p:sp>
        <p:nvSpPr>
          <p:cNvPr id="7" name="TextBox 6"/>
          <p:cNvSpPr txBox="1"/>
          <p:nvPr/>
        </p:nvSpPr>
        <p:spPr>
          <a:xfrm>
            <a:off x="685800" y="2160270"/>
            <a:ext cx="2331720" cy="67208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một lần huấn luyện đầy đủ trên Colab T4</a:t>
            </a:r>
          </a:p>
        </p:txBody>
      </p:sp>
      <p:sp>
        <p:nvSpPr>
          <p:cNvPr id="8" name="Rounded Rectangle 7"/>
          <p:cNvSpPr/>
          <p:nvPr/>
        </p:nvSpPr>
        <p:spPr>
          <a:xfrm>
            <a:off x="3383280" y="1280160"/>
            <a:ext cx="2606040" cy="1600200"/>
          </a:xfrm>
          <a:prstGeom prst="roundRect">
            <a:avLst>
              <a:gd name="adj" fmla="val 8228"/>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408176"/>
            <a:ext cx="2423160" cy="800100"/>
          </a:xfrm>
          <a:prstGeom prst="rect">
            <a:avLst/>
          </a:prstGeom>
          <a:noFill/>
        </p:spPr>
        <p:txBody>
          <a:bodyPr wrap="square" lIns="0" rIns="0" tIns="0" bIns="0" anchor="t">
            <a:spAutoFit/>
          </a:bodyPr>
          <a:lstStyle/>
          <a:p>
            <a:pPr algn="ctr">
              <a:spcAft>
                <a:spcPts val="400"/>
              </a:spcAft>
            </a:pPr>
            <a:r>
              <a:rPr sz="3000" b="1">
                <a:solidFill>
                  <a:srgbClr val="B34340"/>
                </a:solidFill>
                <a:latin typeface="Arial"/>
              </a:rPr>
              <a:t>0 GPU</a:t>
            </a:r>
          </a:p>
        </p:txBody>
      </p:sp>
      <p:sp>
        <p:nvSpPr>
          <p:cNvPr id="10" name="TextBox 9"/>
          <p:cNvSpPr txBox="1"/>
          <p:nvPr/>
        </p:nvSpPr>
        <p:spPr>
          <a:xfrm>
            <a:off x="3520440" y="2160270"/>
            <a:ext cx="2331720" cy="67208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quota Compute Engine của tài khoản Free Trial</a:t>
            </a:r>
          </a:p>
        </p:txBody>
      </p:sp>
      <p:sp>
        <p:nvSpPr>
          <p:cNvPr id="11" name="Rounded Rectangle 10"/>
          <p:cNvSpPr/>
          <p:nvPr/>
        </p:nvSpPr>
        <p:spPr>
          <a:xfrm>
            <a:off x="6217920" y="1280160"/>
            <a:ext cx="2606040" cy="1600200"/>
          </a:xfrm>
          <a:prstGeom prst="roundRect">
            <a:avLst>
              <a:gd name="adj" fmla="val 8228"/>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408176"/>
            <a:ext cx="2423160" cy="800100"/>
          </a:xfrm>
          <a:prstGeom prst="rect">
            <a:avLst/>
          </a:prstGeom>
          <a:noFill/>
        </p:spPr>
        <p:txBody>
          <a:bodyPr wrap="square" lIns="0" rIns="0" tIns="0" bIns="0" anchor="t">
            <a:spAutoFit/>
          </a:bodyPr>
          <a:lstStyle/>
          <a:p>
            <a:pPr algn="ctr">
              <a:spcAft>
                <a:spcPts val="400"/>
              </a:spcAft>
            </a:pPr>
            <a:r>
              <a:rPr sz="3000" b="1">
                <a:solidFill>
                  <a:srgbClr val="187F5B"/>
                </a:solidFill>
                <a:latin typeface="Arial"/>
              </a:rPr>
              <a:t>$5–10</a:t>
            </a:r>
          </a:p>
        </p:txBody>
      </p:sp>
      <p:sp>
        <p:nvSpPr>
          <p:cNvPr id="13" name="TextBox 12"/>
          <p:cNvSpPr txBox="1"/>
          <p:nvPr/>
        </p:nvSpPr>
        <p:spPr>
          <a:xfrm>
            <a:off x="6355080" y="2160270"/>
            <a:ext cx="2331720" cy="67208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mỗi lần chạy 4–5 giờ trên Spot V100</a:t>
            </a:r>
          </a:p>
        </p:txBody>
      </p:sp>
      <p:sp>
        <p:nvSpPr>
          <p:cNvPr id="14" name="Rounded Rectangle 13"/>
          <p:cNvSpPr/>
          <p:nvPr/>
        </p:nvSpPr>
        <p:spPr>
          <a:xfrm>
            <a:off x="9052560" y="1280160"/>
            <a:ext cx="2587752" cy="1600200"/>
          </a:xfrm>
          <a:prstGeom prst="roundRect">
            <a:avLst>
              <a:gd name="adj" fmla="val 8228"/>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1408176"/>
            <a:ext cx="2404872" cy="800100"/>
          </a:xfrm>
          <a:prstGeom prst="rect">
            <a:avLst/>
          </a:prstGeom>
          <a:noFill/>
        </p:spPr>
        <p:txBody>
          <a:bodyPr wrap="square" lIns="0" rIns="0" tIns="0" bIns="0" anchor="t">
            <a:spAutoFit/>
          </a:bodyPr>
          <a:lstStyle/>
          <a:p>
            <a:pPr algn="ctr">
              <a:spcAft>
                <a:spcPts val="400"/>
              </a:spcAft>
            </a:pPr>
            <a:r>
              <a:rPr sz="2600" b="1">
                <a:solidFill>
                  <a:srgbClr val="C48016"/>
                </a:solidFill>
                <a:latin typeface="Arial"/>
              </a:rPr>
              <a:t>₫5,78 triệu</a:t>
            </a:r>
          </a:p>
        </p:txBody>
      </p:sp>
      <p:sp>
        <p:nvSpPr>
          <p:cNvPr id="16" name="TextBox 15"/>
          <p:cNvSpPr txBox="1"/>
          <p:nvPr/>
        </p:nvSpPr>
        <p:spPr>
          <a:xfrm>
            <a:off x="9189720" y="2160270"/>
            <a:ext cx="2313432" cy="67208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tín dụng Free Trial — ngân sách duy nhất</a:t>
            </a:r>
          </a:p>
        </p:txBody>
      </p:sp>
      <p:sp>
        <p:nvSpPr>
          <p:cNvPr id="17" name="Rounded Rectangle 16"/>
          <p:cNvSpPr/>
          <p:nvPr/>
        </p:nvSpPr>
        <p:spPr>
          <a:xfrm>
            <a:off x="548640" y="3108960"/>
            <a:ext cx="5486400" cy="2971800"/>
          </a:xfrm>
          <a:prstGeom prst="roundRect">
            <a:avLst>
              <a:gd name="adj" fmla="val 44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291840"/>
            <a:ext cx="508406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Cách làm (scripts/gcp/)</a:t>
            </a:r>
          </a:p>
        </p:txBody>
      </p:sp>
      <p:sp>
        <p:nvSpPr>
          <p:cNvPr id="19" name="TextBox 18"/>
          <p:cNvSpPr txBox="1"/>
          <p:nvPr/>
        </p:nvSpPr>
        <p:spPr>
          <a:xfrm>
            <a:off x="749808" y="3749039"/>
            <a:ext cx="5084064" cy="22402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Tải bộ dữ liệu đã chuẩn bị lên Cloud Storage một lần (file .tar)</a:t>
            </a:r>
          </a:p>
          <a:p>
            <a:pPr algn="l" marL="203200" indent="-203200">
              <a:spcAft>
                <a:spcPts val="600"/>
              </a:spcAft>
              <a:buChar char="•"/>
            </a:pPr>
            <a:r>
              <a:rPr sz="1600" b="0">
                <a:solidFill>
                  <a:srgbClr val="1F303A"/>
                </a:solidFill>
                <a:latin typeface="Arial"/>
              </a:rPr>
              <a:t>Gửi Vertex AI custom job: 1 × V100 Spot, n1-standard-8, giới hạn 24 giờ</a:t>
            </a:r>
          </a:p>
          <a:p>
            <a:pPr algn="l" marL="203200" indent="-203200">
              <a:spcAft>
                <a:spcPts val="600"/>
              </a:spcAft>
              <a:buChar char="•"/>
            </a:pPr>
            <a:r>
              <a:rPr sz="1600" b="0">
                <a:solidFill>
                  <a:srgbClr val="1F303A"/>
                </a:solidFill>
                <a:latin typeface="Arial"/>
              </a:rPr>
              <a:t>Checkpoint mỗi epoch lên bucket → job bị thu hồi vẫn chạy tiếp</a:t>
            </a:r>
          </a:p>
          <a:p>
            <a:pPr algn="l" marL="203200" indent="-203200">
              <a:spcAft>
                <a:spcPts val="600"/>
              </a:spcAft>
              <a:buChar char="•"/>
            </a:pPr>
            <a:r>
              <a:rPr sz="1600" b="0">
                <a:solidFill>
                  <a:srgbClr val="1F303A"/>
                </a:solidFill>
                <a:latin typeface="Arial"/>
              </a:rPr>
              <a:t>Script trạng thái hiện epoch và log</a:t>
            </a:r>
          </a:p>
        </p:txBody>
      </p:sp>
      <p:sp>
        <p:nvSpPr>
          <p:cNvPr id="20" name="Rounded Rectangle 19"/>
          <p:cNvSpPr/>
          <p:nvPr/>
        </p:nvSpPr>
        <p:spPr>
          <a:xfrm>
            <a:off x="6245352" y="3108960"/>
            <a:ext cx="5394960" cy="2971800"/>
          </a:xfrm>
          <a:prstGeom prst="roundRect">
            <a:avLst>
              <a:gd name="adj" fmla="val 44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291840"/>
            <a:ext cx="499262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Chi phí</a:t>
            </a:r>
          </a:p>
        </p:txBody>
      </p:sp>
      <p:sp>
        <p:nvSpPr>
          <p:cNvPr id="22" name="TextBox 21"/>
          <p:cNvSpPr txBox="1"/>
          <p:nvPr/>
        </p:nvSpPr>
        <p:spPr>
          <a:xfrm>
            <a:off x="6446520" y="3749039"/>
            <a:ext cx="4992624" cy="22402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Spot V100 ~$0,75–1,00/giờ so với $2,48/giờ thường</a:t>
            </a:r>
          </a:p>
          <a:p>
            <a:pPr algn="l" marL="203200" indent="-203200">
              <a:spcAft>
                <a:spcPts val="600"/>
              </a:spcAft>
              <a:buChar char="•"/>
            </a:pPr>
            <a:r>
              <a:rPr sz="1600" b="0">
                <a:solidFill>
                  <a:srgbClr val="1F303A"/>
                </a:solidFill>
                <a:latin typeface="Arial"/>
              </a:rPr>
              <a:t>Giới hạn 24 giờ: tối đa ~$30/lần nếu lỗi</a:t>
            </a:r>
          </a:p>
          <a:p>
            <a:pPr algn="l" marL="203200" indent="-203200">
              <a:spcAft>
                <a:spcPts val="600"/>
              </a:spcAft>
              <a:buChar char="•"/>
            </a:pPr>
            <a:r>
              <a:rPr sz="1600" b="0">
                <a:solidFill>
                  <a:srgbClr val="1F303A"/>
                </a:solidFill>
                <a:latin typeface="Arial"/>
              </a:rPr>
              <a:t>Thử nghiệm A/B/C chỉ 10 epoch, giới hạn 2 giờ</a:t>
            </a:r>
          </a:p>
          <a:p>
            <a:pPr algn="l" marL="203200" indent="-203200">
              <a:spcAft>
                <a:spcPts val="600"/>
              </a:spcAft>
              <a:buChar char="•"/>
            </a:pPr>
            <a:r>
              <a:rPr sz="1600" b="0">
                <a:solidFill>
                  <a:srgbClr val="1F303A"/>
                </a:solidFill>
                <a:latin typeface="Arial"/>
              </a:rPr>
              <a:t>Lỗi nhỏ đã sửa: Vertex từ chối biến môi trường rỗng (027ef31)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3 · V2</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v2 (28/09): detector tốt, độ chín xoài chưa dùng được</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22</a:t>
            </a:r>
          </a:p>
        </p:txBody>
      </p:sp>
      <p:sp>
        <p:nvSpPr>
          <p:cNvPr id="5" name="TextBox 4"/>
          <p:cNvSpPr txBox="1"/>
          <p:nvPr/>
        </p:nvSpPr>
        <p:spPr>
          <a:xfrm>
            <a:off x="548640" y="1188720"/>
            <a:ext cx="11064240" cy="274320"/>
          </a:xfrm>
          <a:prstGeom prst="rect">
            <a:avLst/>
          </a:prstGeom>
          <a:noFill/>
        </p:spPr>
        <p:txBody>
          <a:bodyPr wrap="square" lIns="0" rIns="0" tIns="0" bIns="0" anchor="t">
            <a:spAutoFit/>
          </a:bodyPr>
          <a:lstStyle/>
          <a:p>
            <a:pPr algn="l">
              <a:spcAft>
                <a:spcPts val="400"/>
              </a:spcAft>
            </a:pPr>
            <a:r>
              <a:rPr sz="1300" b="0">
                <a:solidFill>
                  <a:srgbClr val="5C6E78"/>
                </a:solidFill>
                <a:latin typeface="Arial"/>
              </a:rPr>
              <a:t>Job 4689768257580695552 • maturity_v2 • YOLOv8s 100 epoch, 960 px, batch 8 • YOLOv8s-cls 50 epoch, 320 px, batch 32 • 3 giờ 9 phút</a:t>
            </a:r>
          </a:p>
        </p:txBody>
      </p:sp>
      <p:sp>
        <p:nvSpPr>
          <p:cNvPr id="6" name="Rounded Rectangle 5"/>
          <p:cNvSpPr/>
          <p:nvPr/>
        </p:nvSpPr>
        <p:spPr>
          <a:xfrm>
            <a:off x="548640" y="1600200"/>
            <a:ext cx="2651760"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28216"/>
            <a:ext cx="2468879" cy="708660"/>
          </a:xfrm>
          <a:prstGeom prst="rect">
            <a:avLst/>
          </a:prstGeom>
          <a:noFill/>
        </p:spPr>
        <p:txBody>
          <a:bodyPr wrap="square" lIns="0" rIns="0" tIns="0" bIns="0" anchor="t">
            <a:spAutoFit/>
          </a:bodyPr>
          <a:lstStyle/>
          <a:p>
            <a:pPr algn="ctr">
              <a:spcAft>
                <a:spcPts val="400"/>
              </a:spcAft>
            </a:pPr>
            <a:r>
              <a:rPr sz="3000" b="1">
                <a:solidFill>
                  <a:srgbClr val="187F5B"/>
                </a:solidFill>
                <a:latin typeface="Arial"/>
              </a:rPr>
              <a:t>98,5%</a:t>
            </a:r>
          </a:p>
        </p:txBody>
      </p:sp>
      <p:sp>
        <p:nvSpPr>
          <p:cNvPr id="8" name="TextBox 7"/>
          <p:cNvSpPr txBox="1"/>
          <p:nvPr/>
        </p:nvSpPr>
        <p:spPr>
          <a:xfrm>
            <a:off x="685800" y="2379726"/>
            <a:ext cx="2377440" cy="59527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Detector mAP50 test</a:t>
            </a:r>
          </a:p>
          <a:p>
            <a:pPr algn="ctr">
              <a:spcAft>
                <a:spcPts val="400"/>
              </a:spcAft>
            </a:pPr>
            <a:r>
              <a:rPr sz="1300" b="0">
                <a:solidFill>
                  <a:srgbClr val="1F303A"/>
                </a:solidFill>
                <a:latin typeface="Arial"/>
              </a:rPr>
              <a:t>(mAP50-95 80,9%)</a:t>
            </a:r>
          </a:p>
        </p:txBody>
      </p:sp>
      <p:sp>
        <p:nvSpPr>
          <p:cNvPr id="9" name="Rounded Rectangle 8"/>
          <p:cNvSpPr/>
          <p:nvPr/>
        </p:nvSpPr>
        <p:spPr>
          <a:xfrm>
            <a:off x="3383280" y="1600200"/>
            <a:ext cx="2651760"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728216"/>
            <a:ext cx="2468879" cy="708660"/>
          </a:xfrm>
          <a:prstGeom prst="rect">
            <a:avLst/>
          </a:prstGeom>
          <a:noFill/>
        </p:spPr>
        <p:txBody>
          <a:bodyPr wrap="square" lIns="0" rIns="0" tIns="0" bIns="0" anchor="t">
            <a:spAutoFit/>
          </a:bodyPr>
          <a:lstStyle/>
          <a:p>
            <a:pPr algn="ctr">
              <a:spcAft>
                <a:spcPts val="400"/>
              </a:spcAft>
            </a:pPr>
            <a:r>
              <a:rPr sz="3000" b="1">
                <a:solidFill>
                  <a:srgbClr val="187F5B"/>
                </a:solidFill>
                <a:latin typeface="Arial"/>
              </a:rPr>
              <a:t>100%</a:t>
            </a:r>
          </a:p>
        </p:txBody>
      </p:sp>
      <p:sp>
        <p:nvSpPr>
          <p:cNvPr id="11" name="TextBox 10"/>
          <p:cNvSpPr txBox="1"/>
          <p:nvPr/>
        </p:nvSpPr>
        <p:spPr>
          <a:xfrm>
            <a:off x="3520440" y="2379726"/>
            <a:ext cx="2377440" cy="59527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Thanh long 131/131</a:t>
            </a:r>
          </a:p>
        </p:txBody>
      </p:sp>
      <p:sp>
        <p:nvSpPr>
          <p:cNvPr id="12" name="Rounded Rectangle 11"/>
          <p:cNvSpPr/>
          <p:nvPr/>
        </p:nvSpPr>
        <p:spPr>
          <a:xfrm>
            <a:off x="6217920" y="1600200"/>
            <a:ext cx="2651760"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1728216"/>
            <a:ext cx="2468879" cy="708660"/>
          </a:xfrm>
          <a:prstGeom prst="rect">
            <a:avLst/>
          </a:prstGeom>
          <a:noFill/>
        </p:spPr>
        <p:txBody>
          <a:bodyPr wrap="square" lIns="0" rIns="0" tIns="0" bIns="0" anchor="t">
            <a:spAutoFit/>
          </a:bodyPr>
          <a:lstStyle/>
          <a:p>
            <a:pPr algn="ctr">
              <a:spcAft>
                <a:spcPts val="400"/>
              </a:spcAft>
            </a:pPr>
            <a:r>
              <a:rPr sz="3000" b="1">
                <a:solidFill>
                  <a:srgbClr val="B34340"/>
                </a:solidFill>
                <a:latin typeface="Arial"/>
              </a:rPr>
              <a:t>63,9%</a:t>
            </a:r>
          </a:p>
        </p:txBody>
      </p:sp>
      <p:sp>
        <p:nvSpPr>
          <p:cNvPr id="14" name="TextBox 13"/>
          <p:cNvSpPr txBox="1"/>
          <p:nvPr/>
        </p:nvSpPr>
        <p:spPr>
          <a:xfrm>
            <a:off x="6355080" y="2379726"/>
            <a:ext cx="2377440" cy="59527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Xoài 92/144 crop test</a:t>
            </a:r>
          </a:p>
        </p:txBody>
      </p:sp>
      <p:sp>
        <p:nvSpPr>
          <p:cNvPr id="15" name="Rounded Rectangle 14"/>
          <p:cNvSpPr/>
          <p:nvPr/>
        </p:nvSpPr>
        <p:spPr>
          <a:xfrm>
            <a:off x="9052560" y="1600200"/>
            <a:ext cx="2587752"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1728216"/>
            <a:ext cx="2404872" cy="708660"/>
          </a:xfrm>
          <a:prstGeom prst="rect">
            <a:avLst/>
          </a:prstGeom>
          <a:noFill/>
        </p:spPr>
        <p:txBody>
          <a:bodyPr wrap="square" lIns="0" rIns="0" tIns="0" bIns="0" anchor="t">
            <a:spAutoFit/>
          </a:bodyPr>
          <a:lstStyle/>
          <a:p>
            <a:pPr algn="ctr">
              <a:spcAft>
                <a:spcPts val="400"/>
              </a:spcAft>
            </a:pPr>
            <a:r>
              <a:rPr sz="3000" b="1">
                <a:solidFill>
                  <a:srgbClr val="B34340"/>
                </a:solidFill>
                <a:latin typeface="Arial"/>
              </a:rPr>
              <a:t>18/144</a:t>
            </a:r>
          </a:p>
        </p:txBody>
      </p:sp>
      <p:sp>
        <p:nvSpPr>
          <p:cNvPr id="17" name="TextBox 16"/>
          <p:cNvSpPr txBox="1"/>
          <p:nvPr/>
        </p:nvSpPr>
        <p:spPr>
          <a:xfrm>
            <a:off x="9189720" y="2379726"/>
            <a:ext cx="2313432" cy="595274"/>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xoài có nhãn chắc chắn</a:t>
            </a:r>
          </a:p>
        </p:txBody>
      </p:sp>
      <p:sp>
        <p:nvSpPr>
          <p:cNvPr id="18" name="Rounded Rectangle 17"/>
          <p:cNvSpPr/>
          <p:nvPr/>
        </p:nvSpPr>
        <p:spPr>
          <a:xfrm>
            <a:off x="548640" y="3200400"/>
            <a:ext cx="3657600" cy="2606040"/>
          </a:xfrm>
          <a:prstGeom prst="roundRect">
            <a:avLst>
              <a:gd name="adj" fmla="val 505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383280"/>
            <a:ext cx="325526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Lỗi ngưỡng (29/09)</a:t>
            </a:r>
          </a:p>
        </p:txBody>
      </p:sp>
      <p:sp>
        <p:nvSpPr>
          <p:cNvPr id="20" name="TextBox 19"/>
          <p:cNvSpPr txBox="1"/>
          <p:nvPr/>
        </p:nvSpPr>
        <p:spPr>
          <a:xfrm>
            <a:off x="749808" y="3840480"/>
            <a:ext cx="3255264" cy="18745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Ngưỡng làm tròn 6 chữ số: 0,9999997868 → 1,0 nên loại crop thanh long đúng. Sửa bằng float64 + xử lý hòa → 128/131 lên 131/131.</a:t>
            </a:r>
          </a:p>
        </p:txBody>
      </p:sp>
      <p:sp>
        <p:nvSpPr>
          <p:cNvPr id="21" name="Rounded Rectangle 20"/>
          <p:cNvSpPr/>
          <p:nvPr/>
        </p:nvSpPr>
        <p:spPr>
          <a:xfrm>
            <a:off x="4389120" y="3200400"/>
            <a:ext cx="3566160" cy="2606040"/>
          </a:xfrm>
          <a:prstGeom prst="roundRect">
            <a:avLst>
              <a:gd name="adj" fmla="val 505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90288" y="3383280"/>
            <a:ext cx="316382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Ảnh chụp rộng</a:t>
            </a:r>
          </a:p>
        </p:txBody>
      </p:sp>
      <p:sp>
        <p:nvSpPr>
          <p:cNvPr id="23" name="TextBox 22"/>
          <p:cNvSpPr txBox="1"/>
          <p:nvPr/>
        </p:nvSpPr>
        <p:spPr>
          <a:xfrm>
            <a:off x="4590288" y="3840480"/>
            <a:ext cx="3163824" cy="18745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Cả trụ thanh long: 3/~40 quả. Cây xoài: 8 quả. Quét kích thước ảnh 640–1600 px không giúp → lỗi dữ liệu, không phải tham số.</a:t>
            </a:r>
          </a:p>
        </p:txBody>
      </p:sp>
      <p:sp>
        <p:nvSpPr>
          <p:cNvPr id="24" name="Rounded Rectangle 23"/>
          <p:cNvSpPr/>
          <p:nvPr/>
        </p:nvSpPr>
        <p:spPr>
          <a:xfrm>
            <a:off x="8138160" y="3200400"/>
            <a:ext cx="3502152" cy="2606040"/>
          </a:xfrm>
          <a:prstGeom prst="roundRect">
            <a:avLst>
              <a:gd name="adj" fmla="val 5052"/>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8" y="3383280"/>
            <a:ext cx="3099816"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Vì sao xoài thất bại</a:t>
            </a:r>
          </a:p>
        </p:txBody>
      </p:sp>
      <p:sp>
        <p:nvSpPr>
          <p:cNvPr id="26" name="TextBox 25"/>
          <p:cNvSpPr txBox="1"/>
          <p:nvPr/>
        </p:nvSpPr>
        <p:spPr>
          <a:xfrm>
            <a:off x="8339328" y="3840480"/>
            <a:ext cx="3099816" cy="18745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Bộ "Mango Growth Stages" chia premature/early/mature theo </a:t>
            </a:r>
            <a:r>
              <a:rPr sz="1600" b="1">
                <a:solidFill>
                  <a:srgbClr val="1F303A"/>
                </a:solidFill>
                <a:latin typeface="Arial"/>
              </a:rPr>
              <a:t>số ngày sau đậu quả</a:t>
            </a:r>
            <a:r>
              <a:rPr sz="1600" b="0">
                <a:solidFill>
                  <a:srgbClr val="1F303A"/>
                </a:solidFill>
                <a:latin typeface="Arial"/>
              </a:rPr>
              <a:t>, không nhìn thấy trên ảnh. Gộp chín/chưa chín: 97,9%.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4 · V3</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Chuẩn bị v3 (29/09): nhãn theo cái nhìn thấy + ảnh cả cây</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23</a:t>
            </a:r>
          </a:p>
        </p:txBody>
      </p:sp>
      <p:graphicFrame>
        <p:nvGraphicFramePr>
          <p:cNvPr id="5" name="Table 4"/>
          <p:cNvGraphicFramePr>
            <a:graphicFrameLocks noGrp="1"/>
          </p:cNvGraphicFramePr>
          <p:nvPr/>
        </p:nvGraphicFramePr>
        <p:xfrm>
          <a:off x="548640" y="1280160"/>
          <a:ext cx="5669280" cy="2743200"/>
        </p:xfrm>
        <a:graphic>
          <a:graphicData uri="http://schemas.openxmlformats.org/drawingml/2006/table">
            <a:tbl>
              <a:tblPr firstRow="1" bandRow="1">
                <a:tableStyleId>{5C22544A-7EE6-4342-B048-85BDC9FD1C3A}</a:tableStyleId>
              </a:tblPr>
              <a:tblGrid>
                <a:gridCol w="2011680"/>
                <a:gridCol w="3657600"/>
              </a:tblGrid>
              <a:tr h="548640">
                <a:tc>
                  <a:txBody>
                    <a:bodyPr wrap="square"/>
                    <a:lstStyle/>
                    <a:p>
                      <a:r>
                        <a:rPr sz="1400" b="1">
                          <a:solidFill>
                            <a:srgbClr val="FFFFFF"/>
                          </a:solidFill>
                          <a:latin typeface="Arial"/>
                        </a:rPr>
                        <a:t>Lớp xoài v3</a:t>
                      </a:r>
                    </a:p>
                  </a:txBody>
                  <a:tcPr marL="64008" marR="64008" marT="32004" marB="32004" anchor="ctr">
                    <a:solidFill>
                      <a:srgbClr val="0F2331"/>
                    </a:solidFill>
                  </a:tcPr>
                </a:tc>
                <a:tc>
                  <a:txBody>
                    <a:bodyPr wrap="square"/>
                    <a:lstStyle/>
                    <a:p>
                      <a:r>
                        <a:rPr sz="1400" b="1">
                          <a:solidFill>
                            <a:srgbClr val="FFFFFF"/>
                          </a:solidFill>
                          <a:latin typeface="Arial"/>
                        </a:rPr>
                        <a:t>Lấy từ</a:t>
                      </a:r>
                    </a:p>
                  </a:txBody>
                  <a:tcPr marL="64008" marR="64008" marT="32004" marB="32004" anchor="ctr">
                    <a:solidFill>
                      <a:srgbClr val="0F2331"/>
                    </a:solidFill>
                  </a:tcPr>
                </a:tc>
              </a:tr>
              <a:tr h="548640">
                <a:tc>
                  <a:txBody>
                    <a:bodyPr wrap="square"/>
                    <a:lstStyle/>
                    <a:p>
                      <a:r>
                        <a:rPr sz="1400" b="1">
                          <a:solidFill>
                            <a:srgbClr val="1F303A"/>
                          </a:solidFill>
                          <a:latin typeface="Arial"/>
                        </a:rPr>
                        <a:t>mango_young</a:t>
                      </a:r>
                    </a:p>
                  </a:txBody>
                  <a:tcPr marL="64008" marR="64008" marT="32004" marB="32004" anchor="ctr">
                    <a:solidFill>
                      <a:srgbClr val="FFFFFF"/>
                    </a:solidFill>
                  </a:tcPr>
                </a:tc>
                <a:tc>
                  <a:txBody>
                    <a:bodyPr wrap="square"/>
                    <a:lstStyle/>
                    <a:p>
                      <a:r>
                        <a:rPr sz="1400" b="0">
                          <a:solidFill>
                            <a:srgbClr val="1F303A"/>
                          </a:solidFill>
                          <a:latin typeface="Arial"/>
                        </a:rPr>
                        <a:t>premature + early cũ (đều xanh nhỏ)</a:t>
                      </a:r>
                    </a:p>
                  </a:txBody>
                  <a:tcPr marL="64008" marR="64008" marT="32004" marB="32004" anchor="ctr">
                    <a:solidFill>
                      <a:srgbClr val="FFFFFF"/>
                    </a:solidFill>
                  </a:tcPr>
                </a:tc>
              </a:tr>
              <a:tr h="548640">
                <a:tc>
                  <a:txBody>
                    <a:bodyPr wrap="square"/>
                    <a:lstStyle/>
                    <a:p>
                      <a:r>
                        <a:rPr sz="1400" b="1">
                          <a:solidFill>
                            <a:srgbClr val="1F303A"/>
                          </a:solidFill>
                          <a:latin typeface="Arial"/>
                        </a:rPr>
                        <a:t>mango_mature</a:t>
                      </a:r>
                    </a:p>
                  </a:txBody>
                  <a:tcPr marL="64008" marR="64008" marT="32004" marB="32004" anchor="ctr">
                    <a:solidFill>
                      <a:srgbClr val="F8FBFA"/>
                    </a:solidFill>
                  </a:tcPr>
                </a:tc>
                <a:tc>
                  <a:txBody>
                    <a:bodyPr wrap="square"/>
                    <a:lstStyle/>
                    <a:p>
                      <a:r>
                        <a:rPr sz="1400" b="0">
                          <a:solidFill>
                            <a:srgbClr val="1F303A"/>
                          </a:solidFill>
                          <a:latin typeface="Arial"/>
                        </a:rPr>
                        <a:t>mature cũ + ripening stage 0 và 1</a:t>
                      </a:r>
                    </a:p>
                  </a:txBody>
                  <a:tcPr marL="64008" marR="64008" marT="32004" marB="32004" anchor="ctr">
                    <a:solidFill>
                      <a:srgbClr val="F8FBFA"/>
                    </a:solidFill>
                  </a:tcPr>
                </a:tc>
              </a:tr>
              <a:tr h="548640">
                <a:tc>
                  <a:txBody>
                    <a:bodyPr wrap="square"/>
                    <a:lstStyle/>
                    <a:p>
                      <a:r>
                        <a:rPr sz="1400" b="1">
                          <a:solidFill>
                            <a:srgbClr val="1F303A"/>
                          </a:solidFill>
                          <a:latin typeface="Arial"/>
                        </a:rPr>
                        <a:t>mango_turning (mới)</a:t>
                      </a:r>
                    </a:p>
                  </a:txBody>
                  <a:tcPr marL="64008" marR="64008" marT="32004" marB="32004" anchor="ctr">
                    <a:solidFill>
                      <a:srgbClr val="FFFFFF"/>
                    </a:solidFill>
                  </a:tcPr>
                </a:tc>
                <a:tc>
                  <a:txBody>
                    <a:bodyPr wrap="square"/>
                    <a:lstStyle/>
                    <a:p>
                      <a:r>
                        <a:rPr sz="1400" b="0">
                          <a:solidFill>
                            <a:srgbClr val="1F303A"/>
                          </a:solidFill>
                          <a:latin typeface="Arial"/>
                        </a:rPr>
                        <a:t>ripening stage 2 — bắt đầu vàng</a:t>
                      </a:r>
                    </a:p>
                  </a:txBody>
                  <a:tcPr marL="64008" marR="64008" marT="32004" marB="32004" anchor="ctr">
                    <a:solidFill>
                      <a:srgbClr val="FFFFFF"/>
                    </a:solidFill>
                  </a:tcPr>
                </a:tc>
              </a:tr>
              <a:tr h="548640">
                <a:tc>
                  <a:txBody>
                    <a:bodyPr wrap="square"/>
                    <a:lstStyle/>
                    <a:p>
                      <a:r>
                        <a:rPr sz="1400" b="1">
                          <a:solidFill>
                            <a:srgbClr val="1F303A"/>
                          </a:solidFill>
                          <a:latin typeface="Arial"/>
                        </a:rPr>
                        <a:t>mango_ripe</a:t>
                      </a:r>
                    </a:p>
                  </a:txBody>
                  <a:tcPr marL="64008" marR="64008" marT="32004" marB="32004" anchor="ctr">
                    <a:solidFill>
                      <a:srgbClr val="F8FBFA"/>
                    </a:solidFill>
                  </a:tcPr>
                </a:tc>
                <a:tc>
                  <a:txBody>
                    <a:bodyPr wrap="square"/>
                    <a:lstStyle/>
                    <a:p>
                      <a:r>
                        <a:rPr sz="1400" b="0">
                          <a:solidFill>
                            <a:srgbClr val="1F303A"/>
                          </a:solidFill>
                          <a:latin typeface="Arial"/>
                        </a:rPr>
                        <a:t>ripe cũ + ripening stage 3</a:t>
                      </a:r>
                    </a:p>
                  </a:txBody>
                  <a:tcPr marL="64008" marR="64008" marT="32004" marB="32004" anchor="ctr">
                    <a:solidFill>
                      <a:srgbClr val="F8FBFA"/>
                    </a:solidFill>
                  </a:tcPr>
                </a:tc>
              </a:tr>
            </a:tbl>
          </a:graphicData>
        </a:graphic>
      </p:graphicFrame>
      <p:sp>
        <p:nvSpPr>
          <p:cNvPr id="6" name="TextBox 5"/>
          <p:cNvSpPr txBox="1"/>
          <p:nvPr/>
        </p:nvSpPr>
        <p:spPr>
          <a:xfrm>
            <a:off x="548640" y="4160520"/>
            <a:ext cx="5669280" cy="457200"/>
          </a:xfrm>
          <a:prstGeom prst="rect">
            <a:avLst/>
          </a:prstGeom>
          <a:noFill/>
        </p:spPr>
        <p:txBody>
          <a:bodyPr wrap="square" lIns="0" rIns="0" tIns="0" bIns="0" anchor="t">
            <a:spAutoFit/>
          </a:bodyPr>
          <a:lstStyle/>
          <a:p>
            <a:pPr algn="l">
              <a:spcAft>
                <a:spcPts val="400"/>
              </a:spcAft>
            </a:pPr>
            <a:r>
              <a:rPr sz="1300" b="0">
                <a:solidFill>
                  <a:srgbClr val="5C6E78"/>
                </a:solidFill>
                <a:latin typeface="Arial"/>
              </a:rPr>
              <a:t>Stage 1 "Early Ripe" nhìn giống stage 0 nên gộp vào mature.</a:t>
            </a:r>
          </a:p>
        </p:txBody>
      </p:sp>
      <p:sp>
        <p:nvSpPr>
          <p:cNvPr id="7" name="Rounded Rectangle 6"/>
          <p:cNvSpPr/>
          <p:nvPr/>
        </p:nvSpPr>
        <p:spPr>
          <a:xfrm>
            <a:off x="6446520" y="1280160"/>
            <a:ext cx="5193792" cy="3291840"/>
          </a:xfrm>
          <a:prstGeom prst="roundRect">
            <a:avLst>
              <a:gd name="adj" fmla="val 39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47688" y="1463039"/>
            <a:ext cx="4791455"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Dữ liệu ảnh cả cây cho detector</a:t>
            </a:r>
          </a:p>
        </p:txBody>
      </p:sp>
      <p:sp>
        <p:nvSpPr>
          <p:cNvPr id="9" name="TextBox 8"/>
          <p:cNvSpPr txBox="1"/>
          <p:nvPr/>
        </p:nvSpPr>
        <p:spPr>
          <a:xfrm>
            <a:off x="6647688" y="1920239"/>
            <a:ext cx="4791455" cy="256032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Mendeley far-field xoài: 1.023 ảnh</a:t>
            </a:r>
          </a:p>
          <a:p>
            <a:pPr algn="l" marL="203200" indent="-203200">
              <a:spcAft>
                <a:spcPts val="600"/>
              </a:spcAft>
              <a:buChar char="•"/>
            </a:pPr>
            <a:r>
              <a:rPr sz="1600" b="0">
                <a:solidFill>
                  <a:srgbClr val="1F303A"/>
                </a:solidFill>
                <a:latin typeface="Arial"/>
              </a:rPr>
              <a:t>Roboflow mango-tree: 690 cây, ~13 quả/ảnh</a:t>
            </a:r>
          </a:p>
          <a:p>
            <a:pPr algn="l" marL="203200" indent="-203200">
              <a:spcAft>
                <a:spcPts val="600"/>
              </a:spcAft>
              <a:buChar char="•"/>
            </a:pPr>
            <a:r>
              <a:rPr sz="1600" b="0">
                <a:solidFill>
                  <a:srgbClr val="1F303A"/>
                </a:solidFill>
                <a:latin typeface="Arial"/>
              </a:rPr>
              <a:t>Roboflow pitaya orchard: 992 ảnh</a:t>
            </a:r>
          </a:p>
          <a:p>
            <a:pPr algn="l" marL="203200" indent="-203200">
              <a:spcAft>
                <a:spcPts val="600"/>
              </a:spcAft>
              <a:buChar char="•"/>
            </a:pPr>
            <a:r>
              <a:rPr sz="1600" b="0">
                <a:solidFill>
                  <a:srgbClr val="1F303A"/>
                </a:solidFill>
                <a:latin typeface="Arial"/>
              </a:rPr>
              <a:t>Ripe dragon plants: 97 ảnh</a:t>
            </a:r>
          </a:p>
          <a:p>
            <a:pPr algn="l" marL="203200" indent="-203200">
              <a:spcAft>
                <a:spcPts val="600"/>
              </a:spcAft>
              <a:buChar char="•"/>
            </a:pPr>
            <a:r>
              <a:rPr sz="1600" b="0">
                <a:solidFill>
                  <a:srgbClr val="1F303A"/>
                </a:solidFill>
                <a:latin typeface="Arial"/>
              </a:rPr>
              <a:t>Mỗi ảnh Roboflow chỉ giữ 1 bản gốc</a:t>
            </a:r>
          </a:p>
        </p:txBody>
      </p:sp>
      <p:sp>
        <p:nvSpPr>
          <p:cNvPr id="10" name="Rounded Rectangle 9"/>
          <p:cNvSpPr/>
          <p:nvPr/>
        </p:nvSpPr>
        <p:spPr>
          <a:xfrm>
            <a:off x="548640" y="4754880"/>
            <a:ext cx="2743200" cy="10972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882896"/>
            <a:ext cx="2560320" cy="548640"/>
          </a:xfrm>
          <a:prstGeom prst="rect">
            <a:avLst/>
          </a:prstGeom>
          <a:noFill/>
        </p:spPr>
        <p:txBody>
          <a:bodyPr wrap="square" lIns="0" rIns="0" tIns="0" bIns="0" anchor="t">
            <a:spAutoFit/>
          </a:bodyPr>
          <a:lstStyle/>
          <a:p>
            <a:pPr algn="ctr">
              <a:spcAft>
                <a:spcPts val="400"/>
              </a:spcAft>
            </a:pPr>
            <a:r>
              <a:rPr sz="2600" b="1">
                <a:solidFill>
                  <a:srgbClr val="0F2331"/>
                </a:solidFill>
                <a:latin typeface="Arial"/>
              </a:rPr>
              <a:t>13.240</a:t>
            </a:r>
          </a:p>
        </p:txBody>
      </p:sp>
      <p:sp>
        <p:nvSpPr>
          <p:cNvPr id="12" name="TextBox 11"/>
          <p:cNvSpPr txBox="1"/>
          <p:nvPr/>
        </p:nvSpPr>
        <p:spPr>
          <a:xfrm>
            <a:off x="685800" y="5358384"/>
            <a:ext cx="2468880" cy="460857"/>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ảnh detector (+27%)</a:t>
            </a:r>
          </a:p>
        </p:txBody>
      </p:sp>
      <p:sp>
        <p:nvSpPr>
          <p:cNvPr id="13" name="Rounded Rectangle 12"/>
          <p:cNvSpPr/>
          <p:nvPr/>
        </p:nvSpPr>
        <p:spPr>
          <a:xfrm>
            <a:off x="3474720" y="4754880"/>
            <a:ext cx="2743200" cy="10972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4882896"/>
            <a:ext cx="2560320" cy="548640"/>
          </a:xfrm>
          <a:prstGeom prst="rect">
            <a:avLst/>
          </a:prstGeom>
          <a:noFill/>
        </p:spPr>
        <p:txBody>
          <a:bodyPr wrap="square" lIns="0" rIns="0" tIns="0" bIns="0" anchor="t">
            <a:spAutoFit/>
          </a:bodyPr>
          <a:lstStyle/>
          <a:p>
            <a:pPr algn="ctr">
              <a:spcAft>
                <a:spcPts val="400"/>
              </a:spcAft>
            </a:pPr>
            <a:r>
              <a:rPr sz="2600" b="1">
                <a:solidFill>
                  <a:srgbClr val="0F2331"/>
                </a:solidFill>
                <a:latin typeface="Arial"/>
              </a:rPr>
              <a:t>36.861</a:t>
            </a:r>
          </a:p>
        </p:txBody>
      </p:sp>
      <p:sp>
        <p:nvSpPr>
          <p:cNvPr id="15" name="TextBox 14"/>
          <p:cNvSpPr txBox="1"/>
          <p:nvPr/>
        </p:nvSpPr>
        <p:spPr>
          <a:xfrm>
            <a:off x="3611879" y="5358384"/>
            <a:ext cx="2468880" cy="460857"/>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box huấn luyện (+60%)</a:t>
            </a:r>
          </a:p>
        </p:txBody>
      </p:sp>
      <p:sp>
        <p:nvSpPr>
          <p:cNvPr id="16" name="Rounded Rectangle 15"/>
          <p:cNvSpPr/>
          <p:nvPr/>
        </p:nvSpPr>
        <p:spPr>
          <a:xfrm>
            <a:off x="6446520" y="4754880"/>
            <a:ext cx="5193792" cy="109728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4846320"/>
            <a:ext cx="4736592" cy="914400"/>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Backend và frontend cập nhật theo tên lớp mới (commit f4ccdd2 … 67cf444)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4 · V3</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v3 (29/09, job 4169118715503181824): cải thiện rõ trên ảnh cả cây</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24</a:t>
            </a:r>
          </a:p>
        </p:txBody>
      </p:sp>
      <p:graphicFrame>
        <p:nvGraphicFramePr>
          <p:cNvPr id="5" name="Chart 4"/>
          <p:cNvGraphicFramePr>
            <a:graphicFrameLocks noGrp="1"/>
          </p:cNvGraphicFramePr>
          <p:nvPr/>
        </p:nvGraphicFramePr>
        <p:xfrm>
          <a:off x="457200" y="1188720"/>
          <a:ext cx="6675120" cy="4206240"/>
        </p:xfrm>
        <a:graphic>
          <a:graphicData uri="http://schemas.openxmlformats.org/drawingml/2006/chart">
            <c:chart xmlns:c="http://schemas.openxmlformats.org/drawingml/2006/chart" r:id="rId2"/>
          </a:graphicData>
        </a:graphic>
      </p:graphicFrame>
      <p:sp>
        <p:nvSpPr>
          <p:cNvPr id="6" name="TextBox 5"/>
          <p:cNvSpPr txBox="1"/>
          <p:nvPr/>
        </p:nvSpPr>
        <p:spPr>
          <a:xfrm>
            <a:off x="548640" y="5440680"/>
            <a:ext cx="6583680" cy="27432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Recall detector trên cùng ảnh test (40 ảnh/nguồn)</a:t>
            </a:r>
          </a:p>
        </p:txBody>
      </p:sp>
      <p:sp>
        <p:nvSpPr>
          <p:cNvPr id="7" name="Rounded Rectangle 6"/>
          <p:cNvSpPr/>
          <p:nvPr/>
        </p:nvSpPr>
        <p:spPr>
          <a:xfrm>
            <a:off x="7360920" y="1280160"/>
            <a:ext cx="2057400" cy="1280160"/>
          </a:xfrm>
          <a:prstGeom prst="roundRect">
            <a:avLst>
              <a:gd name="adj" fmla="val 1028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408176"/>
            <a:ext cx="1874519" cy="640080"/>
          </a:xfrm>
          <a:prstGeom prst="rect">
            <a:avLst/>
          </a:prstGeom>
          <a:noFill/>
        </p:spPr>
        <p:txBody>
          <a:bodyPr wrap="square" lIns="0" rIns="0" tIns="0" bIns="0" anchor="t">
            <a:spAutoFit/>
          </a:bodyPr>
          <a:lstStyle/>
          <a:p>
            <a:pPr algn="ctr">
              <a:spcAft>
                <a:spcPts val="400"/>
              </a:spcAft>
            </a:pPr>
            <a:r>
              <a:rPr sz="2600" b="1">
                <a:solidFill>
                  <a:srgbClr val="187F5B"/>
                </a:solidFill>
                <a:latin typeface="Arial"/>
              </a:rPr>
              <a:t>90,2%</a:t>
            </a:r>
          </a:p>
        </p:txBody>
      </p:sp>
      <p:sp>
        <p:nvSpPr>
          <p:cNvPr id="9" name="TextBox 8"/>
          <p:cNvSpPr txBox="1"/>
          <p:nvPr/>
        </p:nvSpPr>
        <p:spPr>
          <a:xfrm>
            <a:off x="7498080" y="1984248"/>
            <a:ext cx="1783080" cy="537667"/>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xoài đúng</a:t>
            </a:r>
          </a:p>
          <a:p>
            <a:pPr algn="ctr">
              <a:spcAft>
                <a:spcPts val="400"/>
              </a:spcAft>
            </a:pPr>
            <a:r>
              <a:rPr sz="1300" b="0">
                <a:solidFill>
                  <a:srgbClr val="1F303A"/>
                </a:solidFill>
                <a:latin typeface="Arial"/>
              </a:rPr>
              <a:t>(v2: 63,9%)</a:t>
            </a:r>
          </a:p>
        </p:txBody>
      </p:sp>
      <p:sp>
        <p:nvSpPr>
          <p:cNvPr id="10" name="Rounded Rectangle 9"/>
          <p:cNvSpPr/>
          <p:nvPr/>
        </p:nvSpPr>
        <p:spPr>
          <a:xfrm>
            <a:off x="9582912" y="1280160"/>
            <a:ext cx="2057400" cy="1280160"/>
          </a:xfrm>
          <a:prstGeom prst="roundRect">
            <a:avLst>
              <a:gd name="adj" fmla="val 1028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74352" y="1408176"/>
            <a:ext cx="1874519" cy="640080"/>
          </a:xfrm>
          <a:prstGeom prst="rect">
            <a:avLst/>
          </a:prstGeom>
          <a:noFill/>
        </p:spPr>
        <p:txBody>
          <a:bodyPr wrap="square" lIns="0" rIns="0" tIns="0" bIns="0" anchor="t">
            <a:spAutoFit/>
          </a:bodyPr>
          <a:lstStyle/>
          <a:p>
            <a:pPr algn="ctr">
              <a:spcAft>
                <a:spcPts val="400"/>
              </a:spcAft>
            </a:pPr>
            <a:r>
              <a:rPr sz="2400" b="1">
                <a:solidFill>
                  <a:srgbClr val="187F5B"/>
                </a:solidFill>
                <a:latin typeface="Arial"/>
              </a:rPr>
              <a:t>179/234</a:t>
            </a:r>
          </a:p>
        </p:txBody>
      </p:sp>
      <p:sp>
        <p:nvSpPr>
          <p:cNvPr id="12" name="TextBox 11"/>
          <p:cNvSpPr txBox="1"/>
          <p:nvPr/>
        </p:nvSpPr>
        <p:spPr>
          <a:xfrm>
            <a:off x="9720072" y="1984248"/>
            <a:ext cx="1783080" cy="537667"/>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xoài có nhãn chắc</a:t>
            </a:r>
          </a:p>
          <a:p>
            <a:pPr algn="ctr">
              <a:spcAft>
                <a:spcPts val="400"/>
              </a:spcAft>
            </a:pPr>
            <a:r>
              <a:rPr sz="1300" b="0">
                <a:solidFill>
                  <a:srgbClr val="1F303A"/>
                </a:solidFill>
                <a:latin typeface="Arial"/>
              </a:rPr>
              <a:t>(174 đúng)</a:t>
            </a:r>
          </a:p>
        </p:txBody>
      </p:sp>
      <p:pic>
        <p:nvPicPr>
          <p:cNvPr id="13" name="Picture 12" descr="user_photo_2.jpg"/>
          <p:cNvPicPr>
            <a:picLocks noChangeAspect="1"/>
          </p:cNvPicPr>
          <p:nvPr/>
        </p:nvPicPr>
        <p:blipFill>
          <a:blip r:embed="rId3"/>
          <a:stretch>
            <a:fillRect/>
          </a:stretch>
        </p:blipFill>
        <p:spPr>
          <a:xfrm>
            <a:off x="7388352" y="2743200"/>
            <a:ext cx="2002536" cy="2670048"/>
          </a:xfrm>
          <a:prstGeom prst="rect">
            <a:avLst/>
          </a:prstGeom>
        </p:spPr>
      </p:pic>
      <p:sp>
        <p:nvSpPr>
          <p:cNvPr id="14" name="TextBox 13"/>
          <p:cNvSpPr txBox="1"/>
          <p:nvPr/>
        </p:nvSpPr>
        <p:spPr>
          <a:xfrm>
            <a:off x="7360920" y="5458968"/>
            <a:ext cx="20574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Trụ thanh long: 3 → 22</a:t>
            </a:r>
          </a:p>
        </p:txBody>
      </p:sp>
      <p:pic>
        <p:nvPicPr>
          <p:cNvPr id="15" name="Picture 14" descr="user_photo_3.jpg"/>
          <p:cNvPicPr>
            <a:picLocks noChangeAspect="1"/>
          </p:cNvPicPr>
          <p:nvPr/>
        </p:nvPicPr>
        <p:blipFill>
          <a:blip r:embed="rId4"/>
          <a:stretch>
            <a:fillRect/>
          </a:stretch>
        </p:blipFill>
        <p:spPr>
          <a:xfrm>
            <a:off x="9582912" y="3305328"/>
            <a:ext cx="2057400" cy="1545790"/>
          </a:xfrm>
          <a:prstGeom prst="rect">
            <a:avLst/>
          </a:prstGeom>
        </p:spPr>
      </p:pic>
      <p:sp>
        <p:nvSpPr>
          <p:cNvPr id="16" name="TextBox 15"/>
          <p:cNvSpPr txBox="1"/>
          <p:nvPr/>
        </p:nvSpPr>
        <p:spPr>
          <a:xfrm>
            <a:off x="9582912" y="5458968"/>
            <a:ext cx="20574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Cây xoài: 8 → 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4 · V3</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Chi tiết v3 — mô hình đang chạy trong ứng dụng</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25</a:t>
            </a:r>
          </a:p>
        </p:txBody>
      </p:sp>
      <p:graphicFrame>
        <p:nvGraphicFramePr>
          <p:cNvPr id="5" name="Table 4"/>
          <p:cNvGraphicFramePr>
            <a:graphicFrameLocks noGrp="1"/>
          </p:cNvGraphicFramePr>
          <p:nvPr/>
        </p:nvGraphicFramePr>
        <p:xfrm>
          <a:off x="548640" y="1280160"/>
          <a:ext cx="5486399" cy="2011680"/>
        </p:xfrm>
        <a:graphic>
          <a:graphicData uri="http://schemas.openxmlformats.org/drawingml/2006/table">
            <a:tbl>
              <a:tblPr firstRow="1" bandRow="1">
                <a:tableStyleId>{5C22544A-7EE6-4342-B048-85BDC9FD1C3A}</a:tableStyleId>
              </a:tblPr>
              <a:tblGrid>
                <a:gridCol w="2011680"/>
                <a:gridCol w="1097280"/>
                <a:gridCol w="1097280"/>
                <a:gridCol w="1280159"/>
              </a:tblGrid>
              <a:tr h="502920">
                <a:tc>
                  <a:txBody>
                    <a:bodyPr wrap="square"/>
                    <a:lstStyle/>
                    <a:p>
                      <a:r>
                        <a:rPr sz="1300" b="1">
                          <a:solidFill>
                            <a:srgbClr val="FFFFFF"/>
                          </a:solidFill>
                          <a:latin typeface="Arial"/>
                        </a:rPr>
                        <a:t>Detector test (2.037 ảnh, 7.468 box)</a:t>
                      </a:r>
                    </a:p>
                  </a:txBody>
                  <a:tcPr marL="64008" marR="64008" marT="32004" marB="32004" anchor="ctr">
                    <a:solidFill>
                      <a:srgbClr val="0F2331"/>
                    </a:solidFill>
                  </a:tcPr>
                </a:tc>
                <a:tc>
                  <a:txBody>
                    <a:bodyPr wrap="square"/>
                    <a:lstStyle/>
                    <a:p>
                      <a:r>
                        <a:rPr sz="1300" b="1">
                          <a:solidFill>
                            <a:srgbClr val="FFFFFF"/>
                          </a:solidFill>
                          <a:latin typeface="Arial"/>
                        </a:rPr>
                        <a:t>P</a:t>
                      </a:r>
                    </a:p>
                  </a:txBody>
                  <a:tcPr marL="64008" marR="64008" marT="32004" marB="32004" anchor="ctr">
                    <a:solidFill>
                      <a:srgbClr val="0F2331"/>
                    </a:solidFill>
                  </a:tcPr>
                </a:tc>
                <a:tc>
                  <a:txBody>
                    <a:bodyPr wrap="square"/>
                    <a:lstStyle/>
                    <a:p>
                      <a:r>
                        <a:rPr sz="1300" b="1">
                          <a:solidFill>
                            <a:srgbClr val="FFFFFF"/>
                          </a:solidFill>
                          <a:latin typeface="Arial"/>
                        </a:rPr>
                        <a:t>R</a:t>
                      </a:r>
                    </a:p>
                  </a:txBody>
                  <a:tcPr marL="64008" marR="64008" marT="32004" marB="32004" anchor="ctr">
                    <a:solidFill>
                      <a:srgbClr val="0F2331"/>
                    </a:solidFill>
                  </a:tcPr>
                </a:tc>
                <a:tc>
                  <a:txBody>
                    <a:bodyPr wrap="square"/>
                    <a:lstStyle/>
                    <a:p>
                      <a:r>
                        <a:rPr sz="1300" b="1">
                          <a:solidFill>
                            <a:srgbClr val="FFFFFF"/>
                          </a:solidFill>
                          <a:latin typeface="Arial"/>
                        </a:rPr>
                        <a:t>mAP50 / 50-95</a:t>
                      </a:r>
                    </a:p>
                  </a:txBody>
                  <a:tcPr marL="64008" marR="64008" marT="32004" marB="32004" anchor="ctr">
                    <a:solidFill>
                      <a:srgbClr val="0F2331"/>
                    </a:solidFill>
                  </a:tcPr>
                </a:tc>
              </a:tr>
              <a:tr h="502920">
                <a:tc>
                  <a:txBody>
                    <a:bodyPr wrap="square"/>
                    <a:lstStyle/>
                    <a:p>
                      <a:r>
                        <a:rPr sz="1300" b="1">
                          <a:solidFill>
                            <a:srgbClr val="1F303A"/>
                          </a:solidFill>
                          <a:latin typeface="Arial"/>
                        </a:rPr>
                        <a:t>Tất cả</a:t>
                      </a:r>
                    </a:p>
                  </a:txBody>
                  <a:tcPr marL="64008" marR="64008" marT="32004" marB="32004" anchor="ctr">
                    <a:solidFill>
                      <a:srgbClr val="FFFFFF"/>
                    </a:solidFill>
                  </a:tcPr>
                </a:tc>
                <a:tc>
                  <a:txBody>
                    <a:bodyPr wrap="square"/>
                    <a:lstStyle/>
                    <a:p>
                      <a:r>
                        <a:rPr sz="1300" b="0">
                          <a:solidFill>
                            <a:srgbClr val="1F303A"/>
                          </a:solidFill>
                          <a:latin typeface="Arial"/>
                        </a:rPr>
                        <a:t>92,2%</a:t>
                      </a:r>
                    </a:p>
                  </a:txBody>
                  <a:tcPr marL="64008" marR="64008" marT="32004" marB="32004" anchor="ctr">
                    <a:solidFill>
                      <a:srgbClr val="FFFFFF"/>
                    </a:solidFill>
                  </a:tcPr>
                </a:tc>
                <a:tc>
                  <a:txBody>
                    <a:bodyPr wrap="square"/>
                    <a:lstStyle/>
                    <a:p>
                      <a:r>
                        <a:rPr sz="1300" b="0">
                          <a:solidFill>
                            <a:srgbClr val="1F303A"/>
                          </a:solidFill>
                          <a:latin typeface="Arial"/>
                        </a:rPr>
                        <a:t>88,3%</a:t>
                      </a:r>
                    </a:p>
                  </a:txBody>
                  <a:tcPr marL="64008" marR="64008" marT="32004" marB="32004" anchor="ctr">
                    <a:solidFill>
                      <a:srgbClr val="FFFFFF"/>
                    </a:solidFill>
                  </a:tcPr>
                </a:tc>
                <a:tc>
                  <a:txBody>
                    <a:bodyPr wrap="square"/>
                    <a:lstStyle/>
                    <a:p>
                      <a:r>
                        <a:rPr sz="1300" b="0">
                          <a:solidFill>
                            <a:srgbClr val="1F303A"/>
                          </a:solidFill>
                          <a:latin typeface="Arial"/>
                        </a:rPr>
                        <a:t>94,9 / 68,3</a:t>
                      </a:r>
                    </a:p>
                  </a:txBody>
                  <a:tcPr marL="64008" marR="64008" marT="32004" marB="32004" anchor="ctr">
                    <a:solidFill>
                      <a:srgbClr val="FFFFFF"/>
                    </a:solidFill>
                  </a:tcPr>
                </a:tc>
              </a:tr>
              <a:tr h="502920">
                <a:tc>
                  <a:txBody>
                    <a:bodyPr wrap="square"/>
                    <a:lstStyle/>
                    <a:p>
                      <a:r>
                        <a:rPr sz="1300" b="1">
                          <a:solidFill>
                            <a:srgbClr val="1F303A"/>
                          </a:solidFill>
                          <a:latin typeface="Arial"/>
                        </a:rPr>
                        <a:t>Xoài</a:t>
                      </a:r>
                    </a:p>
                  </a:txBody>
                  <a:tcPr marL="64008" marR="64008" marT="32004" marB="32004" anchor="ctr">
                    <a:solidFill>
                      <a:srgbClr val="F8FBFA"/>
                    </a:solidFill>
                  </a:tcPr>
                </a:tc>
                <a:tc>
                  <a:txBody>
                    <a:bodyPr wrap="square"/>
                    <a:lstStyle/>
                    <a:p>
                      <a:r>
                        <a:rPr sz="1300" b="0">
                          <a:solidFill>
                            <a:srgbClr val="1F303A"/>
                          </a:solidFill>
                          <a:latin typeface="Arial"/>
                        </a:rPr>
                        <a:t>92,6%</a:t>
                      </a:r>
                    </a:p>
                  </a:txBody>
                  <a:tcPr marL="64008" marR="64008" marT="32004" marB="32004" anchor="ctr">
                    <a:solidFill>
                      <a:srgbClr val="F8FBFA"/>
                    </a:solidFill>
                  </a:tcPr>
                </a:tc>
                <a:tc>
                  <a:txBody>
                    <a:bodyPr wrap="square"/>
                    <a:lstStyle/>
                    <a:p>
                      <a:r>
                        <a:rPr sz="1300" b="0">
                          <a:solidFill>
                            <a:srgbClr val="1F303A"/>
                          </a:solidFill>
                          <a:latin typeface="Arial"/>
                        </a:rPr>
                        <a:t>86,6%</a:t>
                      </a:r>
                    </a:p>
                  </a:txBody>
                  <a:tcPr marL="64008" marR="64008" marT="32004" marB="32004" anchor="ctr">
                    <a:solidFill>
                      <a:srgbClr val="F8FBFA"/>
                    </a:solidFill>
                  </a:tcPr>
                </a:tc>
                <a:tc>
                  <a:txBody>
                    <a:bodyPr wrap="square"/>
                    <a:lstStyle/>
                    <a:p>
                      <a:r>
                        <a:rPr sz="1300" b="0">
                          <a:solidFill>
                            <a:srgbClr val="1F303A"/>
                          </a:solidFill>
                          <a:latin typeface="Arial"/>
                        </a:rPr>
                        <a:t>94,2 / 66,4</a:t>
                      </a:r>
                    </a:p>
                  </a:txBody>
                  <a:tcPr marL="64008" marR="64008" marT="32004" marB="32004" anchor="ctr">
                    <a:solidFill>
                      <a:srgbClr val="F8FBFA"/>
                    </a:solidFill>
                  </a:tcPr>
                </a:tc>
              </a:tr>
              <a:tr h="502920">
                <a:tc>
                  <a:txBody>
                    <a:bodyPr wrap="square"/>
                    <a:lstStyle/>
                    <a:p>
                      <a:r>
                        <a:rPr sz="1300" b="1">
                          <a:solidFill>
                            <a:srgbClr val="1F303A"/>
                          </a:solidFill>
                          <a:latin typeface="Arial"/>
                        </a:rPr>
                        <a:t>Thanh long</a:t>
                      </a:r>
                    </a:p>
                  </a:txBody>
                  <a:tcPr marL="64008" marR="64008" marT="32004" marB="32004" anchor="ctr">
                    <a:solidFill>
                      <a:srgbClr val="FFFFFF"/>
                    </a:solidFill>
                  </a:tcPr>
                </a:tc>
                <a:tc>
                  <a:txBody>
                    <a:bodyPr wrap="square"/>
                    <a:lstStyle/>
                    <a:p>
                      <a:r>
                        <a:rPr sz="1300" b="0">
                          <a:solidFill>
                            <a:srgbClr val="1F303A"/>
                          </a:solidFill>
                          <a:latin typeface="Arial"/>
                        </a:rPr>
                        <a:t>91,8%</a:t>
                      </a:r>
                    </a:p>
                  </a:txBody>
                  <a:tcPr marL="64008" marR="64008" marT="32004" marB="32004" anchor="ctr">
                    <a:solidFill>
                      <a:srgbClr val="FFFFFF"/>
                    </a:solidFill>
                  </a:tcPr>
                </a:tc>
                <a:tc>
                  <a:txBody>
                    <a:bodyPr wrap="square"/>
                    <a:lstStyle/>
                    <a:p>
                      <a:r>
                        <a:rPr sz="1300" b="0">
                          <a:solidFill>
                            <a:srgbClr val="1F303A"/>
                          </a:solidFill>
                          <a:latin typeface="Arial"/>
                        </a:rPr>
                        <a:t>90,0%</a:t>
                      </a:r>
                    </a:p>
                  </a:txBody>
                  <a:tcPr marL="64008" marR="64008" marT="32004" marB="32004" anchor="ctr">
                    <a:solidFill>
                      <a:srgbClr val="FFFFFF"/>
                    </a:solidFill>
                  </a:tcPr>
                </a:tc>
                <a:tc>
                  <a:txBody>
                    <a:bodyPr wrap="square"/>
                    <a:lstStyle/>
                    <a:p>
                      <a:r>
                        <a:rPr sz="1300" b="0">
                          <a:solidFill>
                            <a:srgbClr val="1F303A"/>
                          </a:solidFill>
                          <a:latin typeface="Arial"/>
                        </a:rPr>
                        <a:t>95,6 / 70,1</a:t>
                      </a:r>
                    </a:p>
                  </a:txBody>
                  <a:tcPr marL="64008" marR="64008" marT="32004" marB="32004" anchor="ctr">
                    <a:solidFill>
                      <a:srgbClr val="FFFFFF"/>
                    </a:solidFill>
                  </a:tcPr>
                </a:tc>
              </a:tr>
            </a:tbl>
          </a:graphicData>
        </a:graphic>
      </p:graphicFrame>
      <p:sp>
        <p:nvSpPr>
          <p:cNvPr id="6" name="TextBox 5"/>
          <p:cNvSpPr txBox="1"/>
          <p:nvPr/>
        </p:nvSpPr>
        <p:spPr>
          <a:xfrm>
            <a:off x="548640" y="3337560"/>
            <a:ext cx="5486400" cy="27432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Epoch tốt nhất 86/100 • thời gian 3 giờ 54 phút • V100 Spot</a:t>
            </a:r>
          </a:p>
        </p:txBody>
      </p:sp>
      <p:graphicFrame>
        <p:nvGraphicFramePr>
          <p:cNvPr id="7" name="Table 6"/>
          <p:cNvGraphicFramePr>
            <a:graphicFrameLocks noGrp="1"/>
          </p:cNvGraphicFramePr>
          <p:nvPr/>
        </p:nvGraphicFramePr>
        <p:xfrm>
          <a:off x="548640" y="3749039"/>
          <a:ext cx="5486400" cy="2011680"/>
        </p:xfrm>
        <a:graphic>
          <a:graphicData uri="http://schemas.openxmlformats.org/drawingml/2006/table">
            <a:tbl>
              <a:tblPr firstRow="1" bandRow="1">
                <a:tableStyleId>{5C22544A-7EE6-4342-B048-85BDC9FD1C3A}</a:tableStyleId>
              </a:tblPr>
              <a:tblGrid>
                <a:gridCol w="2011680"/>
                <a:gridCol w="1737360"/>
                <a:gridCol w="1737360"/>
              </a:tblGrid>
              <a:tr h="402336">
                <a:tc>
                  <a:txBody>
                    <a:bodyPr wrap="square"/>
                    <a:lstStyle/>
                    <a:p>
                      <a:r>
                        <a:rPr sz="1300" b="1">
                          <a:solidFill>
                            <a:srgbClr val="FFFFFF"/>
                          </a:solidFill>
                          <a:latin typeface="Arial"/>
                        </a:rPr>
                        <a:t>Classifier xoài (234 test)</a:t>
                      </a:r>
                    </a:p>
                  </a:txBody>
                  <a:tcPr marL="64008" marR="64008" marT="32004" marB="32004" anchor="ctr">
                    <a:solidFill>
                      <a:srgbClr val="0F2331"/>
                    </a:solidFill>
                  </a:tcPr>
                </a:tc>
                <a:tc>
                  <a:txBody>
                    <a:bodyPr wrap="square"/>
                    <a:lstStyle/>
                    <a:p>
                      <a:r>
                        <a:rPr sz="1300" b="1">
                          <a:solidFill>
                            <a:srgbClr val="FFFFFF"/>
                          </a:solidFill>
                          <a:latin typeface="Arial"/>
                        </a:rPr>
                        <a:t>Đúng / tổng</a:t>
                      </a:r>
                    </a:p>
                  </a:txBody>
                  <a:tcPr marL="64008" marR="64008" marT="32004" marB="32004" anchor="ctr">
                    <a:solidFill>
                      <a:srgbClr val="0F2331"/>
                    </a:solidFill>
                  </a:tcPr>
                </a:tc>
                <a:tc>
                  <a:txBody>
                    <a:bodyPr wrap="square"/>
                    <a:lstStyle/>
                    <a:p>
                      <a:r>
                        <a:rPr sz="1300" b="1">
                          <a:solidFill>
                            <a:srgbClr val="FFFFFF"/>
                          </a:solidFill>
                          <a:latin typeface="Arial"/>
                        </a:rPr>
                        <a:t>Ngưỡng lớp</a:t>
                      </a:r>
                    </a:p>
                  </a:txBody>
                  <a:tcPr marL="64008" marR="64008" marT="32004" marB="32004" anchor="ctr">
                    <a:solidFill>
                      <a:srgbClr val="0F2331"/>
                    </a:solidFill>
                  </a:tcPr>
                </a:tc>
              </a:tr>
              <a:tr h="402336">
                <a:tc>
                  <a:txBody>
                    <a:bodyPr wrap="square"/>
                    <a:lstStyle/>
                    <a:p>
                      <a:r>
                        <a:rPr sz="1300" b="1">
                          <a:solidFill>
                            <a:srgbClr val="1F303A"/>
                          </a:solidFill>
                          <a:latin typeface="Arial"/>
                        </a:rPr>
                        <a:t>young</a:t>
                      </a:r>
                    </a:p>
                  </a:txBody>
                  <a:tcPr marL="64008" marR="64008" marT="32004" marB="32004" anchor="ctr">
                    <a:solidFill>
                      <a:srgbClr val="FFFFFF"/>
                    </a:solidFill>
                  </a:tcPr>
                </a:tc>
                <a:tc>
                  <a:txBody>
                    <a:bodyPr wrap="square"/>
                    <a:lstStyle/>
                    <a:p>
                      <a:r>
                        <a:rPr sz="1300" b="0">
                          <a:solidFill>
                            <a:srgbClr val="1F303A"/>
                          </a:solidFill>
                          <a:latin typeface="Arial"/>
                        </a:rPr>
                        <a:t>64 / 74</a:t>
                      </a:r>
                    </a:p>
                  </a:txBody>
                  <a:tcPr marL="64008" marR="64008" marT="32004" marB="32004" anchor="ctr">
                    <a:solidFill>
                      <a:srgbClr val="FFFFFF"/>
                    </a:solidFill>
                  </a:tcPr>
                </a:tc>
                <a:tc>
                  <a:txBody>
                    <a:bodyPr wrap="square"/>
                    <a:lstStyle/>
                    <a:p>
                      <a:r>
                        <a:rPr sz="1300" b="0">
                          <a:solidFill>
                            <a:srgbClr val="1F303A"/>
                          </a:solidFill>
                          <a:latin typeface="Arial"/>
                        </a:rPr>
                        <a:t>0,46</a:t>
                      </a:r>
                    </a:p>
                  </a:txBody>
                  <a:tcPr marL="64008" marR="64008" marT="32004" marB="32004" anchor="ctr">
                    <a:solidFill>
                      <a:srgbClr val="FFFFFF"/>
                    </a:solidFill>
                  </a:tcPr>
                </a:tc>
              </a:tr>
              <a:tr h="402336">
                <a:tc>
                  <a:txBody>
                    <a:bodyPr wrap="square"/>
                    <a:lstStyle/>
                    <a:p>
                      <a:r>
                        <a:rPr sz="1300" b="1">
                          <a:solidFill>
                            <a:srgbClr val="1F303A"/>
                          </a:solidFill>
                          <a:latin typeface="Arial"/>
                        </a:rPr>
                        <a:t>mature</a:t>
                      </a:r>
                    </a:p>
                  </a:txBody>
                  <a:tcPr marL="64008" marR="64008" marT="32004" marB="32004" anchor="ctr">
                    <a:solidFill>
                      <a:srgbClr val="F8FBFA"/>
                    </a:solidFill>
                  </a:tcPr>
                </a:tc>
                <a:tc>
                  <a:txBody>
                    <a:bodyPr wrap="square"/>
                    <a:lstStyle/>
                    <a:p>
                      <a:r>
                        <a:rPr sz="1300" b="0">
                          <a:solidFill>
                            <a:srgbClr val="1F303A"/>
                          </a:solidFill>
                          <a:latin typeface="Arial"/>
                        </a:rPr>
                        <a:t>76 / 87</a:t>
                      </a:r>
                    </a:p>
                  </a:txBody>
                  <a:tcPr marL="64008" marR="64008" marT="32004" marB="32004" anchor="ctr">
                    <a:solidFill>
                      <a:srgbClr val="F8FBFA"/>
                    </a:solidFill>
                  </a:tcPr>
                </a:tc>
                <a:tc>
                  <a:txBody>
                    <a:bodyPr wrap="square"/>
                    <a:lstStyle/>
                    <a:p>
                      <a:r>
                        <a:rPr sz="1300" b="0">
                          <a:solidFill>
                            <a:srgbClr val="1F303A"/>
                          </a:solidFill>
                          <a:latin typeface="Arial"/>
                        </a:rPr>
                        <a:t>0,44</a:t>
                      </a:r>
                    </a:p>
                  </a:txBody>
                  <a:tcPr marL="64008" marR="64008" marT="32004" marB="32004" anchor="ctr">
                    <a:solidFill>
                      <a:srgbClr val="F8FBFA"/>
                    </a:solidFill>
                  </a:tcPr>
                </a:tc>
              </a:tr>
              <a:tr h="402336">
                <a:tc>
                  <a:txBody>
                    <a:bodyPr wrap="square"/>
                    <a:lstStyle/>
                    <a:p>
                      <a:r>
                        <a:rPr sz="1300" b="1">
                          <a:solidFill>
                            <a:srgbClr val="1F303A"/>
                          </a:solidFill>
                          <a:latin typeface="Arial"/>
                        </a:rPr>
                        <a:t>turning</a:t>
                      </a:r>
                    </a:p>
                  </a:txBody>
                  <a:tcPr marL="64008" marR="64008" marT="32004" marB="32004" anchor="ctr">
                    <a:solidFill>
                      <a:srgbClr val="FFFFFF"/>
                    </a:solidFill>
                  </a:tcPr>
                </a:tc>
                <a:tc>
                  <a:txBody>
                    <a:bodyPr wrap="square"/>
                    <a:lstStyle/>
                    <a:p>
                      <a:r>
                        <a:rPr sz="1300" b="0">
                          <a:solidFill>
                            <a:srgbClr val="1F303A"/>
                          </a:solidFill>
                          <a:latin typeface="Arial"/>
                        </a:rPr>
                        <a:t>24 / 24</a:t>
                      </a:r>
                    </a:p>
                  </a:txBody>
                  <a:tcPr marL="64008" marR="64008" marT="32004" marB="32004" anchor="ctr">
                    <a:solidFill>
                      <a:srgbClr val="FFFFFF"/>
                    </a:solidFill>
                  </a:tcPr>
                </a:tc>
                <a:tc>
                  <a:txBody>
                    <a:bodyPr wrap="square"/>
                    <a:lstStyle/>
                    <a:p>
                      <a:r>
                        <a:rPr sz="1300" b="0">
                          <a:solidFill>
                            <a:srgbClr val="1F303A"/>
                          </a:solidFill>
                          <a:latin typeface="Arial"/>
                        </a:rPr>
                        <a:t>0,82</a:t>
                      </a:r>
                    </a:p>
                  </a:txBody>
                  <a:tcPr marL="64008" marR="64008" marT="32004" marB="32004" anchor="ctr">
                    <a:solidFill>
                      <a:srgbClr val="FFFFFF"/>
                    </a:solidFill>
                  </a:tcPr>
                </a:tc>
              </a:tr>
              <a:tr h="402336">
                <a:tc>
                  <a:txBody>
                    <a:bodyPr wrap="square"/>
                    <a:lstStyle/>
                    <a:p>
                      <a:r>
                        <a:rPr sz="1300" b="1">
                          <a:solidFill>
                            <a:srgbClr val="1F303A"/>
                          </a:solidFill>
                          <a:latin typeface="Arial"/>
                        </a:rPr>
                        <a:t>ripe</a:t>
                      </a:r>
                    </a:p>
                  </a:txBody>
                  <a:tcPr marL="64008" marR="64008" marT="32004" marB="32004" anchor="ctr">
                    <a:solidFill>
                      <a:srgbClr val="F8FBFA"/>
                    </a:solidFill>
                  </a:tcPr>
                </a:tc>
                <a:tc>
                  <a:txBody>
                    <a:bodyPr wrap="square"/>
                    <a:lstStyle/>
                    <a:p>
                      <a:r>
                        <a:rPr sz="1300" b="0">
                          <a:solidFill>
                            <a:srgbClr val="1F303A"/>
                          </a:solidFill>
                          <a:latin typeface="Arial"/>
                        </a:rPr>
                        <a:t>47 / 49</a:t>
                      </a:r>
                    </a:p>
                  </a:txBody>
                  <a:tcPr marL="64008" marR="64008" marT="32004" marB="32004" anchor="ctr">
                    <a:solidFill>
                      <a:srgbClr val="F8FBFA"/>
                    </a:solidFill>
                  </a:tcPr>
                </a:tc>
                <a:tc>
                  <a:txBody>
                    <a:bodyPr wrap="square"/>
                    <a:lstStyle/>
                    <a:p>
                      <a:r>
                        <a:rPr sz="1300" b="0">
                          <a:solidFill>
                            <a:srgbClr val="1F303A"/>
                          </a:solidFill>
                          <a:latin typeface="Arial"/>
                        </a:rPr>
                        <a:t>0,54</a:t>
                      </a:r>
                    </a:p>
                  </a:txBody>
                  <a:tcPr marL="64008" marR="64008" marT="32004" marB="32004" anchor="ctr">
                    <a:solidFill>
                      <a:srgbClr val="F8FBFA"/>
                    </a:solidFill>
                  </a:tcPr>
                </a:tc>
              </a:tr>
            </a:tbl>
          </a:graphicData>
        </a:graphic>
      </p:graphicFrame>
      <p:sp>
        <p:nvSpPr>
          <p:cNvPr id="8" name="Rounded Rectangle 7"/>
          <p:cNvSpPr/>
          <p:nvPr/>
        </p:nvSpPr>
        <p:spPr>
          <a:xfrm>
            <a:off x="6263640" y="1280160"/>
            <a:ext cx="5376672" cy="2331720"/>
          </a:xfrm>
          <a:prstGeom prst="roundRect">
            <a:avLst>
              <a:gd name="adj" fmla="val 564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7" y="1463039"/>
            <a:ext cx="4974336"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Hiệu chỉnh xác suất</a:t>
            </a:r>
          </a:p>
        </p:txBody>
      </p:sp>
      <p:sp>
        <p:nvSpPr>
          <p:cNvPr id="10" name="TextBox 9"/>
          <p:cNvSpPr txBox="1"/>
          <p:nvPr/>
        </p:nvSpPr>
        <p:spPr>
          <a:xfrm>
            <a:off x="6464807" y="1920239"/>
            <a:ext cx="4974336" cy="160019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Xoài: T = 2,154 trên 235 crop calibration; ECE 0,071 → 0,034</a:t>
            </a:r>
          </a:p>
          <a:p>
            <a:pPr algn="l" marL="203200" indent="-203200">
              <a:spcAft>
                <a:spcPts val="600"/>
              </a:spcAft>
              <a:buChar char="•"/>
            </a:pPr>
            <a:r>
              <a:rPr sz="1600" b="0">
                <a:solidFill>
                  <a:srgbClr val="1F303A"/>
                </a:solidFill>
                <a:latin typeface="Arial"/>
              </a:rPr>
              <a:t>Thanh long: T = 0,050; ECE 0,004 → 0; ngưỡng ≈ 1,0 vì tập calibration tách biệt hoàn toàn</a:t>
            </a:r>
          </a:p>
        </p:txBody>
      </p:sp>
      <p:sp>
        <p:nvSpPr>
          <p:cNvPr id="11" name="Rounded Rectangle 10"/>
          <p:cNvSpPr/>
          <p:nvPr/>
        </p:nvSpPr>
        <p:spPr>
          <a:xfrm>
            <a:off x="6263640" y="3749039"/>
            <a:ext cx="5376672" cy="2011680"/>
          </a:xfrm>
          <a:prstGeom prst="roundRect">
            <a:avLst>
              <a:gd name="adj" fmla="val 654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7" y="3931920"/>
            <a:ext cx="4974336"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Cần nói rõ</a:t>
            </a:r>
          </a:p>
        </p:txBody>
      </p:sp>
      <p:sp>
        <p:nvSpPr>
          <p:cNvPr id="13" name="TextBox 12"/>
          <p:cNvSpPr txBox="1"/>
          <p:nvPr/>
        </p:nvSpPr>
        <p:spPr>
          <a:xfrm>
            <a:off x="6464807" y="4389120"/>
            <a:ext cx="4974336" cy="12801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Thanh long 100% (131/131) trên tập đã tuyển chọn, T rất nhỏ → mô hình có thể dựa cả vào nền ảnh. Chưa có ảnh độc lập từ vườn mục tiêu.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KIỂM TRA V3</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30/09: thử v3 trên ảnh Internet và ảnh không có quả</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26</a:t>
            </a:r>
          </a:p>
        </p:txBody>
      </p:sp>
      <p:sp>
        <p:nvSpPr>
          <p:cNvPr id="5" name="Rounded Rectangle 4"/>
          <p:cNvSpPr/>
          <p:nvPr/>
        </p:nvSpPr>
        <p:spPr>
          <a:xfrm>
            <a:off x="548640" y="1280160"/>
            <a:ext cx="3566160" cy="3657600"/>
          </a:xfrm>
          <a:prstGeom prst="roundRect">
            <a:avLst>
              <a:gd name="adj" fmla="val 35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316382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Làm tốt (37 ảnh Wikimedia)</a:t>
            </a:r>
          </a:p>
        </p:txBody>
      </p:sp>
      <p:sp>
        <p:nvSpPr>
          <p:cNvPr id="7" name="TextBox 6"/>
          <p:cNvSpPr txBox="1"/>
          <p:nvPr/>
        </p:nvSpPr>
        <p:spPr>
          <a:xfrm>
            <a:off x="749808" y="1920239"/>
            <a:ext cx="3163824" cy="29260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Tìm thấy xoài ở 10/11 ảnh có xoài (31 quả trên một cây đông)</a:t>
            </a:r>
          </a:p>
          <a:p>
            <a:pPr algn="l" marL="203200" indent="-203200">
              <a:spcAft>
                <a:spcPts val="600"/>
              </a:spcAft>
              <a:buChar char="•"/>
            </a:pPr>
            <a:r>
              <a:rPr sz="1600" b="0">
                <a:solidFill>
                  <a:srgbClr val="1F303A"/>
                </a:solidFill>
                <a:latin typeface="Arial"/>
              </a:rPr>
              <a:t>Xoài vàng chín: đúng nhãn</a:t>
            </a:r>
          </a:p>
          <a:p>
            <a:pPr algn="l" marL="203200" indent="-203200">
              <a:spcAft>
                <a:spcPts val="600"/>
              </a:spcAft>
              <a:buChar char="•"/>
            </a:pPr>
            <a:r>
              <a:rPr sz="1600" b="0">
                <a:solidFill>
                  <a:srgbClr val="1F303A"/>
                </a:solidFill>
                <a:latin typeface="Arial"/>
              </a:rPr>
              <a:t>Thanh long trên trụ: đúng</a:t>
            </a:r>
          </a:p>
          <a:p>
            <a:pPr algn="l" marL="203200" indent="-203200">
              <a:spcAft>
                <a:spcPts val="600"/>
              </a:spcAft>
              <a:buChar char="•"/>
            </a:pPr>
            <a:r>
              <a:rPr sz="1600" b="0">
                <a:solidFill>
                  <a:srgbClr val="1F303A"/>
                </a:solidFill>
                <a:latin typeface="Arial"/>
              </a:rPr>
              <a:t>Gần như không báo nhầm lá, hoa, nhà</a:t>
            </a:r>
          </a:p>
        </p:txBody>
      </p:sp>
      <p:sp>
        <p:nvSpPr>
          <p:cNvPr id="8" name="Rounded Rectangle 7"/>
          <p:cNvSpPr/>
          <p:nvPr/>
        </p:nvSpPr>
        <p:spPr>
          <a:xfrm>
            <a:off x="4315968" y="1280160"/>
            <a:ext cx="3566160" cy="3657600"/>
          </a:xfrm>
          <a:prstGeom prst="roundRect">
            <a:avLst>
              <a:gd name="adj" fmla="val 35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463039"/>
            <a:ext cx="316382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Lỗi mới</a:t>
            </a:r>
          </a:p>
        </p:txBody>
      </p:sp>
      <p:sp>
        <p:nvSpPr>
          <p:cNvPr id="10" name="TextBox 9"/>
          <p:cNvSpPr txBox="1"/>
          <p:nvPr/>
        </p:nvSpPr>
        <p:spPr>
          <a:xfrm>
            <a:off x="4517136" y="1920239"/>
            <a:ext cx="3163824" cy="29260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Vải bị gọi là thanh long</a:t>
            </a:r>
          </a:p>
          <a:p>
            <a:pPr algn="l" marL="203200" indent="-203200">
              <a:spcAft>
                <a:spcPts val="600"/>
              </a:spcAft>
              <a:buChar char="•"/>
            </a:pPr>
            <a:r>
              <a:rPr sz="1600" b="0">
                <a:solidFill>
                  <a:srgbClr val="1F303A"/>
                </a:solidFill>
                <a:latin typeface="Arial"/>
              </a:rPr>
              <a:t>Hoa thanh long → quả xanh</a:t>
            </a:r>
          </a:p>
          <a:p>
            <a:pPr algn="l" marL="203200" indent="-203200">
              <a:spcAft>
                <a:spcPts val="600"/>
              </a:spcAft>
              <a:buChar char="•"/>
            </a:pPr>
            <a:r>
              <a:rPr sz="1600" b="0">
                <a:solidFill>
                  <a:srgbClr val="1F303A"/>
                </a:solidFill>
                <a:latin typeface="Arial"/>
              </a:rPr>
              <a:t>Xoài đỏ: uncertain</a:t>
            </a:r>
          </a:p>
          <a:p>
            <a:pPr algn="l" marL="203200" indent="-203200">
              <a:spcAft>
                <a:spcPts val="600"/>
              </a:spcAft>
              <a:buChar char="•"/>
            </a:pPr>
            <a:r>
              <a:rPr sz="1600" b="0">
                <a:solidFill>
                  <a:srgbClr val="1F303A"/>
                </a:solidFill>
                <a:latin typeface="Arial"/>
              </a:rPr>
              <a:t>Xoài xanh cận cảnh hay uncertain</a:t>
            </a:r>
          </a:p>
        </p:txBody>
      </p:sp>
      <p:graphicFrame>
        <p:nvGraphicFramePr>
          <p:cNvPr id="11" name="Chart 10"/>
          <p:cNvGraphicFramePr>
            <a:graphicFrameLocks noGrp="1"/>
          </p:cNvGraphicFramePr>
          <p:nvPr/>
        </p:nvGraphicFramePr>
        <p:xfrm>
          <a:off x="8001000" y="1188720"/>
          <a:ext cx="3657600" cy="3840480"/>
        </p:xfrm>
        <a:graphic>
          <a:graphicData uri="http://schemas.openxmlformats.org/drawingml/2006/chart">
            <c:chart xmlns:c="http://schemas.openxmlformats.org/drawingml/2006/chart" r:id="rId2"/>
          </a:graphicData>
        </a:graphic>
      </p:graphicFrame>
      <p:sp>
        <p:nvSpPr>
          <p:cNvPr id="12" name="TextBox 11"/>
          <p:cNvSpPr txBox="1"/>
          <p:nvPr/>
        </p:nvSpPr>
        <p:spPr>
          <a:xfrm>
            <a:off x="8092440" y="5029200"/>
            <a:ext cx="3566160" cy="27432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Box sai của v3 trên ảnh âm tính</a:t>
            </a:r>
          </a:p>
        </p:txBody>
      </p:sp>
      <p:sp>
        <p:nvSpPr>
          <p:cNvPr id="13" name="Rounded Rectangle 12"/>
          <p:cNvSpPr/>
          <p:nvPr/>
        </p:nvSpPr>
        <p:spPr>
          <a:xfrm>
            <a:off x="548640" y="5440680"/>
            <a:ext cx="11091672" cy="54864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532120"/>
            <a:ext cx="10634472" cy="365759"/>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 Lý do làm v4: thêm ảnh âm tính (quả giống), thêm ảnh trụ thanh long dày quả, tăng độ phân giải 1280 px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5 · V4</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v4 (30/09): job "thành công" nhưng mô hình hỏng</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27</a:t>
            </a:r>
          </a:p>
        </p:txBody>
      </p:sp>
      <p:sp>
        <p:nvSpPr>
          <p:cNvPr id="5" name="Rounded Rectangle 4"/>
          <p:cNvSpPr/>
          <p:nvPr/>
        </p:nvSpPr>
        <p:spPr>
          <a:xfrm>
            <a:off x="548640" y="1280160"/>
            <a:ext cx="3566160" cy="3794760"/>
          </a:xfrm>
          <a:prstGeom prst="roundRect">
            <a:avLst>
              <a:gd name="adj" fmla="val 346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316382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Thay đổi (cùng lúc)</a:t>
            </a:r>
          </a:p>
        </p:txBody>
      </p:sp>
      <p:sp>
        <p:nvSpPr>
          <p:cNvPr id="7" name="TextBox 6"/>
          <p:cNvSpPr txBox="1"/>
          <p:nvPr/>
        </p:nvSpPr>
        <p:spPr>
          <a:xfrm>
            <a:off x="749808" y="1920239"/>
            <a:ext cx="3163824" cy="306324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20.187 ảnh (+5.534 thanh-long, +1.428 ảnh âm tính)</a:t>
            </a:r>
          </a:p>
          <a:p>
            <a:pPr algn="l" marL="203200" indent="-203200">
              <a:spcAft>
                <a:spcPts val="600"/>
              </a:spcAft>
              <a:buChar char="•"/>
            </a:pPr>
            <a:r>
              <a:rPr sz="1600" b="0">
                <a:solidFill>
                  <a:srgbClr val="1F303A"/>
                </a:solidFill>
                <a:latin typeface="Arial"/>
              </a:rPr>
              <a:t>1280 px thay vì 960</a:t>
            </a:r>
          </a:p>
          <a:p>
            <a:pPr algn="l" marL="203200" indent="-203200">
              <a:spcAft>
                <a:spcPts val="600"/>
              </a:spcAft>
              <a:buChar char="•"/>
            </a:pPr>
            <a:r>
              <a:rPr sz="1600" b="0">
                <a:solidFill>
                  <a:srgbClr val="1F303A"/>
                </a:solidFill>
                <a:latin typeface="Arial"/>
              </a:rPr>
              <a:t>Fine-tune từ v3, 50 epoch, lr0 = 0,01</a:t>
            </a:r>
          </a:p>
          <a:p>
            <a:pPr algn="l" marL="203200" indent="-203200">
              <a:spcAft>
                <a:spcPts val="600"/>
              </a:spcAft>
              <a:buChar char="•"/>
            </a:pPr>
            <a:r>
              <a:rPr sz="1600" b="0">
                <a:solidFill>
                  <a:srgbClr val="1F303A"/>
                </a:solidFill>
                <a:latin typeface="Arial"/>
              </a:rPr>
              <a:t>4,07 giờ, ~293 giây/epoch</a:t>
            </a:r>
          </a:p>
        </p:txBody>
      </p:sp>
      <p:sp>
        <p:nvSpPr>
          <p:cNvPr id="8" name="Rounded Rectangle 7"/>
          <p:cNvSpPr/>
          <p:nvPr/>
        </p:nvSpPr>
        <p:spPr>
          <a:xfrm>
            <a:off x="4315968" y="1280160"/>
            <a:ext cx="1737360" cy="1463040"/>
          </a:xfrm>
          <a:prstGeom prst="roundRect">
            <a:avLst>
              <a:gd name="adj" fmla="val 89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7" y="1408176"/>
            <a:ext cx="1554480" cy="731520"/>
          </a:xfrm>
          <a:prstGeom prst="rect">
            <a:avLst/>
          </a:prstGeom>
          <a:noFill/>
        </p:spPr>
        <p:txBody>
          <a:bodyPr wrap="square" lIns="0" rIns="0" tIns="0" bIns="0" anchor="t">
            <a:spAutoFit/>
          </a:bodyPr>
          <a:lstStyle/>
          <a:p>
            <a:pPr algn="ctr">
              <a:spcAft>
                <a:spcPts val="400"/>
              </a:spcAft>
            </a:pPr>
            <a:r>
              <a:rPr sz="2600" b="1">
                <a:solidFill>
                  <a:srgbClr val="187F5B"/>
                </a:solidFill>
                <a:latin typeface="Arial"/>
              </a:rPr>
              <a:t>93,3%</a:t>
            </a:r>
          </a:p>
        </p:txBody>
      </p:sp>
      <p:sp>
        <p:nvSpPr>
          <p:cNvPr id="10" name="TextBox 9"/>
          <p:cNvSpPr txBox="1"/>
          <p:nvPr/>
        </p:nvSpPr>
        <p:spPr>
          <a:xfrm>
            <a:off x="4453128" y="2084832"/>
            <a:ext cx="1463039" cy="614476"/>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mAP50 val lúc train</a:t>
            </a:r>
          </a:p>
        </p:txBody>
      </p:sp>
      <p:sp>
        <p:nvSpPr>
          <p:cNvPr id="11" name="Rounded Rectangle 10"/>
          <p:cNvSpPr/>
          <p:nvPr/>
        </p:nvSpPr>
        <p:spPr>
          <a:xfrm>
            <a:off x="6144768" y="1280160"/>
            <a:ext cx="1737360" cy="1463040"/>
          </a:xfrm>
          <a:prstGeom prst="roundRect">
            <a:avLst>
              <a:gd name="adj" fmla="val 89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6207" y="1408176"/>
            <a:ext cx="1554480" cy="731520"/>
          </a:xfrm>
          <a:prstGeom prst="rect">
            <a:avLst/>
          </a:prstGeom>
          <a:noFill/>
        </p:spPr>
        <p:txBody>
          <a:bodyPr wrap="square" lIns="0" rIns="0" tIns="0" bIns="0" anchor="t">
            <a:spAutoFit/>
          </a:bodyPr>
          <a:lstStyle/>
          <a:p>
            <a:pPr algn="ctr">
              <a:spcAft>
                <a:spcPts val="400"/>
              </a:spcAft>
            </a:pPr>
            <a:r>
              <a:rPr sz="2600" b="1">
                <a:solidFill>
                  <a:srgbClr val="B34340"/>
                </a:solidFill>
                <a:latin typeface="Arial"/>
              </a:rPr>
              <a:t>31,4%</a:t>
            </a:r>
          </a:p>
        </p:txBody>
      </p:sp>
      <p:sp>
        <p:nvSpPr>
          <p:cNvPr id="13" name="TextBox 12"/>
          <p:cNvSpPr txBox="1"/>
          <p:nvPr/>
        </p:nvSpPr>
        <p:spPr>
          <a:xfrm>
            <a:off x="6281928" y="2084832"/>
            <a:ext cx="1463039" cy="614476"/>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mAP50 khi tải lại best.pt</a:t>
            </a:r>
          </a:p>
        </p:txBody>
      </p:sp>
      <p:sp>
        <p:nvSpPr>
          <p:cNvPr id="14" name="Rounded Rectangle 13"/>
          <p:cNvSpPr/>
          <p:nvPr/>
        </p:nvSpPr>
        <p:spPr>
          <a:xfrm>
            <a:off x="4315968" y="2926080"/>
            <a:ext cx="3566160" cy="2148840"/>
          </a:xfrm>
          <a:prstGeom prst="roundRect">
            <a:avLst>
              <a:gd name="adj" fmla="val 61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3108960"/>
            <a:ext cx="316382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Nguyên nhân</a:t>
            </a:r>
          </a:p>
        </p:txBody>
      </p:sp>
      <p:sp>
        <p:nvSpPr>
          <p:cNvPr id="16" name="TextBox 15"/>
          <p:cNvSpPr txBox="1"/>
          <p:nvPr/>
        </p:nvSpPr>
        <p:spPr>
          <a:xfrm>
            <a:off x="4517136" y="3566160"/>
            <a:ext cx="3163824" cy="141731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Lưu checkpoint ở FP16: </a:t>
            </a:r>
            <a:r>
              <a:rPr sz="1600" b="1">
                <a:solidFill>
                  <a:srgbClr val="1F303A"/>
                </a:solidFill>
                <a:latin typeface="Arial"/>
              </a:rPr>
              <a:t>27 phương sai BatchNorm</a:t>
            </a:r>
            <a:r>
              <a:rPr sz="1600" b="0">
                <a:solidFill>
                  <a:srgbClr val="1F303A"/>
                </a:solidFill>
                <a:latin typeface="Arial"/>
              </a:rPr>
              <a:t> bão hòa ở 65.504 (giá trị lớn nhất của FP16). Thanh long test mAP50 còn 0,011.</a:t>
            </a:r>
          </a:p>
        </p:txBody>
      </p:sp>
      <p:sp>
        <p:nvSpPr>
          <p:cNvPr id="17" name="Rounded Rectangle 16"/>
          <p:cNvSpPr/>
          <p:nvPr/>
        </p:nvSpPr>
        <p:spPr>
          <a:xfrm>
            <a:off x="8083296" y="1280160"/>
            <a:ext cx="3557016" cy="3794760"/>
          </a:xfrm>
          <a:prstGeom prst="roundRect">
            <a:avLst>
              <a:gd name="adj" fmla="val 346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1463039"/>
            <a:ext cx="3154680"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Kể cả bản sửa</a:t>
            </a:r>
          </a:p>
        </p:txBody>
      </p:sp>
      <p:sp>
        <p:nvSpPr>
          <p:cNvPr id="19" name="TextBox 18"/>
          <p:cNvSpPr txBox="1"/>
          <p:nvPr/>
        </p:nvSpPr>
        <p:spPr>
          <a:xfrm>
            <a:off x="8284464" y="1920239"/>
            <a:ext cx="3154680" cy="306324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Ước lượng lại BatchNorm → vẫn mất xoài: ảnh 11 quả → 0, xoài đỏ 10 → 5</a:t>
            </a:r>
          </a:p>
          <a:p>
            <a:pPr algn="l" marL="203200" indent="-203200">
              <a:spcAft>
                <a:spcPts val="600"/>
              </a:spcAft>
              <a:buChar char="•"/>
            </a:pPr>
            <a:r>
              <a:rPr sz="1600" b="0">
                <a:solidFill>
                  <a:srgbClr val="1F303A"/>
                </a:solidFill>
                <a:latin typeface="Arial"/>
              </a:rPr>
              <a:t>76/830 ảnh test có ảnh gần giống trong train</a:t>
            </a:r>
          </a:p>
          <a:p>
            <a:pPr algn="l" marL="203200" indent="-203200">
              <a:spcAft>
                <a:spcPts val="600"/>
              </a:spcAft>
              <a:buChar char="•"/>
            </a:pPr>
            <a:r>
              <a:rPr sz="1600" b="0">
                <a:solidFill>
                  <a:srgbClr val="1F303A"/>
                </a:solidFill>
                <a:latin typeface="Arial"/>
              </a:rPr>
              <a:t>Đổi nhiều thứ cùng lúc → không biết cái nào gây lỗi</a:t>
            </a:r>
          </a:p>
        </p:txBody>
      </p:sp>
      <p:sp>
        <p:nvSpPr>
          <p:cNvPr id="20" name="Rounded Rectangle 19"/>
          <p:cNvSpPr/>
          <p:nvPr/>
        </p:nvSpPr>
        <p:spPr>
          <a:xfrm>
            <a:off x="548640" y="5303520"/>
            <a:ext cx="11091672" cy="59436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394959"/>
            <a:ext cx="10634472" cy="411480"/>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Sửa: checkpoint FP32 (định dạng fruit-fp32-v1), kiểm tra dự đoán giống hệt sau khi lưu/tải lại, guard d4b85a1. Giữ v3.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PHỤC HỒI</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02/10: chuẩn bị đánh giá công bằng trước khi thử tiếp</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28</a:t>
            </a:r>
          </a:p>
        </p:txBody>
      </p:sp>
      <p:sp>
        <p:nvSpPr>
          <p:cNvPr id="5" name="Rounded Rectangle 4"/>
          <p:cNvSpPr/>
          <p:nvPr/>
        </p:nvSpPr>
        <p:spPr>
          <a:xfrm>
            <a:off x="548640" y="1280160"/>
            <a:ext cx="3566160" cy="4206240"/>
          </a:xfrm>
          <a:prstGeom prst="roundRect">
            <a:avLst>
              <a:gd name="adj" fmla="val 31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316382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Checkpoint an toàn</a:t>
            </a:r>
          </a:p>
        </p:txBody>
      </p:sp>
      <p:sp>
        <p:nvSpPr>
          <p:cNvPr id="7" name="TextBox 6"/>
          <p:cNvSpPr txBox="1"/>
          <p:nvPr/>
        </p:nvSpPr>
        <p:spPr>
          <a:xfrm>
            <a:off x="749808" y="1920239"/>
            <a:ext cx="3163824" cy="347471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best.pt FP32 + last.pt giữ optimizer và EMA</a:t>
            </a:r>
          </a:p>
          <a:p>
            <a:pPr algn="l" marL="203200" indent="-203200">
              <a:spcAft>
                <a:spcPts val="600"/>
              </a:spcAft>
              <a:buChar char="•"/>
            </a:pPr>
            <a:r>
              <a:rPr sz="1600" b="0">
                <a:solidFill>
                  <a:srgbClr val="1F303A"/>
                </a:solidFill>
                <a:latin typeface="Arial"/>
              </a:rPr>
              <a:t>Kiểm tra tensor hữu hạn, BatchNorm hợp lệ, dự đoán giống hệt sau khi tải lại</a:t>
            </a:r>
          </a:p>
          <a:p>
            <a:pPr algn="l" marL="203200" indent="-203200">
              <a:spcAft>
                <a:spcPts val="600"/>
              </a:spcAft>
              <a:buChar char="•"/>
            </a:pPr>
            <a:r>
              <a:rPr sz="1600" b="0">
                <a:solidFill>
                  <a:srgbClr val="1F303A"/>
                </a:solidFill>
                <a:latin typeface="Arial"/>
              </a:rPr>
              <a:t>Smoke test CPU: ngắt sau epoch 0, resume, xong epoch 2</a:t>
            </a:r>
          </a:p>
        </p:txBody>
      </p:sp>
      <p:sp>
        <p:nvSpPr>
          <p:cNvPr id="8" name="Rounded Rectangle 7"/>
          <p:cNvSpPr/>
          <p:nvPr/>
        </p:nvSpPr>
        <p:spPr>
          <a:xfrm>
            <a:off x="4315968" y="1280160"/>
            <a:ext cx="3566160" cy="4206240"/>
          </a:xfrm>
          <a:prstGeom prst="roundRect">
            <a:avLst>
              <a:gd name="adj" fmla="val 31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463039"/>
            <a:ext cx="316382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Benchmark cố định</a:t>
            </a:r>
          </a:p>
        </p:txBody>
      </p:sp>
      <p:sp>
        <p:nvSpPr>
          <p:cNvPr id="10" name="TextBox 9"/>
          <p:cNvSpPr txBox="1"/>
          <p:nvPr/>
        </p:nvSpPr>
        <p:spPr>
          <a:xfrm>
            <a:off x="4517136" y="1920239"/>
            <a:ext cx="3163824" cy="347471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234 ảnh val, 584 quả, 112 ảnh không có quả</a:t>
            </a:r>
          </a:p>
          <a:p>
            <a:pPr algn="l" marL="203200" indent="-203200">
              <a:spcAft>
                <a:spcPts val="600"/>
              </a:spcAft>
              <a:buChar char="•"/>
            </a:pPr>
            <a:r>
              <a:rPr sz="1600" b="0">
                <a:solidFill>
                  <a:srgbClr val="1F303A"/>
                </a:solidFill>
                <a:latin typeface="Arial"/>
              </a:rPr>
              <a:t>960 px, conf 0,25, IoU 0,5</a:t>
            </a:r>
          </a:p>
          <a:p>
            <a:pPr algn="l" marL="203200" indent="-203200">
              <a:spcAft>
                <a:spcPts val="600"/>
              </a:spcAft>
              <a:buChar char="•"/>
            </a:pPr>
            <a:r>
              <a:rPr sz="1600" b="0">
                <a:solidFill>
                  <a:srgbClr val="1F303A"/>
                </a:solidFill>
                <a:latin typeface="Arial"/>
              </a:rPr>
              <a:t>Hash ảnh + nhãn được kiểm tra mỗi lần chạy</a:t>
            </a:r>
          </a:p>
          <a:p>
            <a:pPr algn="l" marL="203200" indent="-203200">
              <a:spcAft>
                <a:spcPts val="600"/>
              </a:spcAft>
              <a:buChar char="•"/>
            </a:pPr>
            <a:r>
              <a:rPr sz="1600" b="0">
                <a:solidFill>
                  <a:srgbClr val="1F303A"/>
                </a:solidFill>
                <a:latin typeface="Arial"/>
              </a:rPr>
              <a:t>Thêm bộ ảnh thật của nhóm làm ảnh hồi quy</a:t>
            </a:r>
          </a:p>
        </p:txBody>
      </p:sp>
      <p:sp>
        <p:nvSpPr>
          <p:cNvPr id="11" name="Rounded Rectangle 10"/>
          <p:cNvSpPr/>
          <p:nvPr/>
        </p:nvSpPr>
        <p:spPr>
          <a:xfrm>
            <a:off x="8083296" y="1280160"/>
            <a:ext cx="3557016" cy="4206240"/>
          </a:xfrm>
          <a:prstGeom prst="roundRect">
            <a:avLst>
              <a:gd name="adj" fmla="val 313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463039"/>
            <a:ext cx="3154680"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Thử chia ô 512 px → tắt</a:t>
            </a:r>
          </a:p>
        </p:txBody>
      </p:sp>
      <p:sp>
        <p:nvSpPr>
          <p:cNvPr id="13" name="TextBox 12"/>
          <p:cNvSpPr txBox="1"/>
          <p:nvPr/>
        </p:nvSpPr>
        <p:spPr>
          <a:xfrm>
            <a:off x="8284464" y="1920239"/>
            <a:ext cx="3154680" cy="347471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Precision 55,3% → 39,2%</a:t>
            </a:r>
          </a:p>
          <a:p>
            <a:pPr algn="l" marL="203200" indent="-203200">
              <a:spcAft>
                <a:spcPts val="600"/>
              </a:spcAft>
              <a:buChar char="•"/>
            </a:pPr>
            <a:r>
              <a:rPr sz="1600" b="0">
                <a:solidFill>
                  <a:srgbClr val="1F303A"/>
                </a:solidFill>
                <a:latin typeface="Arial"/>
              </a:rPr>
              <a:t>Box sai trên ảnh âm tính 290 → 538</a:t>
            </a:r>
          </a:p>
          <a:p>
            <a:pPr algn="l" marL="203200" indent="-203200">
              <a:spcAft>
                <a:spcPts val="600"/>
              </a:spcAft>
              <a:buChar char="•"/>
            </a:pPr>
            <a:r>
              <a:rPr sz="1600" b="0">
                <a:solidFill>
                  <a:srgbClr val="1F303A"/>
                </a:solidFill>
                <a:latin typeface="Arial"/>
              </a:rPr>
              <a:t>Chỉ thêm 6 quả đúng</a:t>
            </a:r>
          </a:p>
          <a:p>
            <a:pPr algn="l" marL="203200" indent="-203200">
              <a:spcAft>
                <a:spcPts val="600"/>
              </a:spcAft>
              <a:buChar char="•"/>
            </a:pPr>
            <a:r>
              <a:rPr sz="1600" b="0">
                <a:solidFill>
                  <a:srgbClr val="1F303A"/>
                </a:solidFill>
                <a:latin typeface="Arial"/>
              </a:rPr>
              <a:t>44 test pass; frontend build/lint pass</a:t>
            </a:r>
          </a:p>
        </p:txBody>
      </p:sp>
      <p:sp>
        <p:nvSpPr>
          <p:cNvPr id="14" name="Rounded Rectangle 13"/>
          <p:cNvSpPr/>
          <p:nvPr/>
        </p:nvSpPr>
        <p:spPr>
          <a:xfrm>
            <a:off x="548640" y="5669280"/>
            <a:ext cx="11091672" cy="54864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760720"/>
            <a:ext cx="10634472" cy="365759"/>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Tiêu chí đặt trước khi thử: chỉ thay v3 nếu mô hình mới lấy lại được các ảnh xoài bị mất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6</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Thử nghiệm A / B / C (02/10): mỗi lần đổi một yếu tố dữ liệu</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29</a:t>
            </a:r>
          </a:p>
        </p:txBody>
      </p:sp>
      <p:graphicFrame>
        <p:nvGraphicFramePr>
          <p:cNvPr id="5" name="Table 4"/>
          <p:cNvGraphicFramePr>
            <a:graphicFrameLocks noGrp="1"/>
          </p:cNvGraphicFramePr>
          <p:nvPr/>
        </p:nvGraphicFramePr>
        <p:xfrm>
          <a:off x="548640" y="1261872"/>
          <a:ext cx="6400800" cy="3108960"/>
        </p:xfrm>
        <a:graphic>
          <a:graphicData uri="http://schemas.openxmlformats.org/drawingml/2006/table">
            <a:tbl>
              <a:tblPr firstRow="1" bandRow="1">
                <a:tableStyleId>{5C22544A-7EE6-4342-B048-85BDC9FD1C3A}</a:tableStyleId>
              </a:tblPr>
              <a:tblGrid>
                <a:gridCol w="914400"/>
                <a:gridCol w="1920240"/>
                <a:gridCol w="3566160"/>
              </a:tblGrid>
              <a:tr h="777240">
                <a:tc>
                  <a:txBody>
                    <a:bodyPr wrap="square"/>
                    <a:lstStyle/>
                    <a:p>
                      <a:r>
                        <a:rPr sz="1300" b="1">
                          <a:solidFill>
                            <a:srgbClr val="FFFFFF"/>
                          </a:solidFill>
                          <a:latin typeface="Arial"/>
                        </a:rPr>
                        <a:t>Thử</a:t>
                      </a:r>
                    </a:p>
                  </a:txBody>
                  <a:tcPr marL="64008" marR="64008" marT="32004" marB="32004" anchor="ctr">
                    <a:solidFill>
                      <a:srgbClr val="0F2331"/>
                    </a:solidFill>
                  </a:tcPr>
                </a:tc>
                <a:tc>
                  <a:txBody>
                    <a:bodyPr wrap="square"/>
                    <a:lstStyle/>
                    <a:p>
                      <a:r>
                        <a:rPr sz="1300" b="1">
                          <a:solidFill>
                            <a:srgbClr val="FFFFFF"/>
                          </a:solidFill>
                          <a:latin typeface="Arial"/>
                        </a:rPr>
                        <a:t>Job • thời gian</a:t>
                      </a:r>
                    </a:p>
                  </a:txBody>
                  <a:tcPr marL="64008" marR="64008" marT="32004" marB="32004" anchor="ctr">
                    <a:solidFill>
                      <a:srgbClr val="0F2331"/>
                    </a:solidFill>
                  </a:tcPr>
                </a:tc>
                <a:tc>
                  <a:txBody>
                    <a:bodyPr wrap="square"/>
                    <a:lstStyle/>
                    <a:p>
                      <a:r>
                        <a:rPr sz="1300" b="1">
                          <a:solidFill>
                            <a:srgbClr val="FFFFFF"/>
                          </a:solidFill>
                          <a:latin typeface="Arial"/>
                        </a:rPr>
                        <a:t>Dữ liệu khác nhau</a:t>
                      </a:r>
                    </a:p>
                  </a:txBody>
                  <a:tcPr marL="64008" marR="64008" marT="32004" marB="32004" anchor="ctr">
                    <a:solidFill>
                      <a:srgbClr val="0F2331"/>
                    </a:solidFill>
                  </a:tcPr>
                </a:tc>
              </a:tr>
              <a:tr h="777240">
                <a:tc>
                  <a:txBody>
                    <a:bodyPr wrap="square"/>
                    <a:lstStyle/>
                    <a:p>
                      <a:r>
                        <a:rPr sz="1300" b="1">
                          <a:solidFill>
                            <a:srgbClr val="1F303A"/>
                          </a:solidFill>
                          <a:latin typeface="Arial"/>
                        </a:rPr>
                        <a:t>A</a:t>
                      </a:r>
                    </a:p>
                  </a:txBody>
                  <a:tcPr marL="64008" marR="64008" marT="32004" marB="32004" anchor="ctr">
                    <a:solidFill>
                      <a:srgbClr val="FFFFFF"/>
                    </a:solidFill>
                  </a:tcPr>
                </a:tc>
                <a:tc>
                  <a:txBody>
                    <a:bodyPr wrap="square"/>
                    <a:lstStyle/>
                    <a:p>
                      <a:r>
                        <a:rPr sz="1300" b="0">
                          <a:solidFill>
                            <a:srgbClr val="1F303A"/>
                          </a:solidFill>
                          <a:latin typeface="Arial"/>
                        </a:rPr>
                        <a:t>5756784368953589760</a:t>
                      </a:r>
                    </a:p>
                    <a:p>
                      <a:r>
                        <a:rPr sz="1300" b="0">
                          <a:solidFill>
                            <a:srgbClr val="1F303A"/>
                          </a:solidFill>
                          <a:latin typeface="Arial"/>
                        </a:rPr>
                        <a:t>33 phút</a:t>
                      </a:r>
                    </a:p>
                  </a:txBody>
                  <a:tcPr marL="64008" marR="64008" marT="32004" marB="32004" anchor="ctr">
                    <a:solidFill>
                      <a:srgbClr val="FFFFFF"/>
                    </a:solidFill>
                  </a:tcPr>
                </a:tc>
                <a:tc>
                  <a:txBody>
                    <a:bodyPr wrap="square"/>
                    <a:lstStyle/>
                    <a:p>
                      <a:r>
                        <a:rPr sz="1300" b="0">
                          <a:solidFill>
                            <a:srgbClr val="1F303A"/>
                          </a:solidFill>
                          <a:latin typeface="Arial"/>
                        </a:rPr>
                        <a:t>Dữ liệu đã kiểm toán, có ảnh âm tính (13.551 ảnh train)</a:t>
                      </a:r>
                    </a:p>
                  </a:txBody>
                  <a:tcPr marL="64008" marR="64008" marT="32004" marB="32004" anchor="ctr">
                    <a:solidFill>
                      <a:srgbClr val="FFFFFF"/>
                    </a:solidFill>
                  </a:tcPr>
                </a:tc>
              </a:tr>
              <a:tr h="777240">
                <a:tc>
                  <a:txBody>
                    <a:bodyPr wrap="square"/>
                    <a:lstStyle/>
                    <a:p>
                      <a:r>
                        <a:rPr sz="1300" b="1">
                          <a:solidFill>
                            <a:srgbClr val="1F303A"/>
                          </a:solidFill>
                          <a:latin typeface="Arial"/>
                        </a:rPr>
                        <a:t>B</a:t>
                      </a:r>
                    </a:p>
                  </a:txBody>
                  <a:tcPr marL="64008" marR="64008" marT="32004" marB="32004" anchor="ctr">
                    <a:solidFill>
                      <a:srgbClr val="F8FBFA"/>
                    </a:solidFill>
                  </a:tcPr>
                </a:tc>
                <a:tc>
                  <a:txBody>
                    <a:bodyPr wrap="square"/>
                    <a:lstStyle/>
                    <a:p>
                      <a:r>
                        <a:rPr sz="1300" b="0">
                          <a:solidFill>
                            <a:srgbClr val="1F303A"/>
                          </a:solidFill>
                          <a:latin typeface="Arial"/>
                        </a:rPr>
                        <a:t>2208933025004126208</a:t>
                      </a:r>
                    </a:p>
                    <a:p>
                      <a:r>
                        <a:rPr sz="1300" b="0">
                          <a:solidFill>
                            <a:srgbClr val="1F303A"/>
                          </a:solidFill>
                          <a:latin typeface="Arial"/>
                        </a:rPr>
                        <a:t>32 phút</a:t>
                      </a:r>
                    </a:p>
                  </a:txBody>
                  <a:tcPr marL="64008" marR="64008" marT="32004" marB="32004" anchor="ctr">
                    <a:solidFill>
                      <a:srgbClr val="F8FBFA"/>
                    </a:solidFill>
                  </a:tcPr>
                </a:tc>
                <a:tc>
                  <a:txBody>
                    <a:bodyPr wrap="square"/>
                    <a:lstStyle/>
                    <a:p>
                      <a:r>
                        <a:rPr sz="1300" b="0">
                          <a:solidFill>
                            <a:srgbClr val="1F303A"/>
                          </a:solidFill>
                          <a:latin typeface="Arial"/>
                        </a:rPr>
                        <a:t>Như A nhưng bỏ 273 ảnh táo/lựu/cà chua</a:t>
                      </a:r>
                    </a:p>
                  </a:txBody>
                  <a:tcPr marL="64008" marR="64008" marT="32004" marB="32004" anchor="ctr">
                    <a:solidFill>
                      <a:srgbClr val="F8FBFA"/>
                    </a:solidFill>
                  </a:tcPr>
                </a:tc>
              </a:tr>
              <a:tr h="777240">
                <a:tc>
                  <a:txBody>
                    <a:bodyPr wrap="square"/>
                    <a:lstStyle/>
                    <a:p>
                      <a:r>
                        <a:rPr sz="1300" b="1">
                          <a:solidFill>
                            <a:srgbClr val="1F303A"/>
                          </a:solidFill>
                          <a:latin typeface="Arial"/>
                        </a:rPr>
                        <a:t>C</a:t>
                      </a:r>
                    </a:p>
                  </a:txBody>
                  <a:tcPr marL="64008" marR="64008" marT="32004" marB="32004" anchor="ctr">
                    <a:solidFill>
                      <a:srgbClr val="FFFFFF"/>
                    </a:solidFill>
                  </a:tcPr>
                </a:tc>
                <a:tc>
                  <a:txBody>
                    <a:bodyPr wrap="square"/>
                    <a:lstStyle/>
                    <a:p>
                      <a:r>
                        <a:rPr sz="1300" b="0">
                          <a:solidFill>
                            <a:srgbClr val="1F303A"/>
                          </a:solidFill>
                          <a:latin typeface="Arial"/>
                        </a:rPr>
                        <a:t>3521406860940804096</a:t>
                      </a:r>
                    </a:p>
                    <a:p>
                      <a:r>
                        <a:rPr sz="1300" b="0">
                          <a:solidFill>
                            <a:srgbClr val="1F303A"/>
                          </a:solidFill>
                          <a:latin typeface="Arial"/>
                        </a:rPr>
                        <a:t>~26 phút</a:t>
                      </a:r>
                    </a:p>
                  </a:txBody>
                  <a:tcPr marL="64008" marR="64008" marT="32004" marB="32004" anchor="ctr">
                    <a:solidFill>
                      <a:srgbClr val="FFFFFF"/>
                    </a:solidFill>
                  </a:tcPr>
                </a:tc>
                <a:tc>
                  <a:txBody>
                    <a:bodyPr wrap="square"/>
                    <a:lstStyle/>
                    <a:p>
                      <a:r>
                        <a:rPr sz="1300" b="0">
                          <a:solidFill>
                            <a:srgbClr val="1F303A"/>
                          </a:solidFill>
                          <a:latin typeface="Arial"/>
                        </a:rPr>
                        <a:t>50 nhãn sửa ×4, 11 ảnh xoài mới ×16, thanh-long ≤ 600</a:t>
                      </a:r>
                    </a:p>
                  </a:txBody>
                  <a:tcPr marL="64008" marR="64008" marT="32004" marB="32004" anchor="ctr">
                    <a:solidFill>
                      <a:srgbClr val="FFFFFF"/>
                    </a:solidFill>
                  </a:tcPr>
                </a:tc>
              </a:tr>
            </a:tbl>
          </a:graphicData>
        </a:graphic>
      </p:graphicFrame>
      <p:sp>
        <p:nvSpPr>
          <p:cNvPr id="6" name="TextBox 5"/>
          <p:cNvSpPr txBox="1"/>
          <p:nvPr/>
        </p:nvSpPr>
        <p:spPr>
          <a:xfrm>
            <a:off x="548640" y="4462272"/>
            <a:ext cx="6400800" cy="64008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Chung: fine-tune từ v3, 10 epoch, 960 px, batch 8, lr0 = 0,0001, seed 42, V100 Spot, giới hạn 2 giờ; val/test giống hệt từng byte</a:t>
            </a:r>
          </a:p>
        </p:txBody>
      </p:sp>
      <p:sp>
        <p:nvSpPr>
          <p:cNvPr id="7" name="Rounded Rectangle 6"/>
          <p:cNvSpPr/>
          <p:nvPr/>
        </p:nvSpPr>
        <p:spPr>
          <a:xfrm>
            <a:off x="7178040" y="1261872"/>
            <a:ext cx="4462272" cy="3657600"/>
          </a:xfrm>
          <a:prstGeom prst="roundRect">
            <a:avLst>
              <a:gd name="adj" fmla="val 35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79208" y="1444751"/>
            <a:ext cx="4059935"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Rà nhãn 603 ảnh train (tối 02/10)</a:t>
            </a:r>
          </a:p>
        </p:txBody>
      </p:sp>
      <p:sp>
        <p:nvSpPr>
          <p:cNvPr id="9" name="TextBox 8"/>
          <p:cNvSpPr txBox="1"/>
          <p:nvPr/>
        </p:nvSpPr>
        <p:spPr>
          <a:xfrm>
            <a:off x="7379208" y="1901952"/>
            <a:ext cx="4059935" cy="29260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5 ảnh "không có quả" thật ra có xoài</a:t>
            </a:r>
          </a:p>
          <a:p>
            <a:pPr algn="l" marL="203200" indent="-203200">
              <a:spcAft>
                <a:spcPts val="600"/>
              </a:spcAft>
              <a:buChar char="•"/>
            </a:pPr>
            <a:r>
              <a:rPr sz="1600" b="0">
                <a:solidFill>
                  <a:srgbClr val="1F303A"/>
                </a:solidFill>
                <a:latin typeface="Arial"/>
              </a:rPr>
              <a:t>12 ảnh thiếu/sai box</a:t>
            </a:r>
          </a:p>
          <a:p>
            <a:pPr algn="l" marL="203200" indent="-203200">
              <a:spcAft>
                <a:spcPts val="600"/>
              </a:spcAft>
              <a:buChar char="•"/>
            </a:pPr>
            <a:r>
              <a:rPr sz="1600" b="0">
                <a:solidFill>
                  <a:srgbClr val="1F303A"/>
                </a:solidFill>
                <a:latin typeface="Arial"/>
              </a:rPr>
              <a:t>28 ảnh "hoa thanh long đêm" là tranh vẽ</a:t>
            </a:r>
          </a:p>
          <a:p>
            <a:pPr algn="l" marL="203200" indent="-203200">
              <a:spcAft>
                <a:spcPts val="600"/>
              </a:spcAft>
              <a:buChar char="•"/>
            </a:pPr>
            <a:r>
              <a:rPr sz="1600" b="0">
                <a:solidFill>
                  <a:srgbClr val="1F303A"/>
                </a:solidFill>
                <a:latin typeface="Arial"/>
              </a:rPr>
              <a:t>1.604 box trùng trong 290 ảnh</a:t>
            </a:r>
          </a:p>
          <a:p>
            <a:pPr algn="l" marL="203200" indent="-203200">
              <a:spcAft>
                <a:spcPts val="600"/>
              </a:spcAft>
              <a:buChar char="•"/>
            </a:pPr>
            <a:r>
              <a:rPr sz="1600" b="0">
                <a:solidFill>
                  <a:srgbClr val="1F303A"/>
                </a:solidFill>
                <a:latin typeface="Arial"/>
              </a:rPr>
              <a:t>Tỉ lệ ảnh có xoài giảm 53% → 36%</a:t>
            </a:r>
          </a:p>
        </p:txBody>
      </p:sp>
      <p:sp>
        <p:nvSpPr>
          <p:cNvPr id="10" name="Rounded Rectangle 9"/>
          <p:cNvSpPr/>
          <p:nvPr/>
        </p:nvSpPr>
        <p:spPr>
          <a:xfrm>
            <a:off x="548640" y="5120640"/>
            <a:ext cx="11091672" cy="777240"/>
          </a:xfrm>
          <a:prstGeom prst="roundRect">
            <a:avLst>
              <a:gd name="adj" fmla="val 12000"/>
            </a:avLst>
          </a:prstGeom>
          <a:solidFill>
            <a:srgbClr val="FA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212079"/>
            <a:ext cx="10634472" cy="594359"/>
          </a:xfrm>
          <a:prstGeom prst="rect">
            <a:avLst/>
          </a:prstGeom>
          <a:noFill/>
        </p:spPr>
        <p:txBody>
          <a:bodyPr wrap="square" lIns="0" rIns="0" tIns="0" bIns="0" anchor="ctr">
            <a:spAutoFit/>
          </a:bodyPr>
          <a:lstStyle/>
          <a:p>
            <a:pPr algn="l">
              <a:spcAft>
                <a:spcPts val="400"/>
              </a:spcAft>
            </a:pPr>
            <a:r>
              <a:rPr sz="1300" b="0">
                <a:solidFill>
                  <a:srgbClr val="B34340"/>
                </a:solidFill>
                <a:latin typeface="Arial"/>
              </a:rPr>
              <a:t>Sự cố trước khi chạy C: Ultralytics tự "sửa" một JPEG lỗi bằng cách ghi đè file — file đó được hard-link vào 5 bộ dữ liệu. Kiểm tra hash phát hiện, khôi phục bản gốc rồi mới chạy.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VÒNG 6</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Kết quả A / B / C: precision tăng nhưng mất xoài → giữ v3</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30</a:t>
            </a:r>
          </a:p>
        </p:txBody>
      </p:sp>
      <p:graphicFrame>
        <p:nvGraphicFramePr>
          <p:cNvPr id="5" name="Chart 4"/>
          <p:cNvGraphicFramePr>
            <a:graphicFrameLocks noGrp="1"/>
          </p:cNvGraphicFramePr>
          <p:nvPr/>
        </p:nvGraphicFramePr>
        <p:xfrm>
          <a:off x="457200" y="1188720"/>
          <a:ext cx="5486400" cy="2743200"/>
        </p:xfrm>
        <a:graphic>
          <a:graphicData uri="http://schemas.openxmlformats.org/drawingml/2006/chart">
            <c:chart xmlns:c="http://schemas.openxmlformats.org/drawingml/2006/chart" r:id="rId2"/>
          </a:graphicData>
        </a:graphic>
      </p:graphicFrame>
      <p:sp>
        <p:nvSpPr>
          <p:cNvPr id="6" name="TextBox 5"/>
          <p:cNvSpPr txBox="1"/>
          <p:nvPr/>
        </p:nvSpPr>
        <p:spPr>
          <a:xfrm>
            <a:off x="548640" y="3977639"/>
            <a:ext cx="5486400" cy="50292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Benchmark cố định 234 ảnh • box sai trên 112 ảnh âm tính: v3 290 • A 161 • B 177 • C 142</a:t>
            </a:r>
          </a:p>
        </p:txBody>
      </p:sp>
      <p:graphicFrame>
        <p:nvGraphicFramePr>
          <p:cNvPr id="7" name="Table 6"/>
          <p:cNvGraphicFramePr>
            <a:graphicFrameLocks noGrp="1"/>
          </p:cNvGraphicFramePr>
          <p:nvPr/>
        </p:nvGraphicFramePr>
        <p:xfrm>
          <a:off x="6172200" y="1261872"/>
          <a:ext cx="5468110" cy="2743200"/>
        </p:xfrm>
        <a:graphic>
          <a:graphicData uri="http://schemas.openxmlformats.org/drawingml/2006/table">
            <a:tbl>
              <a:tblPr firstRow="1" bandRow="1">
                <a:tableStyleId>{5C22544A-7EE6-4342-B048-85BDC9FD1C3A}</a:tableStyleId>
              </a:tblPr>
              <a:tblGrid>
                <a:gridCol w="2278380"/>
                <a:gridCol w="729081"/>
                <a:gridCol w="729081"/>
                <a:gridCol w="1002487"/>
                <a:gridCol w="729081"/>
              </a:tblGrid>
              <a:tr h="457200">
                <a:tc>
                  <a:txBody>
                    <a:bodyPr wrap="square"/>
                    <a:lstStyle/>
                    <a:p>
                      <a:r>
                        <a:rPr sz="1300" b="1">
                          <a:solidFill>
                            <a:srgbClr val="FFFFFF"/>
                          </a:solidFill>
                          <a:latin typeface="Arial"/>
                        </a:rPr>
                        <a:t>Ảnh hồi quy (số box)</a:t>
                      </a:r>
                    </a:p>
                  </a:txBody>
                  <a:tcPr marL="64008" marR="64008" marT="32004" marB="32004" anchor="ctr">
                    <a:solidFill>
                      <a:srgbClr val="0F2331"/>
                    </a:solidFill>
                  </a:tcPr>
                </a:tc>
                <a:tc>
                  <a:txBody>
                    <a:bodyPr wrap="square"/>
                    <a:lstStyle/>
                    <a:p>
                      <a:r>
                        <a:rPr sz="1300" b="1">
                          <a:solidFill>
                            <a:srgbClr val="FFFFFF"/>
                          </a:solidFill>
                          <a:latin typeface="Arial"/>
                        </a:rPr>
                        <a:t>v3</a:t>
                      </a:r>
                    </a:p>
                  </a:txBody>
                  <a:tcPr marL="64008" marR="64008" marT="32004" marB="32004" anchor="ctr">
                    <a:solidFill>
                      <a:srgbClr val="0F2331"/>
                    </a:solidFill>
                  </a:tcPr>
                </a:tc>
                <a:tc>
                  <a:txBody>
                    <a:bodyPr wrap="square"/>
                    <a:lstStyle/>
                    <a:p>
                      <a:r>
                        <a:rPr sz="1300" b="1">
                          <a:solidFill>
                            <a:srgbClr val="FFFFFF"/>
                          </a:solidFill>
                          <a:latin typeface="Arial"/>
                        </a:rPr>
                        <a:t>A</a:t>
                      </a:r>
                    </a:p>
                  </a:txBody>
                  <a:tcPr marL="64008" marR="64008" marT="32004" marB="32004" anchor="ctr">
                    <a:solidFill>
                      <a:srgbClr val="0F2331"/>
                    </a:solidFill>
                  </a:tcPr>
                </a:tc>
                <a:tc>
                  <a:txBody>
                    <a:bodyPr wrap="square"/>
                    <a:lstStyle/>
                    <a:p>
                      <a:r>
                        <a:rPr sz="1300" b="1">
                          <a:solidFill>
                            <a:srgbClr val="FFFFFF"/>
                          </a:solidFill>
                          <a:latin typeface="Arial"/>
                        </a:rPr>
                        <a:t>B</a:t>
                      </a:r>
                    </a:p>
                  </a:txBody>
                  <a:tcPr marL="64008" marR="64008" marT="32004" marB="32004" anchor="ctr">
                    <a:solidFill>
                      <a:srgbClr val="0F2331"/>
                    </a:solidFill>
                  </a:tcPr>
                </a:tc>
                <a:tc>
                  <a:txBody>
                    <a:bodyPr wrap="square"/>
                    <a:lstStyle/>
                    <a:p>
                      <a:r>
                        <a:rPr sz="1300" b="1">
                          <a:solidFill>
                            <a:srgbClr val="FFFFFF"/>
                          </a:solidFill>
                          <a:latin typeface="Arial"/>
                        </a:rPr>
                        <a:t>C</a:t>
                      </a:r>
                    </a:p>
                  </a:txBody>
                  <a:tcPr marL="64008" marR="64008" marT="32004" marB="32004" anchor="ctr">
                    <a:solidFill>
                      <a:srgbClr val="0F2331"/>
                    </a:solidFill>
                  </a:tcPr>
                </a:tc>
              </a:tr>
              <a:tr h="457200">
                <a:tc>
                  <a:txBody>
                    <a:bodyPr wrap="square"/>
                    <a:lstStyle/>
                    <a:p>
                      <a:r>
                        <a:rPr sz="1300" b="1">
                          <a:solidFill>
                            <a:srgbClr val="1F303A"/>
                          </a:solidFill>
                          <a:latin typeface="Arial"/>
                        </a:rPr>
                        <a:t>Cụm xoài chín nhỏ</a:t>
                      </a:r>
                    </a:p>
                  </a:txBody>
                  <a:tcPr marL="64008" marR="64008" marT="32004" marB="32004" anchor="ctr">
                    <a:solidFill>
                      <a:srgbClr val="FFFFFF"/>
                    </a:solidFill>
                  </a:tcPr>
                </a:tc>
                <a:tc>
                  <a:txBody>
                    <a:bodyPr wrap="square"/>
                    <a:lstStyle/>
                    <a:p>
                      <a:r>
                        <a:rPr sz="1300" b="0">
                          <a:solidFill>
                            <a:srgbClr val="1F303A"/>
                          </a:solidFill>
                          <a:latin typeface="Arial"/>
                        </a:rPr>
                        <a:t>11</a:t>
                      </a:r>
                    </a:p>
                  </a:txBody>
                  <a:tcPr marL="64008" marR="64008" marT="32004" marB="32004" anchor="ctr">
                    <a:solidFill>
                      <a:srgbClr val="FFFFFF"/>
                    </a:solidFill>
                  </a:tcPr>
                </a:tc>
                <a:tc>
                  <a:txBody>
                    <a:bodyPr wrap="square"/>
                    <a:lstStyle/>
                    <a:p>
                      <a:r>
                        <a:rPr sz="1300" b="0">
                          <a:solidFill>
                            <a:srgbClr val="1F303A"/>
                          </a:solidFill>
                          <a:latin typeface="Arial"/>
                        </a:rPr>
                        <a:t>4</a:t>
                      </a:r>
                    </a:p>
                  </a:txBody>
                  <a:tcPr marL="64008" marR="64008" marT="32004" marB="32004" anchor="ctr">
                    <a:solidFill>
                      <a:srgbClr val="FFFFFF"/>
                    </a:solidFill>
                  </a:tcPr>
                </a:tc>
                <a:tc>
                  <a:txBody>
                    <a:bodyPr wrap="square"/>
                    <a:lstStyle/>
                    <a:p>
                      <a:r>
                        <a:rPr sz="1300" b="0">
                          <a:solidFill>
                            <a:srgbClr val="1F303A"/>
                          </a:solidFill>
                          <a:latin typeface="Arial"/>
                        </a:rPr>
                        <a:t>4</a:t>
                      </a:r>
                    </a:p>
                  </a:txBody>
                  <a:tcPr marL="64008" marR="64008" marT="32004" marB="32004" anchor="ctr">
                    <a:solidFill>
                      <a:srgbClr val="FFFFFF"/>
                    </a:solidFill>
                  </a:tcPr>
                </a:tc>
                <a:tc>
                  <a:txBody>
                    <a:bodyPr wrap="square"/>
                    <a:lstStyle/>
                    <a:p>
                      <a:r>
                        <a:rPr sz="1300" b="0">
                          <a:solidFill>
                            <a:srgbClr val="1F303A"/>
                          </a:solidFill>
                          <a:latin typeface="Arial"/>
                        </a:rPr>
                        <a:t>4</a:t>
                      </a:r>
                    </a:p>
                  </a:txBody>
                  <a:tcPr marL="64008" marR="64008" marT="32004" marB="32004" anchor="ctr">
                    <a:solidFill>
                      <a:srgbClr val="FFFFFF"/>
                    </a:solidFill>
                  </a:tcPr>
                </a:tc>
              </a:tr>
              <a:tr h="457200">
                <a:tc>
                  <a:txBody>
                    <a:bodyPr wrap="square"/>
                    <a:lstStyle/>
                    <a:p>
                      <a:r>
                        <a:rPr sz="1300" b="1">
                          <a:solidFill>
                            <a:srgbClr val="1F303A"/>
                          </a:solidFill>
                          <a:latin typeface="Arial"/>
                        </a:rPr>
                        <a:t>Xoài đỏ trên cây</a:t>
                      </a:r>
                    </a:p>
                  </a:txBody>
                  <a:tcPr marL="64008" marR="64008" marT="32004" marB="32004" anchor="ctr">
                    <a:solidFill>
                      <a:srgbClr val="F8FBFA"/>
                    </a:solidFill>
                  </a:tcPr>
                </a:tc>
                <a:tc>
                  <a:txBody>
                    <a:bodyPr wrap="square"/>
                    <a:lstStyle/>
                    <a:p>
                      <a:r>
                        <a:rPr sz="1300" b="0">
                          <a:solidFill>
                            <a:srgbClr val="1F303A"/>
                          </a:solidFill>
                          <a:latin typeface="Arial"/>
                        </a:rPr>
                        <a:t>10</a:t>
                      </a:r>
                    </a:p>
                  </a:txBody>
                  <a:tcPr marL="64008" marR="64008" marT="32004" marB="32004" anchor="ctr">
                    <a:solidFill>
                      <a:srgbClr val="F8FBFA"/>
                    </a:solidFill>
                  </a:tcPr>
                </a:tc>
                <a:tc>
                  <a:txBody>
                    <a:bodyPr wrap="square"/>
                    <a:lstStyle/>
                    <a:p>
                      <a:r>
                        <a:rPr sz="1300" b="0">
                          <a:solidFill>
                            <a:srgbClr val="1F303A"/>
                          </a:solidFill>
                          <a:latin typeface="Arial"/>
                        </a:rPr>
                        <a:t>5</a:t>
                      </a:r>
                    </a:p>
                  </a:txBody>
                  <a:tcPr marL="64008" marR="64008" marT="32004" marB="32004" anchor="ctr">
                    <a:solidFill>
                      <a:srgbClr val="F8FBFA"/>
                    </a:solidFill>
                  </a:tcPr>
                </a:tc>
                <a:tc>
                  <a:txBody>
                    <a:bodyPr wrap="square"/>
                    <a:lstStyle/>
                    <a:p>
                      <a:r>
                        <a:rPr sz="1300" b="0">
                          <a:solidFill>
                            <a:srgbClr val="1F303A"/>
                          </a:solidFill>
                          <a:latin typeface="Arial"/>
                        </a:rPr>
                        <a:t>5 + 2 sai</a:t>
                      </a:r>
                    </a:p>
                  </a:txBody>
                  <a:tcPr marL="64008" marR="64008" marT="32004" marB="32004" anchor="ctr">
                    <a:solidFill>
                      <a:srgbClr val="F8FBFA"/>
                    </a:solidFill>
                  </a:tcPr>
                </a:tc>
                <a:tc>
                  <a:txBody>
                    <a:bodyPr wrap="square"/>
                    <a:lstStyle/>
                    <a:p>
                      <a:r>
                        <a:rPr sz="1300" b="0">
                          <a:solidFill>
                            <a:srgbClr val="1F303A"/>
                          </a:solidFill>
                          <a:latin typeface="Arial"/>
                        </a:rPr>
                        <a:t>7</a:t>
                      </a:r>
                    </a:p>
                  </a:txBody>
                  <a:tcPr marL="64008" marR="64008" marT="32004" marB="32004" anchor="ctr">
                    <a:solidFill>
                      <a:srgbClr val="F8FBFA"/>
                    </a:solidFill>
                  </a:tcPr>
                </a:tc>
              </a:tr>
              <a:tr h="457200">
                <a:tc>
                  <a:txBody>
                    <a:bodyPr wrap="square"/>
                    <a:lstStyle/>
                    <a:p>
                      <a:r>
                        <a:rPr sz="1300" b="1">
                          <a:solidFill>
                            <a:srgbClr val="1F303A"/>
                          </a:solidFill>
                          <a:latin typeface="Arial"/>
                        </a:rPr>
                        <a:t>Cả trụ thanh long</a:t>
                      </a:r>
                    </a:p>
                  </a:txBody>
                  <a:tcPr marL="64008" marR="64008" marT="32004" marB="32004" anchor="ctr">
                    <a:solidFill>
                      <a:srgbClr val="FFFFFF"/>
                    </a:solidFill>
                  </a:tcPr>
                </a:tc>
                <a:tc>
                  <a:txBody>
                    <a:bodyPr wrap="square"/>
                    <a:lstStyle/>
                    <a:p>
                      <a:r>
                        <a:rPr sz="1300" b="0">
                          <a:solidFill>
                            <a:srgbClr val="1F303A"/>
                          </a:solidFill>
                          <a:latin typeface="Arial"/>
                        </a:rPr>
                        <a:t>22</a:t>
                      </a:r>
                    </a:p>
                  </a:txBody>
                  <a:tcPr marL="64008" marR="64008" marT="32004" marB="32004" anchor="ctr">
                    <a:solidFill>
                      <a:srgbClr val="FFFFFF"/>
                    </a:solidFill>
                  </a:tcPr>
                </a:tc>
                <a:tc>
                  <a:txBody>
                    <a:bodyPr wrap="square"/>
                    <a:lstStyle/>
                    <a:p>
                      <a:r>
                        <a:rPr sz="1300" b="0">
                          <a:solidFill>
                            <a:srgbClr val="1F303A"/>
                          </a:solidFill>
                          <a:latin typeface="Arial"/>
                        </a:rPr>
                        <a:t>15</a:t>
                      </a:r>
                    </a:p>
                  </a:txBody>
                  <a:tcPr marL="64008" marR="64008" marT="32004" marB="32004" anchor="ctr">
                    <a:solidFill>
                      <a:srgbClr val="FFFFFF"/>
                    </a:solidFill>
                  </a:tcPr>
                </a:tc>
                <a:tc>
                  <a:txBody>
                    <a:bodyPr wrap="square"/>
                    <a:lstStyle/>
                    <a:p>
                      <a:r>
                        <a:rPr sz="1300" b="0">
                          <a:solidFill>
                            <a:srgbClr val="1F303A"/>
                          </a:solidFill>
                          <a:latin typeface="Arial"/>
                        </a:rPr>
                        <a:t>13</a:t>
                      </a:r>
                    </a:p>
                  </a:txBody>
                  <a:tcPr marL="64008" marR="64008" marT="32004" marB="32004" anchor="ctr">
                    <a:solidFill>
                      <a:srgbClr val="FFFFFF"/>
                    </a:solidFill>
                  </a:tcPr>
                </a:tc>
                <a:tc>
                  <a:txBody>
                    <a:bodyPr wrap="square"/>
                    <a:lstStyle/>
                    <a:p>
                      <a:r>
                        <a:rPr sz="1300" b="0">
                          <a:solidFill>
                            <a:srgbClr val="1F303A"/>
                          </a:solidFill>
                          <a:latin typeface="Arial"/>
                        </a:rPr>
                        <a:t>14</a:t>
                      </a:r>
                    </a:p>
                  </a:txBody>
                  <a:tcPr marL="64008" marR="64008" marT="32004" marB="32004" anchor="ctr">
                    <a:solidFill>
                      <a:srgbClr val="FFFFFF"/>
                    </a:solidFill>
                  </a:tcPr>
                </a:tc>
              </a:tr>
              <a:tr h="457200">
                <a:tc>
                  <a:txBody>
                    <a:bodyPr wrap="square"/>
                    <a:lstStyle/>
                    <a:p>
                      <a:r>
                        <a:rPr sz="1300" b="1">
                          <a:solidFill>
                            <a:srgbClr val="1F303A"/>
                          </a:solidFill>
                          <a:latin typeface="Arial"/>
                        </a:rPr>
                        <a:t>Thanh long cận cảnh</a:t>
                      </a:r>
                    </a:p>
                  </a:txBody>
                  <a:tcPr marL="64008" marR="64008" marT="32004" marB="32004" anchor="ctr">
                    <a:solidFill>
                      <a:srgbClr val="F8FBFA"/>
                    </a:solidFill>
                  </a:tcPr>
                </a:tc>
                <a:tc>
                  <a:txBody>
                    <a:bodyPr wrap="square"/>
                    <a:lstStyle/>
                    <a:p>
                      <a:r>
                        <a:rPr sz="1300" b="0">
                          <a:solidFill>
                            <a:srgbClr val="1F303A"/>
                          </a:solidFill>
                          <a:latin typeface="Arial"/>
                        </a:rPr>
                        <a:t>3</a:t>
                      </a:r>
                    </a:p>
                  </a:txBody>
                  <a:tcPr marL="64008" marR="64008" marT="32004" marB="32004" anchor="ctr">
                    <a:solidFill>
                      <a:srgbClr val="F8FBFA"/>
                    </a:solidFill>
                  </a:tcPr>
                </a:tc>
                <a:tc>
                  <a:txBody>
                    <a:bodyPr wrap="square"/>
                    <a:lstStyle/>
                    <a:p>
                      <a:r>
                        <a:rPr sz="1300" b="0">
                          <a:solidFill>
                            <a:srgbClr val="1F303A"/>
                          </a:solidFill>
                          <a:latin typeface="Arial"/>
                        </a:rPr>
                        <a:t>3</a:t>
                      </a:r>
                    </a:p>
                  </a:txBody>
                  <a:tcPr marL="64008" marR="64008" marT="32004" marB="32004" anchor="ctr">
                    <a:solidFill>
                      <a:srgbClr val="F8FBFA"/>
                    </a:solidFill>
                  </a:tcPr>
                </a:tc>
                <a:tc>
                  <a:txBody>
                    <a:bodyPr wrap="square"/>
                    <a:lstStyle/>
                    <a:p>
                      <a:r>
                        <a:rPr sz="1300" b="0">
                          <a:solidFill>
                            <a:srgbClr val="1F303A"/>
                          </a:solidFill>
                          <a:latin typeface="Arial"/>
                        </a:rPr>
                        <a:t>3</a:t>
                      </a:r>
                    </a:p>
                  </a:txBody>
                  <a:tcPr marL="64008" marR="64008" marT="32004" marB="32004" anchor="ctr">
                    <a:solidFill>
                      <a:srgbClr val="F8FBFA"/>
                    </a:solidFill>
                  </a:tcPr>
                </a:tc>
                <a:tc>
                  <a:txBody>
                    <a:bodyPr wrap="square"/>
                    <a:lstStyle/>
                    <a:p>
                      <a:r>
                        <a:rPr sz="1300" b="0">
                          <a:solidFill>
                            <a:srgbClr val="1F303A"/>
                          </a:solidFill>
                          <a:latin typeface="Arial"/>
                        </a:rPr>
                        <a:t>2</a:t>
                      </a:r>
                    </a:p>
                  </a:txBody>
                  <a:tcPr marL="64008" marR="64008" marT="32004" marB="32004" anchor="ctr">
                    <a:solidFill>
                      <a:srgbClr val="F8FBFA"/>
                    </a:solidFill>
                  </a:tcPr>
                </a:tc>
              </a:tr>
              <a:tr h="457200">
                <a:tc>
                  <a:txBody>
                    <a:bodyPr wrap="square"/>
                    <a:lstStyle/>
                    <a:p>
                      <a:r>
                        <a:rPr sz="1300" b="1">
                          <a:solidFill>
                            <a:srgbClr val="1F303A"/>
                          </a:solidFill>
                          <a:latin typeface="Arial"/>
                        </a:rPr>
                        <a:t>Cây xoài</a:t>
                      </a:r>
                    </a:p>
                  </a:txBody>
                  <a:tcPr marL="64008" marR="64008" marT="32004" marB="32004" anchor="ctr">
                    <a:solidFill>
                      <a:srgbClr val="FFFFFF"/>
                    </a:solidFill>
                  </a:tcPr>
                </a:tc>
                <a:tc>
                  <a:txBody>
                    <a:bodyPr wrap="square"/>
                    <a:lstStyle/>
                    <a:p>
                      <a:r>
                        <a:rPr sz="1300" b="0">
                          <a:solidFill>
                            <a:srgbClr val="1F303A"/>
                          </a:solidFill>
                          <a:latin typeface="Arial"/>
                        </a:rPr>
                        <a:t>46</a:t>
                      </a:r>
                    </a:p>
                  </a:txBody>
                  <a:tcPr marL="64008" marR="64008" marT="32004" marB="32004" anchor="ctr">
                    <a:solidFill>
                      <a:srgbClr val="FFFFFF"/>
                    </a:solidFill>
                  </a:tcPr>
                </a:tc>
                <a:tc>
                  <a:txBody>
                    <a:bodyPr wrap="square"/>
                    <a:lstStyle/>
                    <a:p>
                      <a:r>
                        <a:rPr sz="1300" b="0">
                          <a:solidFill>
                            <a:srgbClr val="1F303A"/>
                          </a:solidFill>
                          <a:latin typeface="Arial"/>
                        </a:rPr>
                        <a:t>38</a:t>
                      </a:r>
                    </a:p>
                  </a:txBody>
                  <a:tcPr marL="64008" marR="64008" marT="32004" marB="32004" anchor="ctr">
                    <a:solidFill>
                      <a:srgbClr val="FFFFFF"/>
                    </a:solidFill>
                  </a:tcPr>
                </a:tc>
                <a:tc>
                  <a:txBody>
                    <a:bodyPr wrap="square"/>
                    <a:lstStyle/>
                    <a:p>
                      <a:r>
                        <a:rPr sz="1300" b="0">
                          <a:solidFill>
                            <a:srgbClr val="1F303A"/>
                          </a:solidFill>
                          <a:latin typeface="Arial"/>
                        </a:rPr>
                        <a:t>38</a:t>
                      </a:r>
                    </a:p>
                  </a:txBody>
                  <a:tcPr marL="64008" marR="64008" marT="32004" marB="32004" anchor="ctr">
                    <a:solidFill>
                      <a:srgbClr val="FFFFFF"/>
                    </a:solidFill>
                  </a:tcPr>
                </a:tc>
                <a:tc>
                  <a:txBody>
                    <a:bodyPr wrap="square"/>
                    <a:lstStyle/>
                    <a:p>
                      <a:r>
                        <a:rPr sz="1300" b="0">
                          <a:solidFill>
                            <a:srgbClr val="1F303A"/>
                          </a:solidFill>
                          <a:latin typeface="Arial"/>
                        </a:rPr>
                        <a:t>41</a:t>
                      </a:r>
                    </a:p>
                  </a:txBody>
                  <a:tcPr marL="64008" marR="64008" marT="32004" marB="32004" anchor="ctr">
                    <a:solidFill>
                      <a:srgbClr val="FFFFFF"/>
                    </a:solidFill>
                  </a:tcPr>
                </a:tc>
              </a:tr>
            </a:tbl>
          </a:graphicData>
        </a:graphic>
      </p:graphicFrame>
      <p:sp>
        <p:nvSpPr>
          <p:cNvPr id="8" name="Rounded Rectangle 7"/>
          <p:cNvSpPr/>
          <p:nvPr/>
        </p:nvSpPr>
        <p:spPr>
          <a:xfrm>
            <a:off x="548640" y="4663440"/>
            <a:ext cx="11091672" cy="86868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54879"/>
            <a:ext cx="10634472" cy="685800"/>
          </a:xfrm>
          <a:prstGeom prst="rect">
            <a:avLst/>
          </a:prstGeom>
          <a:noFill/>
        </p:spPr>
        <p:txBody>
          <a:bodyPr wrap="square" lIns="0" rIns="0" tIns="0" bIns="0" anchor="ctr">
            <a:spAutoFit/>
          </a:bodyPr>
          <a:lstStyle/>
          <a:p>
            <a:pPr algn="l">
              <a:spcAft>
                <a:spcPts val="400"/>
              </a:spcAft>
            </a:pPr>
            <a:r>
              <a:rPr sz="1400" b="0">
                <a:solidFill>
                  <a:srgbClr val="0F2331"/>
                </a:solidFill>
                <a:latin typeface="Arial"/>
              </a:rPr>
              <a:t>Quyết định: không bản nào thay v3 — tiêu chí "lấy lại ảnh xoài" không đạt. Hạ ngưỡng xuống 0,05 vẫn không vượt ~53% recall xoài trên cây → vấn đề dữ liệu, không phải ngưỡng.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14884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PHẦN 5</a:t>
            </a:r>
          </a:p>
        </p:txBody>
      </p:sp>
      <p:sp>
        <p:nvSpPr>
          <p:cNvPr id="3" name="TextBox 2"/>
          <p:cNvSpPr txBox="1"/>
          <p:nvPr/>
        </p:nvSpPr>
        <p:spPr>
          <a:xfrm>
            <a:off x="822960" y="2606040"/>
            <a:ext cx="10515600" cy="914400"/>
          </a:xfrm>
          <a:prstGeom prst="rect">
            <a:avLst/>
          </a:prstGeom>
          <a:noFill/>
        </p:spPr>
        <p:txBody>
          <a:bodyPr wrap="square" lIns="0" rIns="0" tIns="0" bIns="0" anchor="t">
            <a:spAutoFit/>
          </a:bodyPr>
          <a:lstStyle/>
          <a:p>
            <a:pPr algn="l">
              <a:spcAft>
                <a:spcPts val="400"/>
              </a:spcAft>
            </a:pPr>
            <a:r>
              <a:rPr sz="3800" b="1">
                <a:solidFill>
                  <a:srgbClr val="0F2331"/>
                </a:solidFill>
                <a:latin typeface="Arial"/>
              </a:rPr>
              <a:t>Sản phẩm</a:t>
            </a:r>
          </a:p>
        </p:txBody>
      </p:sp>
      <p:sp>
        <p:nvSpPr>
          <p:cNvPr id="4" name="TextBox 3"/>
          <p:cNvSpPr txBox="1"/>
          <p:nvPr/>
        </p:nvSpPr>
        <p:spPr>
          <a:xfrm>
            <a:off x="822960" y="3611880"/>
            <a:ext cx="10515600" cy="1097280"/>
          </a:xfrm>
          <a:prstGeom prst="rect">
            <a:avLst/>
          </a:prstGeom>
          <a:noFill/>
        </p:spPr>
        <p:txBody>
          <a:bodyPr wrap="square" lIns="0" rIns="0" tIns="0" bIns="0" anchor="t">
            <a:spAutoFit/>
          </a:bodyPr>
          <a:lstStyle/>
          <a:p>
            <a:pPr algn="l">
              <a:spcAft>
                <a:spcPts val="400"/>
              </a:spcAft>
            </a:pPr>
            <a:r>
              <a:rPr sz="1800" b="0">
                <a:solidFill>
                  <a:srgbClr val="5C6E78"/>
                </a:solidFill>
                <a:latin typeface="Arial"/>
              </a:rPr>
              <a:t>Pipeline suy luận, web/API, lịch sử triển khai và đánh giá lại ngày 08/10</a:t>
            </a:r>
          </a:p>
        </p:txBody>
      </p:sp>
      <p:sp>
        <p:nvSpPr>
          <p:cNvPr id="5" name="TextBox 4"/>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SUY LUẬN</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Pipeline suy luận hiện tại: từ ảnh đến nhãn</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32</a:t>
            </a:r>
          </a:p>
        </p:txBody>
      </p:sp>
      <p:sp>
        <p:nvSpPr>
          <p:cNvPr id="5" name="Rounded Rectangle 4"/>
          <p:cNvSpPr/>
          <p:nvPr/>
        </p:nvSpPr>
        <p:spPr>
          <a:xfrm>
            <a:off x="548640" y="126187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81328"/>
            <a:ext cx="91440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1</a:t>
            </a:r>
          </a:p>
        </p:txBody>
      </p:sp>
      <p:sp>
        <p:nvSpPr>
          <p:cNvPr id="7" name="TextBox 6"/>
          <p:cNvSpPr txBox="1"/>
          <p:nvPr/>
        </p:nvSpPr>
        <p:spPr>
          <a:xfrm>
            <a:off x="1828800" y="1353312"/>
            <a:ext cx="182880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Detector</a:t>
            </a:r>
          </a:p>
        </p:txBody>
      </p:sp>
      <p:sp>
        <p:nvSpPr>
          <p:cNvPr id="8" name="TextBox 7"/>
          <p:cNvSpPr txBox="1"/>
          <p:nvPr/>
        </p:nvSpPr>
        <p:spPr>
          <a:xfrm>
            <a:off x="3703320" y="1335024"/>
            <a:ext cx="777240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YOLOv8s v3 ở 960 px, conf ≥ 0,25; ảnh nhỏ chỉ phóng to tối đa ~2 lần</a:t>
            </a:r>
          </a:p>
        </p:txBody>
      </p:sp>
      <p:sp>
        <p:nvSpPr>
          <p:cNvPr id="9" name="Rounded Rectangle 8"/>
          <p:cNvSpPr/>
          <p:nvPr/>
        </p:nvSpPr>
        <p:spPr>
          <a:xfrm>
            <a:off x="548640" y="2084831"/>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304287"/>
            <a:ext cx="91440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2</a:t>
            </a:r>
          </a:p>
        </p:txBody>
      </p:sp>
      <p:sp>
        <p:nvSpPr>
          <p:cNvPr id="11" name="TextBox 10"/>
          <p:cNvSpPr txBox="1"/>
          <p:nvPr/>
        </p:nvSpPr>
        <p:spPr>
          <a:xfrm>
            <a:off x="1828800" y="2176272"/>
            <a:ext cx="182880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Bộ lọc loài</a:t>
            </a:r>
          </a:p>
        </p:txBody>
      </p:sp>
      <p:sp>
        <p:nvSpPr>
          <p:cNvPr id="12" name="TextBox 11"/>
          <p:cNvSpPr txBox="1"/>
          <p:nvPr/>
        </p:nvSpPr>
        <p:spPr>
          <a:xfrm>
            <a:off x="3703320" y="2157984"/>
            <a:ext cx="777240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YOLOv8n-cls 224 px (mango / dragonfruit / other); loại box có P(other) ≥ 0,90</a:t>
            </a:r>
          </a:p>
        </p:txBody>
      </p:sp>
      <p:sp>
        <p:nvSpPr>
          <p:cNvPr id="13" name="Rounded Rectangle 12"/>
          <p:cNvSpPr/>
          <p:nvPr/>
        </p:nvSpPr>
        <p:spPr>
          <a:xfrm>
            <a:off x="548640" y="2907791"/>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127248"/>
            <a:ext cx="91440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3</a:t>
            </a:r>
          </a:p>
        </p:txBody>
      </p:sp>
      <p:sp>
        <p:nvSpPr>
          <p:cNvPr id="15" name="TextBox 14"/>
          <p:cNvSpPr txBox="1"/>
          <p:nvPr/>
        </p:nvSpPr>
        <p:spPr>
          <a:xfrm>
            <a:off x="1828800" y="2999232"/>
            <a:ext cx="182880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Cắt quả</a:t>
            </a:r>
          </a:p>
        </p:txBody>
      </p:sp>
      <p:sp>
        <p:nvSpPr>
          <p:cNvPr id="16" name="TextBox 15"/>
          <p:cNvSpPr txBox="1"/>
          <p:nvPr/>
        </p:nvSpPr>
        <p:spPr>
          <a:xfrm>
            <a:off x="3703320" y="2980944"/>
            <a:ext cx="777240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Nới 10%; cạnh &lt; 64 px → *_uncertain, lý do crop_too_small (vẫn được đếm)</a:t>
            </a:r>
          </a:p>
        </p:txBody>
      </p:sp>
      <p:sp>
        <p:nvSpPr>
          <p:cNvPr id="17" name="Rounded Rectangle 16"/>
          <p:cNvSpPr/>
          <p:nvPr/>
        </p:nvSpPr>
        <p:spPr>
          <a:xfrm>
            <a:off x="548640" y="373075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950208"/>
            <a:ext cx="914400" cy="274320"/>
          </a:xfrm>
          <a:prstGeom prst="roundRect">
            <a:avLst>
              <a:gd name="adj" fmla="val 12000"/>
            </a:avLst>
          </a:prstGeom>
          <a:solidFill>
            <a:srgbClr val="187F5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4</a:t>
            </a:r>
          </a:p>
        </p:txBody>
      </p:sp>
      <p:sp>
        <p:nvSpPr>
          <p:cNvPr id="19" name="TextBox 18"/>
          <p:cNvSpPr txBox="1"/>
          <p:nvPr/>
        </p:nvSpPr>
        <p:spPr>
          <a:xfrm>
            <a:off x="1828800" y="3822191"/>
            <a:ext cx="182880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Độ chín</a:t>
            </a:r>
          </a:p>
        </p:txBody>
      </p:sp>
      <p:sp>
        <p:nvSpPr>
          <p:cNvPr id="20" name="TextBox 19"/>
          <p:cNvSpPr txBox="1"/>
          <p:nvPr/>
        </p:nvSpPr>
        <p:spPr>
          <a:xfrm>
            <a:off x="3703320" y="3803904"/>
            <a:ext cx="777240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Classifier theo loài 320 px → chia logit cho T → ngưỡng = max(ngưỡng người dùng, ngưỡng lớp)</a:t>
            </a:r>
          </a:p>
        </p:txBody>
      </p:sp>
      <p:sp>
        <p:nvSpPr>
          <p:cNvPr id="21" name="Rounded Rectangle 20"/>
          <p:cNvSpPr/>
          <p:nvPr/>
        </p:nvSpPr>
        <p:spPr>
          <a:xfrm>
            <a:off x="548640" y="455371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4773168"/>
            <a:ext cx="914400" cy="274320"/>
          </a:xfrm>
          <a:prstGeom prst="roundRect">
            <a:avLst>
              <a:gd name="adj" fmla="val 12000"/>
            </a:avLst>
          </a:prstGeom>
          <a:solidFill>
            <a:srgbClr val="C4801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tùy chọn</a:t>
            </a:r>
          </a:p>
        </p:txBody>
      </p:sp>
      <p:sp>
        <p:nvSpPr>
          <p:cNvPr id="23" name="TextBox 22"/>
          <p:cNvSpPr txBox="1"/>
          <p:nvPr/>
        </p:nvSpPr>
        <p:spPr>
          <a:xfrm>
            <a:off x="1828800" y="4645152"/>
            <a:ext cx="182880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Ảnh tối</a:t>
            </a:r>
          </a:p>
        </p:txBody>
      </p:sp>
      <p:sp>
        <p:nvSpPr>
          <p:cNvPr id="24" name="TextBox 23"/>
          <p:cNvSpPr txBox="1"/>
          <p:nvPr/>
        </p:nvSpPr>
        <p:spPr>
          <a:xfrm>
            <a:off x="3703320" y="4626864"/>
            <a:ext cx="777240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low_light_assist: CLAHE kênh L (clip 2,0, ô 8×8) chỉ cho detector; độ chín dùng màu gốc</a:t>
            </a:r>
          </a:p>
        </p:txBody>
      </p:sp>
      <p:sp>
        <p:nvSpPr>
          <p:cNvPr id="25" name="Rounded Rectangle 24"/>
          <p:cNvSpPr/>
          <p:nvPr/>
        </p:nvSpPr>
        <p:spPr>
          <a:xfrm>
            <a:off x="548640" y="5376672"/>
            <a:ext cx="11091672" cy="713232"/>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1520" y="5596128"/>
            <a:ext cx="914400" cy="274320"/>
          </a:xfrm>
          <a:prstGeom prst="roundRect">
            <a:avLst>
              <a:gd name="adj" fmla="val 12000"/>
            </a:avLst>
          </a:prstGeom>
          <a:solidFill>
            <a:srgbClr val="C4801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200" b="1">
                <a:solidFill>
                  <a:srgbClr val="FFFFFF"/>
                </a:solidFill>
                <a:latin typeface="Arial"/>
              </a:rPr>
              <a:t>tùy chọn</a:t>
            </a:r>
          </a:p>
        </p:txBody>
      </p:sp>
      <p:sp>
        <p:nvSpPr>
          <p:cNvPr id="27" name="TextBox 26"/>
          <p:cNvSpPr txBox="1"/>
          <p:nvPr/>
        </p:nvSpPr>
        <p:spPr>
          <a:xfrm>
            <a:off x="1828800" y="5468112"/>
            <a:ext cx="1828800" cy="548640"/>
          </a:xfrm>
          <a:prstGeom prst="rect">
            <a:avLst/>
          </a:prstGeom>
          <a:noFill/>
        </p:spPr>
        <p:txBody>
          <a:bodyPr wrap="square" lIns="0" rIns="0" tIns="0" bIns="0" anchor="ctr">
            <a:spAutoFit/>
          </a:bodyPr>
          <a:lstStyle/>
          <a:p>
            <a:pPr algn="l">
              <a:spcAft>
                <a:spcPts val="400"/>
              </a:spcAft>
            </a:pPr>
            <a:r>
              <a:rPr sz="1500" b="1">
                <a:solidFill>
                  <a:srgbClr val="0F2331"/>
                </a:solidFill>
                <a:latin typeface="Arial"/>
              </a:rPr>
              <a:t>Quét kỹ</a:t>
            </a:r>
          </a:p>
        </p:txBody>
      </p:sp>
      <p:sp>
        <p:nvSpPr>
          <p:cNvPr id="28" name="TextBox 27"/>
          <p:cNvSpPr txBox="1"/>
          <p:nvPr/>
        </p:nvSpPr>
        <p:spPr>
          <a:xfrm>
            <a:off x="3703320" y="5449824"/>
            <a:ext cx="7772400" cy="585216"/>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detailed_scan: ảnh ≥ 1280 px, NMS IoU 0,5, test-time augmentation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HỆ THỐNG</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Kiến trúc ứng dụng và API</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33</a:t>
            </a:r>
          </a:p>
        </p:txBody>
      </p:sp>
      <p:sp>
        <p:nvSpPr>
          <p:cNvPr id="5" name="Rounded Rectangle 4"/>
          <p:cNvSpPr/>
          <p:nvPr/>
        </p:nvSpPr>
        <p:spPr>
          <a:xfrm>
            <a:off x="548640" y="1280160"/>
            <a:ext cx="2553462"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0817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React + Ant Design</a:t>
            </a:r>
          </a:p>
        </p:txBody>
      </p:sp>
      <p:sp>
        <p:nvSpPr>
          <p:cNvPr id="7" name="TextBox 6"/>
          <p:cNvSpPr txBox="1"/>
          <p:nvPr/>
        </p:nvSpPr>
        <p:spPr>
          <a:xfrm>
            <a:off x="658368" y="1783080"/>
            <a:ext cx="2334006" cy="86868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Vite; tải ảnh/video, 2 thanh trượt ngưỡng, 2 công tắc</a:t>
            </a:r>
          </a:p>
        </p:txBody>
      </p:sp>
      <p:sp>
        <p:nvSpPr>
          <p:cNvPr id="8" name="Right Arrow 7"/>
          <p:cNvSpPr/>
          <p:nvPr/>
        </p:nvSpPr>
        <p:spPr>
          <a:xfrm>
            <a:off x="3147822" y="188823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94710" y="1280160"/>
            <a:ext cx="2553462"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04438" y="140817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FastAPI</a:t>
            </a:r>
          </a:p>
        </p:txBody>
      </p:sp>
      <p:sp>
        <p:nvSpPr>
          <p:cNvPr id="11" name="TextBox 10"/>
          <p:cNvSpPr txBox="1"/>
          <p:nvPr/>
        </p:nvSpPr>
        <p:spPr>
          <a:xfrm>
            <a:off x="3504438" y="1783080"/>
            <a:ext cx="2334006" cy="86868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Kiểm tra định dạng, kích thước, EXIF; điều phối</a:t>
            </a:r>
          </a:p>
        </p:txBody>
      </p:sp>
      <p:sp>
        <p:nvSpPr>
          <p:cNvPr id="12" name="Right Arrow 11"/>
          <p:cNvSpPr/>
          <p:nvPr/>
        </p:nvSpPr>
        <p:spPr>
          <a:xfrm>
            <a:off x="5993892" y="188823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40780" y="1280160"/>
            <a:ext cx="2553462"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0508" y="140817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Ultralytics 8.4.155</a:t>
            </a:r>
          </a:p>
        </p:txBody>
      </p:sp>
      <p:sp>
        <p:nvSpPr>
          <p:cNvPr id="15" name="TextBox 14"/>
          <p:cNvSpPr txBox="1"/>
          <p:nvPr/>
        </p:nvSpPr>
        <p:spPr>
          <a:xfrm>
            <a:off x="6350508" y="1783080"/>
            <a:ext cx="2334006" cy="86868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PyTorch CPU; detector, verifier, 2 classifier</a:t>
            </a:r>
          </a:p>
        </p:txBody>
      </p:sp>
      <p:sp>
        <p:nvSpPr>
          <p:cNvPr id="16" name="Right Arrow 15"/>
          <p:cNvSpPr/>
          <p:nvPr/>
        </p:nvSpPr>
        <p:spPr>
          <a:xfrm>
            <a:off x="8839962" y="1888236"/>
            <a:ext cx="201168" cy="201168"/>
          </a:xfrm>
          <a:prstGeom prst="rightArrow">
            <a:avLst/>
          </a:prstGeom>
          <a:solidFill>
            <a:srgbClr val="187F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86850" y="1280160"/>
            <a:ext cx="2553462" cy="1417320"/>
          </a:xfrm>
          <a:prstGeom prst="roundRect">
            <a:avLst>
              <a:gd name="adj" fmla="val 929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6578" y="1408176"/>
            <a:ext cx="2334006" cy="320040"/>
          </a:xfrm>
          <a:prstGeom prst="rect">
            <a:avLst/>
          </a:prstGeom>
          <a:noFill/>
        </p:spPr>
        <p:txBody>
          <a:bodyPr wrap="square" lIns="0" rIns="0" tIns="0" bIns="0" anchor="t">
            <a:spAutoFit/>
          </a:bodyPr>
          <a:lstStyle/>
          <a:p>
            <a:pPr algn="ctr">
              <a:spcAft>
                <a:spcPts val="400"/>
              </a:spcAft>
            </a:pPr>
            <a:r>
              <a:rPr sz="1500" b="1">
                <a:solidFill>
                  <a:srgbClr val="187F5B"/>
                </a:solidFill>
                <a:latin typeface="Arial"/>
              </a:rPr>
              <a:t>ByteTrack</a:t>
            </a:r>
          </a:p>
        </p:txBody>
      </p:sp>
      <p:sp>
        <p:nvSpPr>
          <p:cNvPr id="19" name="TextBox 18"/>
          <p:cNvSpPr txBox="1"/>
          <p:nvPr/>
        </p:nvSpPr>
        <p:spPr>
          <a:xfrm>
            <a:off x="9196578" y="1783080"/>
            <a:ext cx="2334006" cy="868680"/>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Theo dõi ID quả trong video (thư viện lap)</a:t>
            </a:r>
          </a:p>
        </p:txBody>
      </p:sp>
      <p:graphicFrame>
        <p:nvGraphicFramePr>
          <p:cNvPr id="20" name="Table 19"/>
          <p:cNvGraphicFramePr>
            <a:graphicFrameLocks noGrp="1"/>
          </p:cNvGraphicFramePr>
          <p:nvPr/>
        </p:nvGraphicFramePr>
        <p:xfrm>
          <a:off x="548640" y="3017520"/>
          <a:ext cx="11091671" cy="2560320"/>
        </p:xfrm>
        <a:graphic>
          <a:graphicData uri="http://schemas.openxmlformats.org/drawingml/2006/table">
            <a:tbl>
              <a:tblPr firstRow="1" bandRow="1">
                <a:tableStyleId>{5C22544A-7EE6-4342-B048-85BDC9FD1C3A}</a:tableStyleId>
              </a:tblPr>
              <a:tblGrid>
                <a:gridCol w="1925000"/>
                <a:gridCol w="9166671"/>
              </a:tblGrid>
              <a:tr h="512064">
                <a:tc>
                  <a:txBody>
                    <a:bodyPr wrap="square"/>
                    <a:lstStyle/>
                    <a:p>
                      <a:r>
                        <a:rPr sz="1300" b="1">
                          <a:solidFill>
                            <a:srgbClr val="FFFFFF"/>
                          </a:solidFill>
                          <a:latin typeface="Arial"/>
                        </a:rPr>
                        <a:t>Endpoint</a:t>
                      </a:r>
                    </a:p>
                  </a:txBody>
                  <a:tcPr marL="64008" marR="64008" marT="32004" marB="32004" anchor="ctr">
                    <a:solidFill>
                      <a:srgbClr val="0F2331"/>
                    </a:solidFill>
                  </a:tcPr>
                </a:tc>
                <a:tc>
                  <a:txBody>
                    <a:bodyPr wrap="square"/>
                    <a:lstStyle/>
                    <a:p>
                      <a:r>
                        <a:rPr sz="1300" b="1">
                          <a:solidFill>
                            <a:srgbClr val="FFFFFF"/>
                          </a:solidFill>
                          <a:latin typeface="Arial"/>
                        </a:rPr>
                        <a:t>Tham số chính → kết quả</a:t>
                      </a:r>
                    </a:p>
                  </a:txBody>
                  <a:tcPr marL="64008" marR="64008" marT="32004" marB="32004" anchor="ctr">
                    <a:solidFill>
                      <a:srgbClr val="0F2331"/>
                    </a:solidFill>
                  </a:tcPr>
                </a:tc>
              </a:tr>
              <a:tr h="512064">
                <a:tc>
                  <a:txBody>
                    <a:bodyPr wrap="square"/>
                    <a:lstStyle/>
                    <a:p>
                      <a:r>
                        <a:rPr sz="1300" b="1">
                          <a:solidFill>
                            <a:srgbClr val="1F303A"/>
                          </a:solidFill>
                          <a:latin typeface="Arial"/>
                        </a:rPr>
                        <a:t>GET /health</a:t>
                      </a:r>
                    </a:p>
                  </a:txBody>
                  <a:tcPr marL="64008" marR="64008" marT="32004" marB="32004" anchor="ctr">
                    <a:solidFill>
                      <a:srgbClr val="FFFFFF"/>
                    </a:solidFill>
                  </a:tcPr>
                </a:tc>
                <a:tc>
                  <a:txBody>
                    <a:bodyPr wrap="square"/>
                    <a:lstStyle/>
                    <a:p>
                      <a:r>
                        <a:rPr sz="1300" b="0">
                          <a:solidFill>
                            <a:srgbClr val="1F303A"/>
                          </a:solidFill>
                          <a:latin typeface="Arial"/>
                        </a:rPr>
                        <a:t>pipeline_mode (two-stage / legacy), model_loaded, detector_imgsz, other_fruit_filter, model_classes</a:t>
                      </a:r>
                    </a:p>
                  </a:txBody>
                  <a:tcPr marL="64008" marR="64008" marT="32004" marB="32004" anchor="ctr">
                    <a:solidFill>
                      <a:srgbClr val="FFFFFF"/>
                    </a:solidFill>
                  </a:tcPr>
                </a:tc>
              </a:tr>
              <a:tr h="512064">
                <a:tc>
                  <a:txBody>
                    <a:bodyPr wrap="square"/>
                    <a:lstStyle/>
                    <a:p>
                      <a:r>
                        <a:rPr sz="1300" b="1">
                          <a:solidFill>
                            <a:srgbClr val="1F303A"/>
                          </a:solidFill>
                          <a:latin typeface="Arial"/>
                        </a:rPr>
                        <a:t>POST /detect</a:t>
                      </a:r>
                    </a:p>
                  </a:txBody>
                  <a:tcPr marL="64008" marR="64008" marT="32004" marB="32004" anchor="ctr">
                    <a:solidFill>
                      <a:srgbClr val="F8FBFA"/>
                    </a:solidFill>
                  </a:tcPr>
                </a:tc>
                <a:tc>
                  <a:txBody>
                    <a:bodyPr wrap="square"/>
                    <a:lstStyle/>
                    <a:p>
                      <a:r>
                        <a:rPr sz="1300" b="0">
                          <a:solidFill>
                            <a:srgbClr val="1F303A"/>
                          </a:solidFill>
                          <a:latin typeface="Arial"/>
                        </a:rPr>
                        <a:t>ảnh ≤ 12 MB; conf_threshold 0,25; ripeness_threshold 0,80; low_light_assist; detailed_scan → total_count, counts, detections[], ảnh JPEG base64</a:t>
                      </a:r>
                    </a:p>
                  </a:txBody>
                  <a:tcPr marL="64008" marR="64008" marT="32004" marB="32004" anchor="ctr">
                    <a:solidFill>
                      <a:srgbClr val="F8FBFA"/>
                    </a:solidFill>
                  </a:tcPr>
                </a:tc>
              </a:tr>
              <a:tr h="512064">
                <a:tc>
                  <a:txBody>
                    <a:bodyPr wrap="square"/>
                    <a:lstStyle/>
                    <a:p>
                      <a:r>
                        <a:rPr sz="1300" b="1">
                          <a:solidFill>
                            <a:srgbClr val="1F303A"/>
                          </a:solidFill>
                          <a:latin typeface="Arial"/>
                        </a:rPr>
                        <a:t>POST /detect-video</a:t>
                      </a:r>
                    </a:p>
                  </a:txBody>
                  <a:tcPr marL="64008" marR="64008" marT="32004" marB="32004" anchor="ctr">
                    <a:solidFill>
                      <a:srgbClr val="FFFFFF"/>
                    </a:solidFill>
                  </a:tcPr>
                </a:tc>
                <a:tc>
                  <a:txBody>
                    <a:bodyPr wrap="square"/>
                    <a:lstStyle/>
                    <a:p>
                      <a:r>
                        <a:rPr sz="1300" b="0">
                          <a:solidFill>
                            <a:srgbClr val="1F303A"/>
                          </a:solidFill>
                          <a:latin typeface="Arial"/>
                        </a:rPr>
                        <a:t>mp4/mov/webm/avi ≤ 50 MB, ≤ 30 giây, ≤ 1080p → total_unique_count, counts, khung hình minh họa</a:t>
                      </a:r>
                    </a:p>
                  </a:txBody>
                  <a:tcPr marL="64008" marR="64008" marT="32004" marB="32004" anchor="ctr">
                    <a:solidFill>
                      <a:srgbClr val="FFFFFF"/>
                    </a:solidFill>
                  </a:tcPr>
                </a:tc>
              </a:tr>
              <a:tr h="512064">
                <a:tc>
                  <a:txBody>
                    <a:bodyPr wrap="square"/>
                    <a:lstStyle/>
                    <a:p>
                      <a:r>
                        <a:rPr sz="1300" b="1">
                          <a:solidFill>
                            <a:srgbClr val="1F303A"/>
                          </a:solidFill>
                          <a:latin typeface="Arial"/>
                        </a:rPr>
                        <a:t>GET /docs</a:t>
                      </a:r>
                    </a:p>
                  </a:txBody>
                  <a:tcPr marL="64008" marR="64008" marT="32004" marB="32004" anchor="ctr">
                    <a:solidFill>
                      <a:srgbClr val="F8FBFA"/>
                    </a:solidFill>
                  </a:tcPr>
                </a:tc>
                <a:tc>
                  <a:txBody>
                    <a:bodyPr wrap="square"/>
                    <a:lstStyle/>
                    <a:p>
                      <a:r>
                        <a:rPr sz="1300" b="0">
                          <a:solidFill>
                            <a:srgbClr val="1F303A"/>
                          </a:solidFill>
                          <a:latin typeface="Arial"/>
                        </a:rPr>
                        <a:t>Swagger UI tự sinh từ FastAPI</a:t>
                      </a:r>
                    </a:p>
                  </a:txBody>
                  <a:tcPr marL="64008" marR="64008" marT="32004" marB="32004" anchor="ctr">
                    <a:solidFill>
                      <a:srgbClr val="F8FBFA"/>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TRIỂN KHAI</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Lịch sử triển khai Cloud Run (asia-southeast1)</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34</a:t>
            </a:r>
          </a:p>
        </p:txBody>
      </p:sp>
      <p:graphicFrame>
        <p:nvGraphicFramePr>
          <p:cNvPr id="5" name="Table 4"/>
          <p:cNvGraphicFramePr>
            <a:graphicFrameLocks noGrp="1"/>
          </p:cNvGraphicFramePr>
          <p:nvPr/>
        </p:nvGraphicFramePr>
        <p:xfrm>
          <a:off x="548640" y="1261872"/>
          <a:ext cx="11091672" cy="3886200"/>
        </p:xfrm>
        <a:graphic>
          <a:graphicData uri="http://schemas.openxmlformats.org/drawingml/2006/table">
            <a:tbl>
              <a:tblPr firstRow="1" bandRow="1">
                <a:tableStyleId>{5C22544A-7EE6-4342-B048-85BDC9FD1C3A}</a:tableStyleId>
              </a:tblPr>
              <a:tblGrid>
                <a:gridCol w="1143000"/>
                <a:gridCol w="2286000"/>
                <a:gridCol w="7662672"/>
              </a:tblGrid>
              <a:tr h="777240">
                <a:tc>
                  <a:txBody>
                    <a:bodyPr wrap="square"/>
                    <a:lstStyle/>
                    <a:p>
                      <a:r>
                        <a:rPr sz="1300" b="1">
                          <a:solidFill>
                            <a:srgbClr val="FFFFFF"/>
                          </a:solidFill>
                          <a:latin typeface="Arial"/>
                        </a:rPr>
                        <a:t>Ngày</a:t>
                      </a:r>
                    </a:p>
                  </a:txBody>
                  <a:tcPr marL="64008" marR="64008" marT="32004" marB="32004" anchor="ctr">
                    <a:solidFill>
                      <a:srgbClr val="0F2331"/>
                    </a:solidFill>
                  </a:tcPr>
                </a:tc>
                <a:tc>
                  <a:txBody>
                    <a:bodyPr wrap="square"/>
                    <a:lstStyle/>
                    <a:p>
                      <a:r>
                        <a:rPr sz="1300" b="1">
                          <a:solidFill>
                            <a:srgbClr val="FFFFFF"/>
                          </a:solidFill>
                          <a:latin typeface="Arial"/>
                        </a:rPr>
                        <a:t>Revision / tag</a:t>
                      </a:r>
                    </a:p>
                  </a:txBody>
                  <a:tcPr marL="64008" marR="64008" marT="32004" marB="32004" anchor="ctr">
                    <a:solidFill>
                      <a:srgbClr val="0F2331"/>
                    </a:solidFill>
                  </a:tcPr>
                </a:tc>
                <a:tc>
                  <a:txBody>
                    <a:bodyPr wrap="square"/>
                    <a:lstStyle/>
                    <a:p>
                      <a:r>
                        <a:rPr sz="1300" b="1">
                          <a:solidFill>
                            <a:srgbClr val="FFFFFF"/>
                          </a:solidFill>
                          <a:latin typeface="Arial"/>
                        </a:rPr>
                        <a:t>Nội dung và lý do</a:t>
                      </a:r>
                    </a:p>
                  </a:txBody>
                  <a:tcPr marL="64008" marR="64008" marT="32004" marB="32004" anchor="ctr">
                    <a:solidFill>
                      <a:srgbClr val="0F2331"/>
                    </a:solidFill>
                  </a:tcPr>
                </a:tc>
              </a:tr>
              <a:tr h="777240">
                <a:tc>
                  <a:txBody>
                    <a:bodyPr wrap="square"/>
                    <a:lstStyle/>
                    <a:p>
                      <a:r>
                        <a:rPr sz="1300" b="1">
                          <a:solidFill>
                            <a:srgbClr val="1F303A"/>
                          </a:solidFill>
                          <a:latin typeface="Arial"/>
                        </a:rPr>
                        <a:t>24/09</a:t>
                      </a:r>
                    </a:p>
                  </a:txBody>
                  <a:tcPr marL="64008" marR="64008" marT="32004" marB="32004" anchor="ctr">
                    <a:solidFill>
                      <a:srgbClr val="FFFFFF"/>
                    </a:solidFill>
                  </a:tcPr>
                </a:tc>
                <a:tc>
                  <a:txBody>
                    <a:bodyPr wrap="square"/>
                    <a:lstStyle/>
                    <a:p>
                      <a:r>
                        <a:rPr sz="1300" b="0">
                          <a:solidFill>
                            <a:srgbClr val="1F303A"/>
                          </a:solidFill>
                          <a:latin typeface="Arial"/>
                        </a:rPr>
                        <a:t>00001-z2h</a:t>
                      </a:r>
                    </a:p>
                  </a:txBody>
                  <a:tcPr marL="64008" marR="64008" marT="32004" marB="32004" anchor="ctr">
                    <a:solidFill>
                      <a:srgbClr val="FFFFFF"/>
                    </a:solidFill>
                  </a:tcPr>
                </a:tc>
                <a:tc>
                  <a:txBody>
                    <a:bodyPr wrap="square"/>
                    <a:lstStyle/>
                    <a:p>
                      <a:r>
                        <a:rPr sz="1300" b="0">
                          <a:solidFill>
                            <a:srgbClr val="1F303A"/>
                          </a:solidFill>
                          <a:latin typeface="Arial"/>
                        </a:rPr>
                        <a:t>Mô hình 7 lớp; ~7,6 giây/ảnh; giữ lại để rollback</a:t>
                      </a:r>
                    </a:p>
                  </a:txBody>
                  <a:tcPr marL="64008" marR="64008" marT="32004" marB="32004" anchor="ctr">
                    <a:solidFill>
                      <a:srgbClr val="FFFFFF"/>
                    </a:solidFill>
                  </a:tcPr>
                </a:tc>
              </a:tr>
              <a:tr h="777240">
                <a:tc>
                  <a:txBody>
                    <a:bodyPr wrap="square"/>
                    <a:lstStyle/>
                    <a:p>
                      <a:r>
                        <a:rPr sz="1300" b="1">
                          <a:solidFill>
                            <a:srgbClr val="1F303A"/>
                          </a:solidFill>
                          <a:latin typeface="Arial"/>
                        </a:rPr>
                        <a:t>03/10</a:t>
                      </a:r>
                    </a:p>
                  </a:txBody>
                  <a:tcPr marL="64008" marR="64008" marT="32004" marB="32004" anchor="ctr">
                    <a:solidFill>
                      <a:srgbClr val="F8FBFA"/>
                    </a:solidFill>
                  </a:tcPr>
                </a:tc>
                <a:tc>
                  <a:txBody>
                    <a:bodyPr wrap="square"/>
                    <a:lstStyle/>
                    <a:p>
                      <a:r>
                        <a:rPr sz="1300" b="0">
                          <a:solidFill>
                            <a:srgbClr val="1F303A"/>
                          </a:solidFill>
                          <a:latin typeface="Arial"/>
                        </a:rPr>
                        <a:t>00003-hat • v3-mobile</a:t>
                      </a:r>
                    </a:p>
                  </a:txBody>
                  <a:tcPr marL="64008" marR="64008" marT="32004" marB="32004" anchor="ctr">
                    <a:solidFill>
                      <a:srgbClr val="F8FBFA"/>
                    </a:solidFill>
                  </a:tcPr>
                </a:tc>
                <a:tc>
                  <a:txBody>
                    <a:bodyPr wrap="square"/>
                    <a:lstStyle/>
                    <a:p>
                      <a:r>
                        <a:rPr sz="1300" b="0">
                          <a:solidFill>
                            <a:srgbClr val="1F303A"/>
                          </a:solidFill>
                          <a:latin typeface="Arial"/>
                        </a:rPr>
                        <a:t>v3 + giao diện điện thoại. Sửa Dockerfile thiếu module, thêm .gcloudignore để không bỏ sót weight; deploy_cloud_run.sh: revision không nhận traffic → smoke test → PROMOTE=1</a:t>
                      </a:r>
                    </a:p>
                  </a:txBody>
                  <a:tcPr marL="64008" marR="64008" marT="32004" marB="32004" anchor="ctr">
                    <a:solidFill>
                      <a:srgbClr val="F8FBFA"/>
                    </a:solidFill>
                  </a:tcPr>
                </a:tc>
              </a:tr>
              <a:tr h="777240">
                <a:tc>
                  <a:txBody>
                    <a:bodyPr wrap="square"/>
                    <a:lstStyle/>
                    <a:p>
                      <a:r>
                        <a:rPr sz="1300" b="1">
                          <a:solidFill>
                            <a:srgbClr val="1F303A"/>
                          </a:solidFill>
                          <a:latin typeface="Arial"/>
                        </a:rPr>
                        <a:t>03/10</a:t>
                      </a:r>
                    </a:p>
                  </a:txBody>
                  <a:tcPr marL="64008" marR="64008" marT="32004" marB="32004" anchor="ctr">
                    <a:solidFill>
                      <a:srgbClr val="FFFFFF"/>
                    </a:solidFill>
                  </a:tcPr>
                </a:tc>
                <a:tc>
                  <a:txBody>
                    <a:bodyPr wrap="square"/>
                    <a:lstStyle/>
                    <a:p>
                      <a:r>
                        <a:rPr sz="1300" b="0">
                          <a:solidFill>
                            <a:srgbClr val="1F303A"/>
                          </a:solidFill>
                          <a:latin typeface="Arial"/>
                        </a:rPr>
                        <a:t>00005-yap • v3-ui-fix</a:t>
                      </a:r>
                    </a:p>
                  </a:txBody>
                  <a:tcPr marL="64008" marR="64008" marT="32004" marB="32004" anchor="ctr">
                    <a:solidFill>
                      <a:srgbClr val="FFFFFF"/>
                    </a:solidFill>
                  </a:tcPr>
                </a:tc>
                <a:tc>
                  <a:txBody>
                    <a:bodyPr wrap="square"/>
                    <a:lstStyle/>
                    <a:p>
                      <a:r>
                        <a:rPr sz="1300" b="0">
                          <a:solidFill>
                            <a:srgbClr val="1F303A"/>
                          </a:solidFill>
                          <a:latin typeface="Arial"/>
                        </a:rPr>
                        <a:t>Người dùng đọc "Độ chín 72,4%" là "chín 72%" → thẻ ghi "Model nghiêng về: Xoài non · tin cậy 72,4% (cần ≥ 80%)"; ngưỡng mặc định giao diện 0,55</a:t>
                      </a:r>
                    </a:p>
                  </a:txBody>
                  <a:tcPr marL="64008" marR="64008" marT="32004" marB="32004" anchor="ctr">
                    <a:solidFill>
                      <a:srgbClr val="FFFFFF"/>
                    </a:solidFill>
                  </a:tcPr>
                </a:tc>
              </a:tr>
              <a:tr h="777240">
                <a:tc>
                  <a:txBody>
                    <a:bodyPr wrap="square"/>
                    <a:lstStyle/>
                    <a:p>
                      <a:r>
                        <a:rPr sz="1300" b="1">
                          <a:solidFill>
                            <a:srgbClr val="1F303A"/>
                          </a:solidFill>
                          <a:latin typeface="Arial"/>
                        </a:rPr>
                        <a:t>06–08/10</a:t>
                      </a:r>
                    </a:p>
                  </a:txBody>
                  <a:tcPr marL="64008" marR="64008" marT="32004" marB="32004" anchor="ctr">
                    <a:solidFill>
                      <a:srgbClr val="F8FBFA"/>
                    </a:solidFill>
                  </a:tcPr>
                </a:tc>
                <a:tc>
                  <a:txBody>
                    <a:bodyPr wrap="square"/>
                    <a:lstStyle/>
                    <a:p>
                      <a:r>
                        <a:rPr sz="1300" b="0">
                          <a:solidFill>
                            <a:srgbClr val="1F303A"/>
                          </a:solidFill>
                          <a:latin typeface="Arial"/>
                        </a:rPr>
                        <a:t>fix4</a:t>
                      </a:r>
                    </a:p>
                  </a:txBody>
                  <a:tcPr marL="64008" marR="64008" marT="32004" marB="32004" anchor="ctr">
                    <a:solidFill>
                      <a:srgbClr val="F8FBFA"/>
                    </a:solidFill>
                  </a:tcPr>
                </a:tc>
                <a:tc>
                  <a:txBody>
                    <a:bodyPr wrap="square"/>
                    <a:lstStyle/>
                    <a:p>
                      <a:r>
                        <a:rPr sz="1300" b="0">
                          <a:solidFill>
                            <a:srgbClr val="1F303A"/>
                          </a:solidFill>
                          <a:latin typeface="Arial"/>
                        </a:rPr>
                        <a:t>v3 + bộ lọc loài + video ByteTrack + ảnh tối + quét kỹ</a:t>
                      </a:r>
                    </a:p>
                  </a:txBody>
                  <a:tcPr marL="64008" marR="64008" marT="32004" marB="32004" anchor="ctr">
                    <a:solidFill>
                      <a:srgbClr val="F8FBFA"/>
                    </a:solidFill>
                  </a:tcPr>
                </a:tc>
              </a:tr>
            </a:tbl>
          </a:graphicData>
        </a:graphic>
      </p:graphicFrame>
      <p:sp>
        <p:nvSpPr>
          <p:cNvPr id="6" name="Rounded Rectangle 5"/>
          <p:cNvSpPr/>
          <p:nvPr/>
        </p:nvSpPr>
        <p:spPr>
          <a:xfrm>
            <a:off x="548640" y="5074920"/>
            <a:ext cx="2651760" cy="1143000"/>
          </a:xfrm>
          <a:prstGeom prst="roundRect">
            <a:avLst>
              <a:gd name="adj" fmla="val 1152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202936"/>
            <a:ext cx="2468879" cy="571500"/>
          </a:xfrm>
          <a:prstGeom prst="rect">
            <a:avLst/>
          </a:prstGeom>
          <a:noFill/>
        </p:spPr>
        <p:txBody>
          <a:bodyPr wrap="square" lIns="0" rIns="0" tIns="0" bIns="0" anchor="t">
            <a:spAutoFit/>
          </a:bodyPr>
          <a:lstStyle/>
          <a:p>
            <a:pPr algn="ctr">
              <a:spcAft>
                <a:spcPts val="400"/>
              </a:spcAft>
            </a:pPr>
            <a:r>
              <a:rPr sz="2200" b="1">
                <a:solidFill>
                  <a:srgbClr val="187F5B"/>
                </a:solidFill>
                <a:latin typeface="Arial"/>
              </a:rPr>
              <a:t>1,4–1,8 s</a:t>
            </a:r>
          </a:p>
        </p:txBody>
      </p:sp>
      <p:sp>
        <p:nvSpPr>
          <p:cNvPr id="8" name="TextBox 7"/>
          <p:cNvSpPr txBox="1"/>
          <p:nvPr/>
        </p:nvSpPr>
        <p:spPr>
          <a:xfrm>
            <a:off x="685800" y="5703570"/>
            <a:ext cx="2377440" cy="480060"/>
          </a:xfrm>
          <a:prstGeom prst="rect">
            <a:avLst/>
          </a:prstGeom>
          <a:noFill/>
        </p:spPr>
        <p:txBody>
          <a:bodyPr wrap="square" lIns="0" rIns="0" tIns="0" bIns="0" anchor="t">
            <a:spAutoFit/>
          </a:bodyPr>
          <a:lstStyle/>
          <a:p>
            <a:pPr algn="ctr">
              <a:spcAft>
                <a:spcPts val="400"/>
              </a:spcAft>
            </a:pPr>
            <a:r>
              <a:rPr sz="1200" b="0">
                <a:solidFill>
                  <a:srgbClr val="1F303A"/>
                </a:solidFill>
                <a:latin typeface="Arial"/>
              </a:rPr>
              <a:t>mỗi ảnh (cây xoài 46 quả, trụ thanh long 22)</a:t>
            </a:r>
          </a:p>
        </p:txBody>
      </p:sp>
      <p:sp>
        <p:nvSpPr>
          <p:cNvPr id="9" name="Rounded Rectangle 8"/>
          <p:cNvSpPr/>
          <p:nvPr/>
        </p:nvSpPr>
        <p:spPr>
          <a:xfrm>
            <a:off x="3383280" y="5074920"/>
            <a:ext cx="2651760" cy="1143000"/>
          </a:xfrm>
          <a:prstGeom prst="roundRect">
            <a:avLst>
              <a:gd name="adj" fmla="val 1152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5202936"/>
            <a:ext cx="2468879" cy="571500"/>
          </a:xfrm>
          <a:prstGeom prst="rect">
            <a:avLst/>
          </a:prstGeom>
          <a:noFill/>
        </p:spPr>
        <p:txBody>
          <a:bodyPr wrap="square" lIns="0" rIns="0" tIns="0" bIns="0" anchor="t">
            <a:spAutoFit/>
          </a:bodyPr>
          <a:lstStyle/>
          <a:p>
            <a:pPr algn="ctr">
              <a:spcAft>
                <a:spcPts val="400"/>
              </a:spcAft>
            </a:pPr>
            <a:r>
              <a:rPr sz="2200" b="1">
                <a:solidFill>
                  <a:srgbClr val="0F2331"/>
                </a:solidFill>
                <a:latin typeface="Arial"/>
              </a:rPr>
              <a:t>572 MiB</a:t>
            </a:r>
          </a:p>
        </p:txBody>
      </p:sp>
      <p:sp>
        <p:nvSpPr>
          <p:cNvPr id="11" name="TextBox 10"/>
          <p:cNvSpPr txBox="1"/>
          <p:nvPr/>
        </p:nvSpPr>
        <p:spPr>
          <a:xfrm>
            <a:off x="3520440" y="5703570"/>
            <a:ext cx="2377440" cy="480060"/>
          </a:xfrm>
          <a:prstGeom prst="rect">
            <a:avLst/>
          </a:prstGeom>
          <a:noFill/>
        </p:spPr>
        <p:txBody>
          <a:bodyPr wrap="square" lIns="0" rIns="0" tIns="0" bIns="0" anchor="t">
            <a:spAutoFit/>
          </a:bodyPr>
          <a:lstStyle/>
          <a:p>
            <a:pPr algn="ctr">
              <a:spcAft>
                <a:spcPts val="400"/>
              </a:spcAft>
            </a:pPr>
            <a:r>
              <a:rPr sz="1200" b="0">
                <a:solidFill>
                  <a:srgbClr val="1F303A"/>
                </a:solidFill>
                <a:latin typeface="Arial"/>
              </a:rPr>
              <a:t>RAM tối đa; giới hạn 1 CPU, 2 GiB</a:t>
            </a:r>
          </a:p>
        </p:txBody>
      </p:sp>
      <p:sp>
        <p:nvSpPr>
          <p:cNvPr id="12" name="Rounded Rectangle 11"/>
          <p:cNvSpPr/>
          <p:nvPr/>
        </p:nvSpPr>
        <p:spPr>
          <a:xfrm>
            <a:off x="6217920" y="5074920"/>
            <a:ext cx="5422392" cy="1143000"/>
          </a:xfrm>
          <a:prstGeom prst="roundRect">
            <a:avLst>
              <a:gd name="adj" fmla="val 11520"/>
            </a:avLst>
          </a:prstGeom>
          <a:solidFill>
            <a:srgbClr val="FA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5166359"/>
            <a:ext cx="4965192" cy="960120"/>
          </a:xfrm>
          <a:prstGeom prst="rect">
            <a:avLst/>
          </a:prstGeom>
          <a:noFill/>
        </p:spPr>
        <p:txBody>
          <a:bodyPr wrap="square" lIns="0" rIns="0" tIns="0" bIns="0" anchor="ctr">
            <a:spAutoFit/>
          </a:bodyPr>
          <a:lstStyle/>
          <a:p>
            <a:pPr algn="l">
              <a:spcAft>
                <a:spcPts val="400"/>
              </a:spcAft>
            </a:pPr>
            <a:r>
              <a:rPr sz="1300" b="0">
                <a:solidFill>
                  <a:srgbClr val="B34340"/>
                </a:solidFill>
                <a:latin typeface="Arial"/>
              </a:rPr>
              <a:t>Lưu ý: .dockerignore hiện chưa cho phép species_verifier.pt — build mới sẽ mất bộ lọc nếu không thêm dòng này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TÍNH NĂNG</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Tính năng thêm 05–06/10 và tác dụng trên ảnh mẫu</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35</a:t>
            </a:r>
          </a:p>
        </p:txBody>
      </p:sp>
      <p:pic>
        <p:nvPicPr>
          <p:cNvPr id="5" name="Picture 4" descr="filter_plum_off.jpg"/>
          <p:cNvPicPr>
            <a:picLocks noChangeAspect="1"/>
          </p:cNvPicPr>
          <p:nvPr/>
        </p:nvPicPr>
        <p:blipFill>
          <a:blip r:embed="rId2"/>
          <a:stretch>
            <a:fillRect/>
          </a:stretch>
        </p:blipFill>
        <p:spPr>
          <a:xfrm>
            <a:off x="649095" y="1234440"/>
            <a:ext cx="1627889" cy="2167128"/>
          </a:xfrm>
          <a:prstGeom prst="rect">
            <a:avLst/>
          </a:prstGeom>
        </p:spPr>
      </p:pic>
      <p:sp>
        <p:nvSpPr>
          <p:cNvPr id="6" name="TextBox 5"/>
          <p:cNvSpPr txBox="1"/>
          <p:nvPr/>
        </p:nvSpPr>
        <p:spPr>
          <a:xfrm>
            <a:off x="548640" y="3447287"/>
            <a:ext cx="18288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Mận — lọc tắt</a:t>
            </a:r>
          </a:p>
        </p:txBody>
      </p:sp>
      <p:pic>
        <p:nvPicPr>
          <p:cNvPr id="7" name="Picture 6" descr="filter_plum_on.jpg"/>
          <p:cNvPicPr>
            <a:picLocks noChangeAspect="1"/>
          </p:cNvPicPr>
          <p:nvPr/>
        </p:nvPicPr>
        <p:blipFill>
          <a:blip r:embed="rId3"/>
          <a:stretch>
            <a:fillRect/>
          </a:stretch>
        </p:blipFill>
        <p:spPr>
          <a:xfrm>
            <a:off x="2569335" y="1234440"/>
            <a:ext cx="1627889" cy="2167128"/>
          </a:xfrm>
          <a:prstGeom prst="rect">
            <a:avLst/>
          </a:prstGeom>
        </p:spPr>
      </p:pic>
      <p:sp>
        <p:nvSpPr>
          <p:cNvPr id="8" name="TextBox 7"/>
          <p:cNvSpPr txBox="1"/>
          <p:nvPr/>
        </p:nvSpPr>
        <p:spPr>
          <a:xfrm>
            <a:off x="2468880" y="3447287"/>
            <a:ext cx="18288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Mận — lọc bật</a:t>
            </a:r>
          </a:p>
        </p:txBody>
      </p:sp>
      <p:sp>
        <p:nvSpPr>
          <p:cNvPr id="9" name="TextBox 8"/>
          <p:cNvSpPr txBox="1"/>
          <p:nvPr/>
        </p:nvSpPr>
        <p:spPr>
          <a:xfrm>
            <a:off x="548640" y="3794760"/>
            <a:ext cx="3749039" cy="502920"/>
          </a:xfrm>
          <a:prstGeom prst="rect">
            <a:avLst/>
          </a:prstGeom>
          <a:noFill/>
        </p:spPr>
        <p:txBody>
          <a:bodyPr wrap="square" lIns="0" rIns="0" tIns="0" bIns="0" anchor="t">
            <a:spAutoFit/>
          </a:bodyPr>
          <a:lstStyle/>
          <a:p>
            <a:pPr algn="l">
              <a:spcAft>
                <a:spcPts val="400"/>
              </a:spcAft>
            </a:pPr>
            <a:r>
              <a:rPr sz="1300" b="0">
                <a:solidFill>
                  <a:srgbClr val="1F303A"/>
                </a:solidFill>
                <a:latin typeface="Arial"/>
              </a:rPr>
              <a:t>Ảnh mận: 1 "thanh long chín 100%" + 1 xoài sai → 0 box</a:t>
            </a:r>
          </a:p>
        </p:txBody>
      </p:sp>
      <p:pic>
        <p:nvPicPr>
          <p:cNvPr id="10" name="Picture 9" descr="low_0_normal.jpg"/>
          <p:cNvPicPr>
            <a:picLocks noChangeAspect="1"/>
          </p:cNvPicPr>
          <p:nvPr/>
        </p:nvPicPr>
        <p:blipFill>
          <a:blip r:embed="rId4"/>
          <a:stretch>
            <a:fillRect/>
          </a:stretch>
        </p:blipFill>
        <p:spPr>
          <a:xfrm>
            <a:off x="4565356" y="1234440"/>
            <a:ext cx="2207847" cy="1847088"/>
          </a:xfrm>
          <a:prstGeom prst="rect">
            <a:avLst/>
          </a:prstGeom>
        </p:spPr>
      </p:pic>
      <p:sp>
        <p:nvSpPr>
          <p:cNvPr id="11" name="TextBox 10"/>
          <p:cNvSpPr txBox="1"/>
          <p:nvPr/>
        </p:nvSpPr>
        <p:spPr>
          <a:xfrm>
            <a:off x="4526280" y="3127248"/>
            <a:ext cx="22860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Ảnh thường: 13 quả</a:t>
            </a:r>
          </a:p>
        </p:txBody>
      </p:sp>
      <p:pic>
        <p:nvPicPr>
          <p:cNvPr id="12" name="Picture 11" descr="low_0_dark.jpg"/>
          <p:cNvPicPr>
            <a:picLocks noChangeAspect="1"/>
          </p:cNvPicPr>
          <p:nvPr/>
        </p:nvPicPr>
        <p:blipFill>
          <a:blip r:embed="rId5"/>
          <a:stretch>
            <a:fillRect/>
          </a:stretch>
        </p:blipFill>
        <p:spPr>
          <a:xfrm>
            <a:off x="6942796" y="1234440"/>
            <a:ext cx="2207847" cy="1847088"/>
          </a:xfrm>
          <a:prstGeom prst="rect">
            <a:avLst/>
          </a:prstGeom>
        </p:spPr>
      </p:pic>
      <p:sp>
        <p:nvSpPr>
          <p:cNvPr id="13" name="TextBox 12"/>
          <p:cNvSpPr txBox="1"/>
          <p:nvPr/>
        </p:nvSpPr>
        <p:spPr>
          <a:xfrm>
            <a:off x="6903720" y="3127248"/>
            <a:ext cx="22860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Làm tối: 2</a:t>
            </a:r>
          </a:p>
        </p:txBody>
      </p:sp>
      <p:pic>
        <p:nvPicPr>
          <p:cNvPr id="14" name="Picture 13" descr="low_0_assist.jpg"/>
          <p:cNvPicPr>
            <a:picLocks noChangeAspect="1"/>
          </p:cNvPicPr>
          <p:nvPr/>
        </p:nvPicPr>
        <p:blipFill>
          <a:blip r:embed="rId6"/>
          <a:stretch>
            <a:fillRect/>
          </a:stretch>
        </p:blipFill>
        <p:spPr>
          <a:xfrm>
            <a:off x="9320236" y="1234440"/>
            <a:ext cx="2207847" cy="1847088"/>
          </a:xfrm>
          <a:prstGeom prst="rect">
            <a:avLst/>
          </a:prstGeom>
        </p:spPr>
      </p:pic>
      <p:sp>
        <p:nvSpPr>
          <p:cNvPr id="15" name="TextBox 14"/>
          <p:cNvSpPr txBox="1"/>
          <p:nvPr/>
        </p:nvSpPr>
        <p:spPr>
          <a:xfrm>
            <a:off x="9281160" y="3127248"/>
            <a:ext cx="22860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Tối + hỗ trợ: 6</a:t>
            </a:r>
          </a:p>
        </p:txBody>
      </p:sp>
      <p:sp>
        <p:nvSpPr>
          <p:cNvPr id="16" name="TextBox 15"/>
          <p:cNvSpPr txBox="1"/>
          <p:nvPr/>
        </p:nvSpPr>
        <p:spPr>
          <a:xfrm>
            <a:off x="4526280" y="3520440"/>
            <a:ext cx="7040880" cy="365760"/>
          </a:xfrm>
          <a:prstGeom prst="rect">
            <a:avLst/>
          </a:prstGeom>
          <a:noFill/>
        </p:spPr>
        <p:txBody>
          <a:bodyPr wrap="square" lIns="0" rIns="0" tIns="0" bIns="0" anchor="t">
            <a:spAutoFit/>
          </a:bodyPr>
          <a:lstStyle/>
          <a:p>
            <a:pPr algn="l">
              <a:spcAft>
                <a:spcPts val="400"/>
              </a:spcAft>
            </a:pPr>
            <a:r>
              <a:rPr sz="1300" b="0">
                <a:solidFill>
                  <a:srgbClr val="1F303A"/>
                </a:solidFill>
                <a:latin typeface="Arial"/>
              </a:rPr>
              <a:t>Ảnh tối tổng hợp (gamma 2,2, phơi sáng 35%)</a:t>
            </a:r>
          </a:p>
        </p:txBody>
      </p:sp>
      <p:sp>
        <p:nvSpPr>
          <p:cNvPr id="17" name="Rounded Rectangle 16"/>
          <p:cNvSpPr/>
          <p:nvPr/>
        </p:nvSpPr>
        <p:spPr>
          <a:xfrm>
            <a:off x="548640" y="4343400"/>
            <a:ext cx="3657600"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4526280"/>
            <a:ext cx="325526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Bộ lọc loài</a:t>
            </a:r>
          </a:p>
        </p:txBody>
      </p:sp>
      <p:sp>
        <p:nvSpPr>
          <p:cNvPr id="19" name="TextBox 18"/>
          <p:cNvSpPr txBox="1"/>
          <p:nvPr/>
        </p:nvSpPr>
        <p:spPr>
          <a:xfrm>
            <a:off x="749808" y="4983480"/>
            <a:ext cx="3255264" cy="1051560"/>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YOLOv8n-cls 3 lớp, 5 epoch, 224 px, train trên CPU laptop với ảnh mận Wikimedia</a:t>
            </a:r>
          </a:p>
        </p:txBody>
      </p:sp>
      <p:sp>
        <p:nvSpPr>
          <p:cNvPr id="20" name="Rounded Rectangle 19"/>
          <p:cNvSpPr/>
          <p:nvPr/>
        </p:nvSpPr>
        <p:spPr>
          <a:xfrm>
            <a:off x="4389120" y="4343400"/>
            <a:ext cx="3566160"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0288" y="4526280"/>
            <a:ext cx="316382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Quét kỹ</a:t>
            </a:r>
          </a:p>
        </p:txBody>
      </p:sp>
      <p:sp>
        <p:nvSpPr>
          <p:cNvPr id="22" name="TextBox 21"/>
          <p:cNvSpPr txBox="1"/>
          <p:nvPr/>
        </p:nvSpPr>
        <p:spPr>
          <a:xfrm>
            <a:off x="4590288" y="4983480"/>
            <a:ext cx="3163824" cy="1051560"/>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Ảnh 5 xoài chồng nhau: 2 → 4 quả; vẫn sót 1 quả bị che</a:t>
            </a:r>
          </a:p>
        </p:txBody>
      </p:sp>
      <p:sp>
        <p:nvSpPr>
          <p:cNvPr id="23" name="Rounded Rectangle 22"/>
          <p:cNvSpPr/>
          <p:nvPr/>
        </p:nvSpPr>
        <p:spPr>
          <a:xfrm>
            <a:off x="8138160" y="4343400"/>
            <a:ext cx="3502152" cy="1783080"/>
          </a:xfrm>
          <a:prstGeom prst="roundRect">
            <a:avLst>
              <a:gd name="adj" fmla="val 7384"/>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9328" y="4526280"/>
            <a:ext cx="3099816" cy="365760"/>
          </a:xfrm>
          <a:prstGeom prst="rect">
            <a:avLst/>
          </a:prstGeom>
          <a:noFill/>
        </p:spPr>
        <p:txBody>
          <a:bodyPr wrap="square" lIns="0" rIns="0" tIns="0" bIns="0" anchor="t">
            <a:spAutoFit/>
          </a:bodyPr>
          <a:lstStyle/>
          <a:p>
            <a:pPr algn="l">
              <a:spcAft>
                <a:spcPts val="400"/>
              </a:spcAft>
            </a:pPr>
            <a:r>
              <a:rPr sz="1700" b="1">
                <a:solidFill>
                  <a:srgbClr val="0F2331"/>
                </a:solidFill>
                <a:latin typeface="Arial"/>
              </a:rPr>
              <a:t>Video</a:t>
            </a:r>
          </a:p>
        </p:txBody>
      </p:sp>
      <p:sp>
        <p:nvSpPr>
          <p:cNvPr id="25" name="TextBox 24"/>
          <p:cNvSpPr txBox="1"/>
          <p:nvPr/>
        </p:nvSpPr>
        <p:spPr>
          <a:xfrm>
            <a:off x="8339328" y="4983480"/>
            <a:ext cx="3099816" cy="1051560"/>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Lấy ~5 khung/giây, ByteTrack, mỗi ID xuất hiện ≥ 2 khung được đếm 1 lần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ĐÁNH GIÁ</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08/10: đánh giá lại toàn bộ pipeline đang chạy</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36</a:t>
            </a:r>
          </a:p>
        </p:txBody>
      </p:sp>
      <p:sp>
        <p:nvSpPr>
          <p:cNvPr id="5" name="Rounded Rectangle 4"/>
          <p:cNvSpPr/>
          <p:nvPr/>
        </p:nvSpPr>
        <p:spPr>
          <a:xfrm>
            <a:off x="548640" y="1280160"/>
            <a:ext cx="2103120" cy="1325880"/>
          </a:xfrm>
          <a:prstGeom prst="roundRect">
            <a:avLst>
              <a:gd name="adj" fmla="val 993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08176"/>
            <a:ext cx="1920239" cy="662940"/>
          </a:xfrm>
          <a:prstGeom prst="rect">
            <a:avLst/>
          </a:prstGeom>
          <a:noFill/>
        </p:spPr>
        <p:txBody>
          <a:bodyPr wrap="square" lIns="0" rIns="0" tIns="0" bIns="0" anchor="t">
            <a:spAutoFit/>
          </a:bodyPr>
          <a:lstStyle/>
          <a:p>
            <a:pPr algn="ctr">
              <a:spcAft>
                <a:spcPts val="400"/>
              </a:spcAft>
            </a:pPr>
            <a:r>
              <a:rPr sz="2000" b="1">
                <a:solidFill>
                  <a:srgbClr val="187F5B"/>
                </a:solidFill>
                <a:latin typeface="Arial"/>
              </a:rPr>
              <a:t>88,8% → 88,5%</a:t>
            </a:r>
          </a:p>
        </p:txBody>
      </p:sp>
      <p:sp>
        <p:nvSpPr>
          <p:cNvPr id="7" name="TextBox 6"/>
          <p:cNvSpPr txBox="1"/>
          <p:nvPr/>
        </p:nvSpPr>
        <p:spPr>
          <a:xfrm>
            <a:off x="685800" y="2009393"/>
            <a:ext cx="1828799" cy="556869"/>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recall 2.037 ảnh test</a:t>
            </a:r>
          </a:p>
          <a:p>
            <a:pPr algn="ctr">
              <a:spcAft>
                <a:spcPts val="400"/>
              </a:spcAft>
            </a:pPr>
            <a:r>
              <a:rPr sz="1300" b="0">
                <a:solidFill>
                  <a:srgbClr val="1F303A"/>
                </a:solidFill>
                <a:latin typeface="Arial"/>
              </a:rPr>
              <a:t>(lọc tắt → bật)</a:t>
            </a:r>
          </a:p>
        </p:txBody>
      </p:sp>
      <p:sp>
        <p:nvSpPr>
          <p:cNvPr id="8" name="Rounded Rectangle 7"/>
          <p:cNvSpPr/>
          <p:nvPr/>
        </p:nvSpPr>
        <p:spPr>
          <a:xfrm>
            <a:off x="2788920" y="1280160"/>
            <a:ext cx="2103120" cy="1325880"/>
          </a:xfrm>
          <a:prstGeom prst="roundRect">
            <a:avLst>
              <a:gd name="adj" fmla="val 993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80360" y="1408176"/>
            <a:ext cx="1920239" cy="662940"/>
          </a:xfrm>
          <a:prstGeom prst="rect">
            <a:avLst/>
          </a:prstGeom>
          <a:noFill/>
        </p:spPr>
        <p:txBody>
          <a:bodyPr wrap="square" lIns="0" rIns="0" tIns="0" bIns="0" anchor="t">
            <a:spAutoFit/>
          </a:bodyPr>
          <a:lstStyle/>
          <a:p>
            <a:pPr algn="ctr">
              <a:spcAft>
                <a:spcPts val="400"/>
              </a:spcAft>
            </a:pPr>
            <a:r>
              <a:rPr sz="2200" b="1">
                <a:solidFill>
                  <a:srgbClr val="187F5B"/>
                </a:solidFill>
                <a:latin typeface="Arial"/>
              </a:rPr>
              <a:t>1.103 → 264</a:t>
            </a:r>
          </a:p>
        </p:txBody>
      </p:sp>
      <p:sp>
        <p:nvSpPr>
          <p:cNvPr id="10" name="TextBox 9"/>
          <p:cNvSpPr txBox="1"/>
          <p:nvPr/>
        </p:nvSpPr>
        <p:spPr>
          <a:xfrm>
            <a:off x="2926079" y="2009393"/>
            <a:ext cx="1828799" cy="556869"/>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box sai trên 400 ảnh</a:t>
            </a:r>
          </a:p>
          <a:p>
            <a:pPr algn="ctr">
              <a:spcAft>
                <a:spcPts val="400"/>
              </a:spcAft>
            </a:pPr>
            <a:r>
              <a:rPr sz="1300" b="0">
                <a:solidFill>
                  <a:srgbClr val="1F303A"/>
                </a:solidFill>
                <a:latin typeface="Arial"/>
              </a:rPr>
              <a:t>không có quả</a:t>
            </a:r>
          </a:p>
        </p:txBody>
      </p:sp>
      <p:sp>
        <p:nvSpPr>
          <p:cNvPr id="11" name="Rounded Rectangle 10"/>
          <p:cNvSpPr/>
          <p:nvPr/>
        </p:nvSpPr>
        <p:spPr>
          <a:xfrm>
            <a:off x="5029200" y="1280160"/>
            <a:ext cx="2103120" cy="1325880"/>
          </a:xfrm>
          <a:prstGeom prst="roundRect">
            <a:avLst>
              <a:gd name="adj" fmla="val 993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1408176"/>
            <a:ext cx="1920239" cy="662940"/>
          </a:xfrm>
          <a:prstGeom prst="rect">
            <a:avLst/>
          </a:prstGeom>
          <a:noFill/>
        </p:spPr>
        <p:txBody>
          <a:bodyPr wrap="square" lIns="0" rIns="0" tIns="0" bIns="0" anchor="t">
            <a:spAutoFit/>
          </a:bodyPr>
          <a:lstStyle/>
          <a:p>
            <a:pPr algn="ctr">
              <a:spcAft>
                <a:spcPts val="400"/>
              </a:spcAft>
            </a:pPr>
            <a:r>
              <a:rPr sz="2200" b="1">
                <a:solidFill>
                  <a:srgbClr val="C48016"/>
                </a:solidFill>
                <a:latin typeface="Arial"/>
              </a:rPr>
              <a:t>54% → 63%</a:t>
            </a:r>
          </a:p>
        </p:txBody>
      </p:sp>
      <p:sp>
        <p:nvSpPr>
          <p:cNvPr id="13" name="TextBox 12"/>
          <p:cNvSpPr txBox="1"/>
          <p:nvPr/>
        </p:nvSpPr>
        <p:spPr>
          <a:xfrm>
            <a:off x="5166360" y="2009393"/>
            <a:ext cx="1828799" cy="556869"/>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recall ảnh tối →</a:t>
            </a:r>
          </a:p>
          <a:p>
            <a:pPr algn="ctr">
              <a:spcAft>
                <a:spcPts val="400"/>
              </a:spcAft>
            </a:pPr>
            <a:r>
              <a:rPr sz="1300" b="0">
                <a:solidFill>
                  <a:srgbClr val="1F303A"/>
                </a:solidFill>
                <a:latin typeface="Arial"/>
              </a:rPr>
              <a:t>có hỗ trợ (thường 86%)</a:t>
            </a:r>
          </a:p>
        </p:txBody>
      </p:sp>
      <p:graphicFrame>
        <p:nvGraphicFramePr>
          <p:cNvPr id="14" name="Chart 13"/>
          <p:cNvGraphicFramePr>
            <a:graphicFrameLocks noGrp="1"/>
          </p:cNvGraphicFramePr>
          <p:nvPr/>
        </p:nvGraphicFramePr>
        <p:xfrm>
          <a:off x="7315200" y="1143000"/>
          <a:ext cx="4389120" cy="3017520"/>
        </p:xfrm>
        <a:graphic>
          <a:graphicData uri="http://schemas.openxmlformats.org/drawingml/2006/chart">
            <c:chart xmlns:c="http://schemas.openxmlformats.org/drawingml/2006/chart" r:id="rId2"/>
          </a:graphicData>
        </a:graphic>
      </p:graphicFrame>
      <p:sp>
        <p:nvSpPr>
          <p:cNvPr id="15" name="TextBox 14"/>
          <p:cNvSpPr txBox="1"/>
          <p:nvPr/>
        </p:nvSpPr>
        <p:spPr>
          <a:xfrm>
            <a:off x="7406640" y="4160520"/>
            <a:ext cx="4206240" cy="274320"/>
          </a:xfrm>
          <a:prstGeom prst="rect">
            <a:avLst/>
          </a:prstGeom>
          <a:noFill/>
        </p:spPr>
        <p:txBody>
          <a:bodyPr wrap="square" lIns="0" rIns="0" tIns="0" bIns="0" anchor="t">
            <a:spAutoFit/>
          </a:bodyPr>
          <a:lstStyle/>
          <a:p>
            <a:pPr algn="l">
              <a:spcAft>
                <a:spcPts val="400"/>
              </a:spcAft>
            </a:pPr>
            <a:r>
              <a:rPr sz="1200" b="0">
                <a:solidFill>
                  <a:srgbClr val="5C6E78"/>
                </a:solidFill>
                <a:latin typeface="Arial"/>
              </a:rPr>
              <a:t>Recall theo nguồn (lọc tắt)</a:t>
            </a:r>
          </a:p>
        </p:txBody>
      </p:sp>
      <p:sp>
        <p:nvSpPr>
          <p:cNvPr id="16" name="Rounded Rectangle 15"/>
          <p:cNvSpPr/>
          <p:nvPr/>
        </p:nvSpPr>
        <p:spPr>
          <a:xfrm>
            <a:off x="548640" y="2834640"/>
            <a:ext cx="6583680" cy="1828800"/>
          </a:xfrm>
          <a:prstGeom prst="roundRect">
            <a:avLst>
              <a:gd name="adj" fmla="val 71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017520"/>
            <a:ext cx="618134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Ảnh không có quả: bộ lọc giúp nhiều</a:t>
            </a:r>
          </a:p>
        </p:txBody>
      </p:sp>
      <p:sp>
        <p:nvSpPr>
          <p:cNvPr id="18" name="TextBox 17"/>
          <p:cNvSpPr txBox="1"/>
          <p:nvPr/>
        </p:nvSpPr>
        <p:spPr>
          <a:xfrm>
            <a:off x="749808" y="3474720"/>
            <a:ext cx="6181344" cy="109727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Số ảnh âm tính còn box sai: 276/400 → 114/400. Vải vẫn khó: 28/40 ảnh còn box sai khi bật lọc.</a:t>
            </a:r>
          </a:p>
        </p:txBody>
      </p:sp>
      <p:sp>
        <p:nvSpPr>
          <p:cNvPr id="19" name="Rounded Rectangle 18"/>
          <p:cNvSpPr/>
          <p:nvPr/>
        </p:nvSpPr>
        <p:spPr>
          <a:xfrm>
            <a:off x="548640" y="4846320"/>
            <a:ext cx="6583680" cy="1325880"/>
          </a:xfrm>
          <a:prstGeom prst="roundRect">
            <a:avLst>
              <a:gd name="adj" fmla="val 9931"/>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029200"/>
            <a:ext cx="618134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Độ chín</a:t>
            </a:r>
          </a:p>
        </p:txBody>
      </p:sp>
      <p:sp>
        <p:nvSpPr>
          <p:cNvPr id="21" name="TextBox 20"/>
          <p:cNvSpPr txBox="1"/>
          <p:nvPr/>
        </p:nvSpPr>
        <p:spPr>
          <a:xfrm>
            <a:off x="749808" y="5486400"/>
            <a:ext cx="6181344" cy="59435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2.493 nhãn chắc chắn so với 5.673 uncertain — khoảng 3/4 uncertain do crop &lt; 64 px.</a:t>
            </a:r>
          </a:p>
        </p:txBody>
      </p:sp>
      <p:sp>
        <p:nvSpPr>
          <p:cNvPr id="22" name="Rounded Rectangle 21"/>
          <p:cNvSpPr/>
          <p:nvPr/>
        </p:nvSpPr>
        <p:spPr>
          <a:xfrm>
            <a:off x="7315200" y="4572000"/>
            <a:ext cx="4325112" cy="1600200"/>
          </a:xfrm>
          <a:prstGeom prst="roundRect">
            <a:avLst>
              <a:gd name="adj" fmla="val 8228"/>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16368" y="4754880"/>
            <a:ext cx="3922776"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Điểm yếu còn lại</a:t>
            </a:r>
          </a:p>
        </p:txBody>
      </p:sp>
      <p:sp>
        <p:nvSpPr>
          <p:cNvPr id="24" name="TextBox 23"/>
          <p:cNvSpPr txBox="1"/>
          <p:nvPr/>
        </p:nvSpPr>
        <p:spPr>
          <a:xfrm>
            <a:off x="7516368" y="5212080"/>
            <a:ext cx="3922776" cy="86867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Xoài dày trên cây 56%, trụ thanh long 53% recall.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PHÂN TÍCH LỖI</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Lỗi phát hiện ngày 08/10: bộ lọc loài xóa nhầm xoài chín</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37</a:t>
            </a:r>
          </a:p>
        </p:txBody>
      </p:sp>
      <p:pic>
        <p:nvPicPr>
          <p:cNvPr id="5" name="Picture 4" descr="filter_spotted_off.jpg"/>
          <p:cNvPicPr>
            <a:picLocks noChangeAspect="1"/>
          </p:cNvPicPr>
          <p:nvPr/>
        </p:nvPicPr>
        <p:blipFill>
          <a:blip r:embed="rId2"/>
          <a:stretch>
            <a:fillRect/>
          </a:stretch>
        </p:blipFill>
        <p:spPr>
          <a:xfrm>
            <a:off x="563046" y="1234440"/>
            <a:ext cx="3628786" cy="2167128"/>
          </a:xfrm>
          <a:prstGeom prst="rect">
            <a:avLst/>
          </a:prstGeom>
        </p:spPr>
      </p:pic>
      <p:sp>
        <p:nvSpPr>
          <p:cNvPr id="6" name="TextBox 5"/>
          <p:cNvSpPr txBox="1"/>
          <p:nvPr/>
        </p:nvSpPr>
        <p:spPr>
          <a:xfrm>
            <a:off x="548640" y="3447287"/>
            <a:ext cx="36576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Lọc tắt: xoài chín 89%</a:t>
            </a:r>
          </a:p>
        </p:txBody>
      </p:sp>
      <p:pic>
        <p:nvPicPr>
          <p:cNvPr id="7" name="Picture 6" descr="filter_spotted_on.jpg"/>
          <p:cNvPicPr>
            <a:picLocks noChangeAspect="1"/>
          </p:cNvPicPr>
          <p:nvPr/>
        </p:nvPicPr>
        <p:blipFill>
          <a:blip r:embed="rId3"/>
          <a:stretch>
            <a:fillRect/>
          </a:stretch>
        </p:blipFill>
        <p:spPr>
          <a:xfrm>
            <a:off x="4357806" y="1234440"/>
            <a:ext cx="3628786" cy="2167128"/>
          </a:xfrm>
          <a:prstGeom prst="rect">
            <a:avLst/>
          </a:prstGeom>
        </p:spPr>
      </p:pic>
      <p:sp>
        <p:nvSpPr>
          <p:cNvPr id="8" name="TextBox 7"/>
          <p:cNvSpPr txBox="1"/>
          <p:nvPr/>
        </p:nvSpPr>
        <p:spPr>
          <a:xfrm>
            <a:off x="4343400" y="3447287"/>
            <a:ext cx="3657600" cy="301752"/>
          </a:xfrm>
          <a:prstGeom prst="rect">
            <a:avLst/>
          </a:prstGeom>
          <a:noFill/>
        </p:spPr>
        <p:txBody>
          <a:bodyPr wrap="square" lIns="0" rIns="0" tIns="0" bIns="0" anchor="t">
            <a:spAutoFit/>
          </a:bodyPr>
          <a:lstStyle/>
          <a:p>
            <a:pPr algn="ctr">
              <a:spcAft>
                <a:spcPts val="400"/>
              </a:spcAft>
            </a:pPr>
            <a:r>
              <a:rPr sz="1200" b="0">
                <a:solidFill>
                  <a:srgbClr val="5C6E78"/>
                </a:solidFill>
                <a:latin typeface="Arial"/>
              </a:rPr>
              <a:t>Lọc bật: mất hết</a:t>
            </a:r>
          </a:p>
        </p:txBody>
      </p:sp>
      <p:sp>
        <p:nvSpPr>
          <p:cNvPr id="9" name="Rounded Rectangle 8"/>
          <p:cNvSpPr/>
          <p:nvPr/>
        </p:nvSpPr>
        <p:spPr>
          <a:xfrm>
            <a:off x="8229600" y="1234440"/>
            <a:ext cx="1645920" cy="1280160"/>
          </a:xfrm>
          <a:prstGeom prst="roundRect">
            <a:avLst>
              <a:gd name="adj" fmla="val 1028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362456"/>
            <a:ext cx="1463040" cy="640080"/>
          </a:xfrm>
          <a:prstGeom prst="rect">
            <a:avLst/>
          </a:prstGeom>
          <a:noFill/>
        </p:spPr>
        <p:txBody>
          <a:bodyPr wrap="square" lIns="0" rIns="0" tIns="0" bIns="0" anchor="t">
            <a:spAutoFit/>
          </a:bodyPr>
          <a:lstStyle/>
          <a:p>
            <a:pPr algn="ctr">
              <a:spcAft>
                <a:spcPts val="400"/>
              </a:spcAft>
            </a:pPr>
            <a:r>
              <a:rPr sz="2600" b="1">
                <a:solidFill>
                  <a:srgbClr val="B34340"/>
                </a:solidFill>
                <a:latin typeface="Arial"/>
              </a:rPr>
              <a:t>24/49</a:t>
            </a:r>
          </a:p>
        </p:txBody>
      </p:sp>
      <p:sp>
        <p:nvSpPr>
          <p:cNvPr id="11" name="TextBox 10"/>
          <p:cNvSpPr txBox="1"/>
          <p:nvPr/>
        </p:nvSpPr>
        <p:spPr>
          <a:xfrm>
            <a:off x="8366760" y="1938528"/>
            <a:ext cx="1371600" cy="537667"/>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xoài chín bị xóa</a:t>
            </a:r>
          </a:p>
        </p:txBody>
      </p:sp>
      <p:sp>
        <p:nvSpPr>
          <p:cNvPr id="12" name="Rounded Rectangle 11"/>
          <p:cNvSpPr/>
          <p:nvPr/>
        </p:nvSpPr>
        <p:spPr>
          <a:xfrm>
            <a:off x="9994392" y="1234440"/>
            <a:ext cx="1645920" cy="1280160"/>
          </a:xfrm>
          <a:prstGeom prst="roundRect">
            <a:avLst>
              <a:gd name="adj" fmla="val 10285"/>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85832" y="1362456"/>
            <a:ext cx="1463040" cy="640080"/>
          </a:xfrm>
          <a:prstGeom prst="rect">
            <a:avLst/>
          </a:prstGeom>
          <a:noFill/>
        </p:spPr>
        <p:txBody>
          <a:bodyPr wrap="square" lIns="0" rIns="0" tIns="0" bIns="0" anchor="t">
            <a:spAutoFit/>
          </a:bodyPr>
          <a:lstStyle/>
          <a:p>
            <a:pPr algn="ctr">
              <a:spcAft>
                <a:spcPts val="400"/>
              </a:spcAft>
            </a:pPr>
            <a:r>
              <a:rPr sz="2600" b="1">
                <a:solidFill>
                  <a:srgbClr val="B34340"/>
                </a:solidFill>
                <a:latin typeface="Arial"/>
              </a:rPr>
              <a:t>8/24</a:t>
            </a:r>
          </a:p>
        </p:txBody>
      </p:sp>
      <p:sp>
        <p:nvSpPr>
          <p:cNvPr id="14" name="TextBox 13"/>
          <p:cNvSpPr txBox="1"/>
          <p:nvPr/>
        </p:nvSpPr>
        <p:spPr>
          <a:xfrm>
            <a:off x="10131552" y="1938528"/>
            <a:ext cx="1371600" cy="537667"/>
          </a:xfrm>
          <a:prstGeom prst="rect">
            <a:avLst/>
          </a:prstGeom>
          <a:noFill/>
        </p:spPr>
        <p:txBody>
          <a:bodyPr wrap="square" lIns="0" rIns="0" tIns="0" bIns="0" anchor="t">
            <a:spAutoFit/>
          </a:bodyPr>
          <a:lstStyle/>
          <a:p>
            <a:pPr algn="ctr">
              <a:spcAft>
                <a:spcPts val="400"/>
              </a:spcAft>
            </a:pPr>
            <a:r>
              <a:rPr sz="1300" b="0">
                <a:solidFill>
                  <a:srgbClr val="1F303A"/>
                </a:solidFill>
                <a:latin typeface="Arial"/>
              </a:rPr>
              <a:t>xoài turning bị xóa</a:t>
            </a:r>
          </a:p>
        </p:txBody>
      </p:sp>
      <p:sp>
        <p:nvSpPr>
          <p:cNvPr id="15" name="Rounded Rectangle 14"/>
          <p:cNvSpPr/>
          <p:nvPr/>
        </p:nvSpPr>
        <p:spPr>
          <a:xfrm>
            <a:off x="8229600" y="2697480"/>
            <a:ext cx="3410712" cy="1691640"/>
          </a:xfrm>
          <a:prstGeom prst="roundRect">
            <a:avLst>
              <a:gd name="adj" fmla="val 7783"/>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0768" y="2880360"/>
            <a:ext cx="3008376"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Vì sao số tổng che lỗi</a:t>
            </a:r>
          </a:p>
        </p:txBody>
      </p:sp>
      <p:sp>
        <p:nvSpPr>
          <p:cNvPr id="17" name="TextBox 16"/>
          <p:cNvSpPr txBox="1"/>
          <p:nvPr/>
        </p:nvSpPr>
        <p:spPr>
          <a:xfrm>
            <a:off x="8430768" y="3337560"/>
            <a:ext cx="3008376" cy="960119"/>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Tập test detector chủ yếu là xoài xanh → recall chỉ giảm 0,3 điểm.</a:t>
            </a:r>
          </a:p>
        </p:txBody>
      </p:sp>
      <p:sp>
        <p:nvSpPr>
          <p:cNvPr id="18" name="Rounded Rectangle 17"/>
          <p:cNvSpPr/>
          <p:nvPr/>
        </p:nvSpPr>
        <p:spPr>
          <a:xfrm>
            <a:off x="548640" y="4023360"/>
            <a:ext cx="3657600" cy="2103120"/>
          </a:xfrm>
          <a:prstGeom prst="roundRect">
            <a:avLst>
              <a:gd name="adj" fmla="val 626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206240"/>
            <a:ext cx="325526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Nguyên nhân</a:t>
            </a:r>
          </a:p>
        </p:txBody>
      </p:sp>
      <p:sp>
        <p:nvSpPr>
          <p:cNvPr id="20" name="TextBox 19"/>
          <p:cNvSpPr txBox="1"/>
          <p:nvPr/>
        </p:nvSpPr>
        <p:spPr>
          <a:xfrm>
            <a:off x="749808" y="4663440"/>
            <a:ext cx="3255264" cy="137159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Bộ lọc học: vỏ vàng cam có đốm = "quả khác" (giống mận chín). Detector vẫn chấm các quả này 0,70–0,87.</a:t>
            </a:r>
          </a:p>
        </p:txBody>
      </p:sp>
      <p:sp>
        <p:nvSpPr>
          <p:cNvPr id="21" name="Rounded Rectangle 20"/>
          <p:cNvSpPr/>
          <p:nvPr/>
        </p:nvSpPr>
        <p:spPr>
          <a:xfrm>
            <a:off x="4343400" y="4023360"/>
            <a:ext cx="3657600" cy="2103120"/>
          </a:xfrm>
          <a:prstGeom prst="roundRect">
            <a:avLst>
              <a:gd name="adj" fmla="val 626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44568" y="4206240"/>
            <a:ext cx="325526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Cách sửa</a:t>
            </a:r>
          </a:p>
        </p:txBody>
      </p:sp>
      <p:sp>
        <p:nvSpPr>
          <p:cNvPr id="23" name="TextBox 22"/>
          <p:cNvSpPr txBox="1"/>
          <p:nvPr/>
        </p:nvSpPr>
        <p:spPr>
          <a:xfrm>
            <a:off x="4544568" y="4663440"/>
            <a:ext cx="3255264" cy="137159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Train lại bộ lọc với crop xoài chín, xoài đốm trong lớp mango; kiểm tra tỉ lệ bị loại theo từng mức chín.</a:t>
            </a:r>
          </a:p>
        </p:txBody>
      </p:sp>
      <p:sp>
        <p:nvSpPr>
          <p:cNvPr id="24" name="Rounded Rectangle 23"/>
          <p:cNvSpPr/>
          <p:nvPr/>
        </p:nvSpPr>
        <p:spPr>
          <a:xfrm>
            <a:off x="8229600" y="4572000"/>
            <a:ext cx="3410712" cy="1554480"/>
          </a:xfrm>
          <a:prstGeom prst="roundRect">
            <a:avLst>
              <a:gd name="adj" fmla="val 847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30768" y="4754880"/>
            <a:ext cx="3008376" cy="365760"/>
          </a:xfrm>
          <a:prstGeom prst="rect">
            <a:avLst/>
          </a:prstGeom>
          <a:noFill/>
        </p:spPr>
        <p:txBody>
          <a:bodyPr wrap="square" lIns="0" rIns="0" tIns="0" bIns="0" anchor="t">
            <a:spAutoFit/>
          </a:bodyPr>
          <a:lstStyle/>
          <a:p>
            <a:pPr algn="l">
              <a:spcAft>
                <a:spcPts val="400"/>
              </a:spcAft>
            </a:pPr>
            <a:r>
              <a:rPr sz="1700" b="1">
                <a:solidFill>
                  <a:srgbClr val="0F2331"/>
                </a:solidFill>
                <a:latin typeface="Arial"/>
              </a:rPr>
              <a:t>Trong lúc chờ</a:t>
            </a:r>
          </a:p>
        </p:txBody>
      </p:sp>
      <p:sp>
        <p:nvSpPr>
          <p:cNvPr id="26" name="TextBox 25"/>
          <p:cNvSpPr txBox="1"/>
          <p:nvPr/>
        </p:nvSpPr>
        <p:spPr>
          <a:xfrm>
            <a:off x="8430768" y="5212080"/>
            <a:ext cx="3008376" cy="822959"/>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Tắt bộ lọc khi demo độ chín (SPECIES_VERIFIER_PATH).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VIDEO</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Đếm quả trong video: cách làm và kết quả thử</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38</a:t>
            </a:r>
          </a:p>
        </p:txBody>
      </p:sp>
      <p:sp>
        <p:nvSpPr>
          <p:cNvPr id="5" name="Rounded Rectangle 4"/>
          <p:cNvSpPr/>
          <p:nvPr/>
        </p:nvSpPr>
        <p:spPr>
          <a:xfrm>
            <a:off x="548640" y="1280160"/>
            <a:ext cx="5440680" cy="3657600"/>
          </a:xfrm>
          <a:prstGeom prst="roundRect">
            <a:avLst>
              <a:gd name="adj" fmla="val 359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503834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Cách làm (backend/video.py)</a:t>
            </a:r>
          </a:p>
        </p:txBody>
      </p:sp>
      <p:sp>
        <p:nvSpPr>
          <p:cNvPr id="7" name="TextBox 6"/>
          <p:cNvSpPr txBox="1"/>
          <p:nvPr/>
        </p:nvSpPr>
        <p:spPr>
          <a:xfrm>
            <a:off x="749808" y="1920239"/>
            <a:ext cx="5038344" cy="2926079"/>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Giới hạn: 50 MB, 30 giây, 1920×1080; tối đa 150 khung được theo dõi</a:t>
            </a:r>
          </a:p>
          <a:p>
            <a:pPr algn="l" marL="203200" indent="-203200">
              <a:spcAft>
                <a:spcPts val="600"/>
              </a:spcAft>
              <a:buChar char="•"/>
            </a:pPr>
            <a:r>
              <a:rPr sz="1600" b="0">
                <a:solidFill>
                  <a:srgbClr val="1F303A"/>
                </a:solidFill>
                <a:latin typeface="Arial"/>
              </a:rPr>
              <a:t>Lấy mẫu ~5 khung/giây; ByteTrack conf = min(ngưỡng, 0,1), IoU 0,7</a:t>
            </a:r>
          </a:p>
          <a:p>
            <a:pPr algn="l" marL="203200" indent="-203200">
              <a:spcAft>
                <a:spcPts val="600"/>
              </a:spcAft>
              <a:buChar char="•"/>
            </a:pPr>
            <a:r>
              <a:rPr sz="1600" b="0">
                <a:solidFill>
                  <a:srgbClr val="1F303A"/>
                </a:solidFill>
                <a:latin typeface="Arial"/>
              </a:rPr>
              <a:t>Mỗi yêu cầu một tracker riêng → ID không lẫn giữa người dùng</a:t>
            </a:r>
          </a:p>
          <a:p>
            <a:pPr algn="l" marL="203200" indent="-203200">
              <a:spcAft>
                <a:spcPts val="600"/>
              </a:spcAft>
              <a:buChar char="•"/>
            </a:pPr>
            <a:r>
              <a:rPr sz="1600" b="0">
                <a:solidFill>
                  <a:srgbClr val="1F303A"/>
                </a:solidFill>
                <a:latin typeface="Arial"/>
              </a:rPr>
              <a:t>Đếm ID xuất hiện ≥ 2 khung và có ≥ 1 box vượt ngưỡng</a:t>
            </a:r>
          </a:p>
          <a:p>
            <a:pPr algn="l" marL="203200" indent="-203200">
              <a:spcAft>
                <a:spcPts val="600"/>
              </a:spcAft>
              <a:buChar char="•"/>
            </a:pPr>
            <a:r>
              <a:rPr sz="1600" b="0">
                <a:solidFill>
                  <a:srgbClr val="1F303A"/>
                </a:solidFill>
                <a:latin typeface="Arial"/>
              </a:rPr>
              <a:t>Bộ lọc loài kiểm tra crop tốt nhất của mỗi ID; không phân độ chín</a:t>
            </a:r>
          </a:p>
        </p:txBody>
      </p:sp>
      <p:graphicFrame>
        <p:nvGraphicFramePr>
          <p:cNvPr id="8" name="Table 7"/>
          <p:cNvGraphicFramePr>
            <a:graphicFrameLocks noGrp="1"/>
          </p:cNvGraphicFramePr>
          <p:nvPr/>
        </p:nvGraphicFramePr>
        <p:xfrm>
          <a:off x="6217920" y="1280160"/>
          <a:ext cx="5422390" cy="1920240"/>
        </p:xfrm>
        <a:graphic>
          <a:graphicData uri="http://schemas.openxmlformats.org/drawingml/2006/table">
            <a:tbl>
              <a:tblPr firstRow="1" bandRow="1">
                <a:tableStyleId>{5C22544A-7EE6-4342-B048-85BDC9FD1C3A}</a:tableStyleId>
              </a:tblPr>
              <a:tblGrid>
                <a:gridCol w="2389528"/>
                <a:gridCol w="1102859"/>
                <a:gridCol w="1010954"/>
                <a:gridCol w="919049"/>
              </a:tblGrid>
              <a:tr h="640080">
                <a:tc>
                  <a:txBody>
                    <a:bodyPr wrap="square"/>
                    <a:lstStyle/>
                    <a:p>
                      <a:r>
                        <a:rPr sz="1300" b="1">
                          <a:solidFill>
                            <a:srgbClr val="FFFFFF"/>
                          </a:solidFill>
                          <a:latin typeface="Arial"/>
                        </a:rPr>
                        <a:t>Video thử (08/10)</a:t>
                      </a:r>
                    </a:p>
                  </a:txBody>
                  <a:tcPr marL="64008" marR="64008" marT="32004" marB="32004" anchor="ctr">
                    <a:solidFill>
                      <a:srgbClr val="0F2331"/>
                    </a:solidFill>
                  </a:tcPr>
                </a:tc>
                <a:tc>
                  <a:txBody>
                    <a:bodyPr wrap="square"/>
                    <a:lstStyle/>
                    <a:p>
                      <a:r>
                        <a:rPr sz="1300" b="1">
                          <a:solidFill>
                            <a:srgbClr val="FFFFFF"/>
                          </a:solidFill>
                          <a:latin typeface="Arial"/>
                        </a:rPr>
                        <a:t>Thời lượng</a:t>
                      </a:r>
                    </a:p>
                  </a:txBody>
                  <a:tcPr marL="64008" marR="64008" marT="32004" marB="32004" anchor="ctr">
                    <a:solidFill>
                      <a:srgbClr val="0F2331"/>
                    </a:solidFill>
                  </a:tcPr>
                </a:tc>
                <a:tc>
                  <a:txBody>
                    <a:bodyPr wrap="square"/>
                    <a:lstStyle/>
                    <a:p>
                      <a:r>
                        <a:rPr sz="1300" b="1">
                          <a:solidFill>
                            <a:srgbClr val="FFFFFF"/>
                          </a:solidFill>
                          <a:latin typeface="Arial"/>
                        </a:rPr>
                        <a:t>Đếm</a:t>
                      </a:r>
                    </a:p>
                  </a:txBody>
                  <a:tcPr marL="64008" marR="64008" marT="32004" marB="32004" anchor="ctr">
                    <a:solidFill>
                      <a:srgbClr val="0F2331"/>
                    </a:solidFill>
                  </a:tcPr>
                </a:tc>
                <a:tc>
                  <a:txBody>
                    <a:bodyPr wrap="square"/>
                    <a:lstStyle/>
                    <a:p>
                      <a:r>
                        <a:rPr sz="1300" b="1">
                          <a:solidFill>
                            <a:srgbClr val="FFFFFF"/>
                          </a:solidFill>
                          <a:latin typeface="Arial"/>
                        </a:rPr>
                        <a:t>Thật</a:t>
                      </a:r>
                    </a:p>
                  </a:txBody>
                  <a:tcPr marL="64008" marR="64008" marT="32004" marB="32004" anchor="ctr">
                    <a:solidFill>
                      <a:srgbClr val="0F2331"/>
                    </a:solidFill>
                  </a:tcPr>
                </a:tc>
              </a:tr>
              <a:tr h="640080">
                <a:tc>
                  <a:txBody>
                    <a:bodyPr wrap="square"/>
                    <a:lstStyle/>
                    <a:p>
                      <a:r>
                        <a:rPr sz="1300" b="1">
                          <a:solidFill>
                            <a:srgbClr val="1F303A"/>
                          </a:solidFill>
                          <a:latin typeface="Arial"/>
                        </a:rPr>
                        <a:t>Vườn thanh long</a:t>
                      </a:r>
                    </a:p>
                  </a:txBody>
                  <a:tcPr marL="64008" marR="64008" marT="32004" marB="32004" anchor="ctr">
                    <a:solidFill>
                      <a:srgbClr val="FFFFFF"/>
                    </a:solidFill>
                  </a:tcPr>
                </a:tc>
                <a:tc>
                  <a:txBody>
                    <a:bodyPr wrap="square"/>
                    <a:lstStyle/>
                    <a:p>
                      <a:r>
                        <a:rPr sz="1300" b="0">
                          <a:solidFill>
                            <a:srgbClr val="1F303A"/>
                          </a:solidFill>
                          <a:latin typeface="Arial"/>
                        </a:rPr>
                        <a:t>20 s / 100 khung</a:t>
                      </a:r>
                    </a:p>
                  </a:txBody>
                  <a:tcPr marL="64008" marR="64008" marT="32004" marB="32004" anchor="ctr">
                    <a:solidFill>
                      <a:srgbClr val="FFFFFF"/>
                    </a:solidFill>
                  </a:tcPr>
                </a:tc>
                <a:tc>
                  <a:txBody>
                    <a:bodyPr wrap="square"/>
                    <a:lstStyle/>
                    <a:p>
                      <a:r>
                        <a:rPr sz="1300" b="0">
                          <a:solidFill>
                            <a:srgbClr val="1F303A"/>
                          </a:solidFill>
                          <a:latin typeface="Arial"/>
                        </a:rPr>
                        <a:t>3</a:t>
                      </a:r>
                    </a:p>
                  </a:txBody>
                  <a:tcPr marL="64008" marR="64008" marT="32004" marB="32004" anchor="ctr">
                    <a:solidFill>
                      <a:srgbClr val="FFFFFF"/>
                    </a:solidFill>
                  </a:tcPr>
                </a:tc>
                <a:tc>
                  <a:txBody>
                    <a:bodyPr wrap="square"/>
                    <a:lstStyle/>
                    <a:p>
                      <a:r>
                        <a:rPr sz="1300" b="0">
                          <a:solidFill>
                            <a:srgbClr val="1F303A"/>
                          </a:solidFill>
                          <a:latin typeface="Arial"/>
                        </a:rPr>
                        <a:t>—</a:t>
                      </a:r>
                    </a:p>
                  </a:txBody>
                  <a:tcPr marL="64008" marR="64008" marT="32004" marB="32004" anchor="ctr">
                    <a:solidFill>
                      <a:srgbClr val="FFFFFF"/>
                    </a:solidFill>
                  </a:tcPr>
                </a:tc>
              </a:tr>
              <a:tr h="640080">
                <a:tc>
                  <a:txBody>
                    <a:bodyPr wrap="square"/>
                    <a:lstStyle/>
                    <a:p>
                      <a:r>
                        <a:rPr sz="1300" b="1">
                          <a:solidFill>
                            <a:srgbClr val="1F303A"/>
                          </a:solidFill>
                          <a:latin typeface="Arial"/>
                        </a:rPr>
                        <a:t>Lia máy cây xoài (giả lập)</a:t>
                      </a:r>
                    </a:p>
                  </a:txBody>
                  <a:tcPr marL="64008" marR="64008" marT="32004" marB="32004" anchor="ctr">
                    <a:solidFill>
                      <a:srgbClr val="F8FBFA"/>
                    </a:solidFill>
                  </a:tcPr>
                </a:tc>
                <a:tc>
                  <a:txBody>
                    <a:bodyPr wrap="square"/>
                    <a:lstStyle/>
                    <a:p>
                      <a:r>
                        <a:rPr sz="1300" b="0">
                          <a:solidFill>
                            <a:srgbClr val="1F303A"/>
                          </a:solidFill>
                          <a:latin typeface="Arial"/>
                        </a:rPr>
                        <a:t>12 s / 60 khung</a:t>
                      </a:r>
                    </a:p>
                  </a:txBody>
                  <a:tcPr marL="64008" marR="64008" marT="32004" marB="32004" anchor="ctr">
                    <a:solidFill>
                      <a:srgbClr val="F8FBFA"/>
                    </a:solidFill>
                  </a:tcPr>
                </a:tc>
                <a:tc>
                  <a:txBody>
                    <a:bodyPr wrap="square"/>
                    <a:lstStyle/>
                    <a:p>
                      <a:r>
                        <a:rPr sz="1300" b="0">
                          <a:solidFill>
                            <a:srgbClr val="1F303A"/>
                          </a:solidFill>
                          <a:latin typeface="Arial"/>
                        </a:rPr>
                        <a:t>12</a:t>
                      </a:r>
                    </a:p>
                  </a:txBody>
                  <a:tcPr marL="64008" marR="64008" marT="32004" marB="32004" anchor="ctr">
                    <a:solidFill>
                      <a:srgbClr val="F8FBFA"/>
                    </a:solidFill>
                  </a:tcPr>
                </a:tc>
                <a:tc>
                  <a:txBody>
                    <a:bodyPr wrap="square"/>
                    <a:lstStyle/>
                    <a:p>
                      <a:r>
                        <a:rPr sz="1300" b="0">
                          <a:solidFill>
                            <a:srgbClr val="1F303A"/>
                          </a:solidFill>
                          <a:latin typeface="Arial"/>
                        </a:rPr>
                        <a:t>8</a:t>
                      </a:r>
                    </a:p>
                  </a:txBody>
                  <a:tcPr marL="64008" marR="64008" marT="32004" marB="32004" anchor="ctr">
                    <a:solidFill>
                      <a:srgbClr val="F8FBFA"/>
                    </a:solidFill>
                  </a:tcPr>
                </a:tc>
              </a:tr>
            </a:tbl>
          </a:graphicData>
        </a:graphic>
      </p:graphicFrame>
      <p:sp>
        <p:nvSpPr>
          <p:cNvPr id="9" name="Rounded Rectangle 8"/>
          <p:cNvSpPr/>
          <p:nvPr/>
        </p:nvSpPr>
        <p:spPr>
          <a:xfrm>
            <a:off x="6217920" y="3429000"/>
            <a:ext cx="5422392" cy="1508760"/>
          </a:xfrm>
          <a:prstGeom prst="roundRect">
            <a:avLst>
              <a:gd name="adj" fmla="val 8727"/>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3611880"/>
            <a:ext cx="5020055"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Vì sao đếm thừa</a:t>
            </a:r>
          </a:p>
        </p:txBody>
      </p:sp>
      <p:sp>
        <p:nvSpPr>
          <p:cNvPr id="11" name="TextBox 10"/>
          <p:cNvSpPr txBox="1"/>
          <p:nvPr/>
        </p:nvSpPr>
        <p:spPr>
          <a:xfrm>
            <a:off x="6419088" y="4069080"/>
            <a:ext cx="5020055" cy="777239"/>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Một chiếc lá bị nhận là xoài; quả bị che rồi xuất hiện lại được gán ID mới.</a:t>
            </a:r>
          </a:p>
        </p:txBody>
      </p:sp>
      <p:sp>
        <p:nvSpPr>
          <p:cNvPr id="12" name="Rounded Rectangle 11"/>
          <p:cNvSpPr/>
          <p:nvPr/>
        </p:nvSpPr>
        <p:spPr>
          <a:xfrm>
            <a:off x="548640" y="5166360"/>
            <a:ext cx="11091672" cy="548640"/>
          </a:xfrm>
          <a:prstGeom prst="roundRect">
            <a:avLst>
              <a:gd name="adj" fmla="val 12000"/>
            </a:avLst>
          </a:prstGeom>
          <a:solidFill>
            <a:srgbClr val="FAE4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257800"/>
            <a:ext cx="10634472" cy="365759"/>
          </a:xfrm>
          <a:prstGeom prst="rect">
            <a:avLst/>
          </a:prstGeom>
          <a:noFill/>
        </p:spPr>
        <p:txBody>
          <a:bodyPr wrap="square" lIns="0" rIns="0" tIns="0" bIns="0" anchor="ctr">
            <a:spAutoFit/>
          </a:bodyPr>
          <a:lstStyle/>
          <a:p>
            <a:pPr algn="l">
              <a:spcAft>
                <a:spcPts val="400"/>
              </a:spcAft>
            </a:pPr>
            <a:r>
              <a:rPr sz="1400" b="0">
                <a:solidFill>
                  <a:srgbClr val="B34340"/>
                </a:solidFill>
                <a:latin typeface="Arial"/>
              </a:rPr>
              <a:t>Kết quả video là ước lượng: chưa có video vườn thật có số quả chuẩn để đo sai số</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2148840"/>
            <a:ext cx="10058400" cy="365760"/>
          </a:xfrm>
          <a:prstGeom prst="rect">
            <a:avLst/>
          </a:prstGeom>
          <a:noFill/>
        </p:spPr>
        <p:txBody>
          <a:bodyPr wrap="square" lIns="0" rIns="0" tIns="0" bIns="0" anchor="t">
            <a:spAutoFit/>
          </a:bodyPr>
          <a:lstStyle/>
          <a:p>
            <a:pPr algn="l">
              <a:spcAft>
                <a:spcPts val="400"/>
              </a:spcAft>
            </a:pPr>
            <a:r>
              <a:rPr sz="1600" b="1">
                <a:solidFill>
                  <a:srgbClr val="187F5B"/>
                </a:solidFill>
                <a:latin typeface="Arial"/>
              </a:rPr>
              <a:t>PHẦN 6</a:t>
            </a:r>
          </a:p>
        </p:txBody>
      </p:sp>
      <p:sp>
        <p:nvSpPr>
          <p:cNvPr id="3" name="TextBox 2"/>
          <p:cNvSpPr txBox="1"/>
          <p:nvPr/>
        </p:nvSpPr>
        <p:spPr>
          <a:xfrm>
            <a:off x="822960" y="2606040"/>
            <a:ext cx="10515600" cy="914400"/>
          </a:xfrm>
          <a:prstGeom prst="rect">
            <a:avLst/>
          </a:prstGeom>
          <a:noFill/>
        </p:spPr>
        <p:txBody>
          <a:bodyPr wrap="square" lIns="0" rIns="0" tIns="0" bIns="0" anchor="t">
            <a:spAutoFit/>
          </a:bodyPr>
          <a:lstStyle/>
          <a:p>
            <a:pPr algn="l">
              <a:spcAft>
                <a:spcPts val="400"/>
              </a:spcAft>
            </a:pPr>
            <a:r>
              <a:rPr sz="3800" b="1">
                <a:solidFill>
                  <a:srgbClr val="0F2331"/>
                </a:solidFill>
                <a:latin typeface="Arial"/>
              </a:rPr>
              <a:t>Kết luận &amp; demo</a:t>
            </a:r>
          </a:p>
        </p:txBody>
      </p:sp>
      <p:sp>
        <p:nvSpPr>
          <p:cNvPr id="4" name="TextBox 3"/>
          <p:cNvSpPr txBox="1"/>
          <p:nvPr/>
        </p:nvSpPr>
        <p:spPr>
          <a:xfrm>
            <a:off x="822960" y="3611880"/>
            <a:ext cx="10515600" cy="1097280"/>
          </a:xfrm>
          <a:prstGeom prst="rect">
            <a:avLst/>
          </a:prstGeom>
          <a:noFill/>
        </p:spPr>
        <p:txBody>
          <a:bodyPr wrap="square" lIns="0" rIns="0" tIns="0" bIns="0" anchor="t">
            <a:spAutoFit/>
          </a:bodyPr>
          <a:lstStyle/>
          <a:p>
            <a:pPr algn="l">
              <a:spcAft>
                <a:spcPts val="400"/>
              </a:spcAft>
            </a:pPr>
            <a:r>
              <a:rPr sz="1800" b="0">
                <a:solidFill>
                  <a:srgbClr val="5C6E78"/>
                </a:solidFill>
                <a:latin typeface="Arial"/>
              </a:rPr>
              <a:t>Bài học, hạn chế, bước tiếp theo và kịch bản demo trực tiếp</a:t>
            </a:r>
          </a:p>
        </p:txBody>
      </p:sp>
      <p:sp>
        <p:nvSpPr>
          <p:cNvPr id="5" name="TextBox 4"/>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BÀI HỌC</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Năm bài học từ 8 vòng huấn luyện</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40</a:t>
            </a:r>
          </a:p>
        </p:txBody>
      </p:sp>
      <p:sp>
        <p:nvSpPr>
          <p:cNvPr id="5" name="Rounded Rectangle 4"/>
          <p:cNvSpPr/>
          <p:nvPr/>
        </p:nvSpPr>
        <p:spPr>
          <a:xfrm>
            <a:off x="548640" y="1261872"/>
            <a:ext cx="11091672" cy="8686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548640" cy="640080"/>
          </a:xfrm>
          <a:prstGeom prst="rect">
            <a:avLst/>
          </a:prstGeom>
          <a:noFill/>
        </p:spPr>
        <p:txBody>
          <a:bodyPr wrap="square" lIns="0" rIns="0" tIns="0" bIns="0" anchor="ctr">
            <a:spAutoFit/>
          </a:bodyPr>
          <a:lstStyle/>
          <a:p>
            <a:pPr algn="l">
              <a:spcAft>
                <a:spcPts val="400"/>
              </a:spcAft>
            </a:pPr>
            <a:r>
              <a:rPr sz="3000" b="1">
                <a:solidFill>
                  <a:srgbClr val="187F5B"/>
                </a:solidFill>
                <a:latin typeface="Arial"/>
              </a:rPr>
              <a:t>1</a:t>
            </a:r>
          </a:p>
        </p:txBody>
      </p:sp>
      <p:sp>
        <p:nvSpPr>
          <p:cNvPr id="7" name="TextBox 6"/>
          <p:cNvSpPr txBox="1"/>
          <p:nvPr/>
        </p:nvSpPr>
        <p:spPr>
          <a:xfrm>
            <a:off x="1371600" y="1353312"/>
            <a:ext cx="3291840" cy="685800"/>
          </a:xfrm>
          <a:prstGeom prst="rect">
            <a:avLst/>
          </a:prstGeom>
          <a:noFill/>
        </p:spPr>
        <p:txBody>
          <a:bodyPr wrap="square" lIns="0" rIns="0" tIns="0" bIns="0" anchor="ctr">
            <a:spAutoFit/>
          </a:bodyPr>
          <a:lstStyle/>
          <a:p>
            <a:pPr algn="l">
              <a:spcAft>
                <a:spcPts val="400"/>
              </a:spcAft>
            </a:pPr>
            <a:r>
              <a:rPr sz="1600" b="1">
                <a:solidFill>
                  <a:srgbClr val="0F2331"/>
                </a:solidFill>
                <a:latin typeface="Arial"/>
              </a:rPr>
              <a:t>Sửa dữ liệu trước khi train lại</a:t>
            </a:r>
          </a:p>
        </p:txBody>
      </p:sp>
      <p:sp>
        <p:nvSpPr>
          <p:cNvPr id="8" name="TextBox 7"/>
          <p:cNvSpPr txBox="1"/>
          <p:nvPr/>
        </p:nvSpPr>
        <p:spPr>
          <a:xfrm>
            <a:off x="4754880" y="1335024"/>
            <a:ext cx="6720840" cy="731520"/>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3 vòng thất bại vì dữ liệu: polygon đọc thành box, nhãn theo tuổi quả, thiếu ảnh cả cây. Thêm epoch không sửa được.</a:t>
            </a:r>
          </a:p>
        </p:txBody>
      </p:sp>
      <p:sp>
        <p:nvSpPr>
          <p:cNvPr id="9" name="Rounded Rectangle 8"/>
          <p:cNvSpPr/>
          <p:nvPr/>
        </p:nvSpPr>
        <p:spPr>
          <a:xfrm>
            <a:off x="548640" y="2249424"/>
            <a:ext cx="11091672" cy="8686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59152"/>
            <a:ext cx="548640" cy="640080"/>
          </a:xfrm>
          <a:prstGeom prst="rect">
            <a:avLst/>
          </a:prstGeom>
          <a:noFill/>
        </p:spPr>
        <p:txBody>
          <a:bodyPr wrap="square" lIns="0" rIns="0" tIns="0" bIns="0" anchor="ctr">
            <a:spAutoFit/>
          </a:bodyPr>
          <a:lstStyle/>
          <a:p>
            <a:pPr algn="l">
              <a:spcAft>
                <a:spcPts val="400"/>
              </a:spcAft>
            </a:pPr>
            <a:r>
              <a:rPr sz="3000" b="1">
                <a:solidFill>
                  <a:srgbClr val="C48016"/>
                </a:solidFill>
                <a:latin typeface="Arial"/>
              </a:rPr>
              <a:t>2</a:t>
            </a:r>
          </a:p>
        </p:txBody>
      </p:sp>
      <p:sp>
        <p:nvSpPr>
          <p:cNvPr id="11" name="TextBox 10"/>
          <p:cNvSpPr txBox="1"/>
          <p:nvPr/>
        </p:nvSpPr>
        <p:spPr>
          <a:xfrm>
            <a:off x="1371600" y="2340864"/>
            <a:ext cx="3291840" cy="685800"/>
          </a:xfrm>
          <a:prstGeom prst="rect">
            <a:avLst/>
          </a:prstGeom>
          <a:noFill/>
        </p:spPr>
        <p:txBody>
          <a:bodyPr wrap="square" lIns="0" rIns="0" tIns="0" bIns="0" anchor="ctr">
            <a:spAutoFit/>
          </a:bodyPr>
          <a:lstStyle/>
          <a:p>
            <a:pPr algn="l">
              <a:spcAft>
                <a:spcPts val="400"/>
              </a:spcAft>
            </a:pPr>
            <a:r>
              <a:rPr sz="1600" b="1">
                <a:solidFill>
                  <a:srgbClr val="0F2331"/>
                </a:solidFill>
                <a:latin typeface="Arial"/>
              </a:rPr>
              <a:t>Test trên ảnh sẽ dùng thật</a:t>
            </a:r>
          </a:p>
        </p:txBody>
      </p:sp>
      <p:sp>
        <p:nvSpPr>
          <p:cNvPr id="12" name="TextBox 11"/>
          <p:cNvSpPr txBox="1"/>
          <p:nvPr/>
        </p:nvSpPr>
        <p:spPr>
          <a:xfrm>
            <a:off x="4754880" y="2322576"/>
            <a:ext cx="6720840" cy="731520"/>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91% và 98,5% che giấu thất bại trên ảnh cả cây vì test giống train.</a:t>
            </a:r>
          </a:p>
        </p:txBody>
      </p:sp>
      <p:sp>
        <p:nvSpPr>
          <p:cNvPr id="13" name="Rounded Rectangle 12"/>
          <p:cNvSpPr/>
          <p:nvPr/>
        </p:nvSpPr>
        <p:spPr>
          <a:xfrm>
            <a:off x="548640" y="3236976"/>
            <a:ext cx="11091672" cy="8686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346704"/>
            <a:ext cx="548640" cy="640080"/>
          </a:xfrm>
          <a:prstGeom prst="rect">
            <a:avLst/>
          </a:prstGeom>
          <a:noFill/>
        </p:spPr>
        <p:txBody>
          <a:bodyPr wrap="square" lIns="0" rIns="0" tIns="0" bIns="0" anchor="ctr">
            <a:spAutoFit/>
          </a:bodyPr>
          <a:lstStyle/>
          <a:p>
            <a:pPr algn="l">
              <a:spcAft>
                <a:spcPts val="400"/>
              </a:spcAft>
            </a:pPr>
            <a:r>
              <a:rPr sz="3000" b="1">
                <a:solidFill>
                  <a:srgbClr val="187F5B"/>
                </a:solidFill>
                <a:latin typeface="Arial"/>
              </a:rPr>
              <a:t>3</a:t>
            </a:r>
          </a:p>
        </p:txBody>
      </p:sp>
      <p:sp>
        <p:nvSpPr>
          <p:cNvPr id="15" name="TextBox 14"/>
          <p:cNvSpPr txBox="1"/>
          <p:nvPr/>
        </p:nvSpPr>
        <p:spPr>
          <a:xfrm>
            <a:off x="1371600" y="3328416"/>
            <a:ext cx="3291840" cy="685800"/>
          </a:xfrm>
          <a:prstGeom prst="rect">
            <a:avLst/>
          </a:prstGeom>
          <a:noFill/>
        </p:spPr>
        <p:txBody>
          <a:bodyPr wrap="square" lIns="0" rIns="0" tIns="0" bIns="0" anchor="ctr">
            <a:spAutoFit/>
          </a:bodyPr>
          <a:lstStyle/>
          <a:p>
            <a:pPr algn="l">
              <a:spcAft>
                <a:spcPts val="400"/>
              </a:spcAft>
            </a:pPr>
            <a:r>
              <a:rPr sz="1600" b="1">
                <a:solidFill>
                  <a:srgbClr val="0F2331"/>
                </a:solidFill>
                <a:latin typeface="Arial"/>
              </a:rPr>
              <a:t>Confidence thô không phải xác suất</a:t>
            </a:r>
          </a:p>
        </p:txBody>
      </p:sp>
      <p:sp>
        <p:nvSpPr>
          <p:cNvPr id="16" name="TextBox 15"/>
          <p:cNvSpPr txBox="1"/>
          <p:nvPr/>
        </p:nvSpPr>
        <p:spPr>
          <a:xfrm>
            <a:off x="4754880" y="3310128"/>
            <a:ext cx="6720840" cy="731520"/>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Hiệu chỉnh + nhãn uncertain cho câu trả lời trung thực; cắt 80–90% trên điểm YOLO thô mất gần hết box.</a:t>
            </a:r>
          </a:p>
        </p:txBody>
      </p:sp>
      <p:sp>
        <p:nvSpPr>
          <p:cNvPr id="17" name="Rounded Rectangle 16"/>
          <p:cNvSpPr/>
          <p:nvPr/>
        </p:nvSpPr>
        <p:spPr>
          <a:xfrm>
            <a:off x="548640" y="4224528"/>
            <a:ext cx="11091672" cy="8686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334256"/>
            <a:ext cx="548640" cy="640080"/>
          </a:xfrm>
          <a:prstGeom prst="rect">
            <a:avLst/>
          </a:prstGeom>
          <a:noFill/>
        </p:spPr>
        <p:txBody>
          <a:bodyPr wrap="square" lIns="0" rIns="0" tIns="0" bIns="0" anchor="ctr">
            <a:spAutoFit/>
          </a:bodyPr>
          <a:lstStyle/>
          <a:p>
            <a:pPr algn="l">
              <a:spcAft>
                <a:spcPts val="400"/>
              </a:spcAft>
            </a:pPr>
            <a:r>
              <a:rPr sz="3000" b="1">
                <a:solidFill>
                  <a:srgbClr val="C48016"/>
                </a:solidFill>
                <a:latin typeface="Arial"/>
              </a:rPr>
              <a:t>4</a:t>
            </a:r>
          </a:p>
        </p:txBody>
      </p:sp>
      <p:sp>
        <p:nvSpPr>
          <p:cNvPr id="19" name="TextBox 18"/>
          <p:cNvSpPr txBox="1"/>
          <p:nvPr/>
        </p:nvSpPr>
        <p:spPr>
          <a:xfrm>
            <a:off x="1371600" y="4315968"/>
            <a:ext cx="3291840" cy="685800"/>
          </a:xfrm>
          <a:prstGeom prst="rect">
            <a:avLst/>
          </a:prstGeom>
          <a:noFill/>
        </p:spPr>
        <p:txBody>
          <a:bodyPr wrap="square" lIns="0" rIns="0" tIns="0" bIns="0" anchor="ctr">
            <a:spAutoFit/>
          </a:bodyPr>
          <a:lstStyle/>
          <a:p>
            <a:pPr algn="l">
              <a:spcAft>
                <a:spcPts val="400"/>
              </a:spcAft>
            </a:pPr>
            <a:r>
              <a:rPr sz="1600" b="1">
                <a:solidFill>
                  <a:srgbClr val="0F2331"/>
                </a:solidFill>
                <a:latin typeface="Arial"/>
              </a:rPr>
              <a:t>Nhãn phải nhìn thấy được</a:t>
            </a:r>
          </a:p>
        </p:txBody>
      </p:sp>
      <p:sp>
        <p:nvSpPr>
          <p:cNvPr id="20" name="TextBox 19"/>
          <p:cNvSpPr txBox="1"/>
          <p:nvPr/>
        </p:nvSpPr>
        <p:spPr>
          <a:xfrm>
            <a:off x="4754880" y="4297680"/>
            <a:ext cx="6720840" cy="731520"/>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Giai đoạn theo số ngày sau đậu quả không học được từ ảnh (63,9% → 90,2% khi đổi nhãn).</a:t>
            </a:r>
          </a:p>
        </p:txBody>
      </p:sp>
      <p:sp>
        <p:nvSpPr>
          <p:cNvPr id="21" name="Rounded Rectangle 20"/>
          <p:cNvSpPr/>
          <p:nvPr/>
        </p:nvSpPr>
        <p:spPr>
          <a:xfrm>
            <a:off x="548640" y="5212080"/>
            <a:ext cx="11091672" cy="868680"/>
          </a:xfrm>
          <a:prstGeom prst="roundRect">
            <a:avLst>
              <a:gd name="adj" fmla="val 1200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321808"/>
            <a:ext cx="548640" cy="640080"/>
          </a:xfrm>
          <a:prstGeom prst="rect">
            <a:avLst/>
          </a:prstGeom>
          <a:noFill/>
        </p:spPr>
        <p:txBody>
          <a:bodyPr wrap="square" lIns="0" rIns="0" tIns="0" bIns="0" anchor="ctr">
            <a:spAutoFit/>
          </a:bodyPr>
          <a:lstStyle/>
          <a:p>
            <a:pPr algn="l">
              <a:spcAft>
                <a:spcPts val="400"/>
              </a:spcAft>
            </a:pPr>
            <a:r>
              <a:rPr sz="3000" b="1">
                <a:solidFill>
                  <a:srgbClr val="187F5B"/>
                </a:solidFill>
                <a:latin typeface="Arial"/>
              </a:rPr>
              <a:t>5</a:t>
            </a:r>
          </a:p>
        </p:txBody>
      </p:sp>
      <p:sp>
        <p:nvSpPr>
          <p:cNvPr id="23" name="TextBox 22"/>
          <p:cNvSpPr txBox="1"/>
          <p:nvPr/>
        </p:nvSpPr>
        <p:spPr>
          <a:xfrm>
            <a:off x="1371600" y="5303520"/>
            <a:ext cx="3291840" cy="685800"/>
          </a:xfrm>
          <a:prstGeom prst="rect">
            <a:avLst/>
          </a:prstGeom>
          <a:noFill/>
        </p:spPr>
        <p:txBody>
          <a:bodyPr wrap="square" lIns="0" rIns="0" tIns="0" bIns="0" anchor="ctr">
            <a:spAutoFit/>
          </a:bodyPr>
          <a:lstStyle/>
          <a:p>
            <a:pPr algn="l">
              <a:spcAft>
                <a:spcPts val="400"/>
              </a:spcAft>
            </a:pPr>
            <a:r>
              <a:rPr sz="1600" b="1">
                <a:solidFill>
                  <a:srgbClr val="0F2331"/>
                </a:solidFill>
                <a:latin typeface="Arial"/>
              </a:rPr>
              <a:t>Bảo vệ và kiểm tra checkpoint</a:t>
            </a:r>
          </a:p>
        </p:txBody>
      </p:sp>
      <p:sp>
        <p:nvSpPr>
          <p:cNvPr id="24" name="TextBox 23"/>
          <p:cNvSpPr txBox="1"/>
          <p:nvPr/>
        </p:nvSpPr>
        <p:spPr>
          <a:xfrm>
            <a:off x="4754880" y="5285232"/>
            <a:ext cx="6720840" cy="731520"/>
          </a:xfrm>
          <a:prstGeom prst="rect">
            <a:avLst/>
          </a:prstGeom>
          <a:noFill/>
        </p:spPr>
        <p:txBody>
          <a:bodyPr wrap="square" lIns="0" rIns="0" tIns="0" bIns="0" anchor="ctr">
            <a:spAutoFit/>
          </a:bodyPr>
          <a:lstStyle/>
          <a:p>
            <a:pPr algn="l">
              <a:spcAft>
                <a:spcPts val="400"/>
              </a:spcAft>
            </a:pPr>
            <a:r>
              <a:rPr sz="1400" b="0">
                <a:solidFill>
                  <a:srgbClr val="1F303A"/>
                </a:solidFill>
                <a:latin typeface="Arial"/>
              </a:rPr>
              <a:t>Tên run mới, lưu ngoài máy, resume, FP32, so dự đoán sau khi tải lại; xem kết quả theo từng nhóm, không chỉ số tổng.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HƯỚNG PHÁT TRIỂN</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Hạn chế hiện tại và bước tiếp theo</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41</a:t>
            </a:r>
          </a:p>
        </p:txBody>
      </p:sp>
      <p:sp>
        <p:nvSpPr>
          <p:cNvPr id="5" name="Rounded Rectangle 4"/>
          <p:cNvSpPr/>
          <p:nvPr/>
        </p:nvSpPr>
        <p:spPr>
          <a:xfrm>
            <a:off x="548640" y="1280160"/>
            <a:ext cx="5440680" cy="4526280"/>
          </a:xfrm>
          <a:prstGeom prst="roundRect">
            <a:avLst>
              <a:gd name="adj" fmla="val 290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503834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Hạn chế đo được</a:t>
            </a:r>
          </a:p>
        </p:txBody>
      </p:sp>
      <p:sp>
        <p:nvSpPr>
          <p:cNvPr id="7" name="TextBox 6"/>
          <p:cNvSpPr txBox="1"/>
          <p:nvPr/>
        </p:nvSpPr>
        <p:spPr>
          <a:xfrm>
            <a:off x="749808" y="1920239"/>
            <a:ext cx="5038344" cy="379476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Bộ lọc loài xóa 24/49 xoài chín</a:t>
            </a:r>
          </a:p>
          <a:p>
            <a:pPr algn="l" marL="203200" indent="-203200">
              <a:spcAft>
                <a:spcPts val="600"/>
              </a:spcAft>
              <a:buChar char="•"/>
            </a:pPr>
            <a:r>
              <a:rPr sz="1600" b="0">
                <a:solidFill>
                  <a:srgbClr val="1F303A"/>
                </a:solidFill>
                <a:latin typeface="Arial"/>
              </a:rPr>
              <a:t>Xoài dày trên cây: recall ~50–56%</a:t>
            </a:r>
          </a:p>
          <a:p>
            <a:pPr algn="l" marL="203200" indent="-203200">
              <a:spcAft>
                <a:spcPts val="600"/>
              </a:spcAft>
              <a:buChar char="•"/>
            </a:pPr>
            <a:r>
              <a:rPr sz="1600" b="0">
                <a:solidFill>
                  <a:srgbClr val="1F303A"/>
                </a:solidFill>
                <a:latin typeface="Arial"/>
              </a:rPr>
              <a:t>Trụ thanh long dày quả: ~53%</a:t>
            </a:r>
          </a:p>
          <a:p>
            <a:pPr algn="l" marL="203200" indent="-203200">
              <a:spcAft>
                <a:spcPts val="600"/>
              </a:spcAft>
              <a:buChar char="•"/>
            </a:pPr>
            <a:r>
              <a:rPr sz="1600" b="0">
                <a:solidFill>
                  <a:srgbClr val="1F303A"/>
                </a:solidFill>
                <a:latin typeface="Arial"/>
              </a:rPr>
              <a:t>Vải/litchi vẫn bị nhận nhầm</a:t>
            </a:r>
          </a:p>
          <a:p>
            <a:pPr algn="l" marL="203200" indent="-203200">
              <a:spcAft>
                <a:spcPts val="600"/>
              </a:spcAft>
              <a:buChar char="•"/>
            </a:pPr>
            <a:r>
              <a:rPr sz="1600" b="0">
                <a:solidFill>
                  <a:srgbClr val="1F303A"/>
                </a:solidFill>
                <a:latin typeface="Arial"/>
              </a:rPr>
              <a:t>Ảnh tối: 54% (63% có hỗ trợ)</a:t>
            </a:r>
          </a:p>
          <a:p>
            <a:pPr algn="l" marL="203200" indent="-203200">
              <a:spcAft>
                <a:spcPts val="600"/>
              </a:spcAft>
              <a:buChar char="•"/>
            </a:pPr>
            <a:r>
              <a:rPr sz="1600" b="0">
                <a:solidFill>
                  <a:srgbClr val="1F303A"/>
                </a:solidFill>
                <a:latin typeface="Arial"/>
              </a:rPr>
              <a:t>Thanh long 100% chưa kiểm chứng ngoài tập tuyển chọn</a:t>
            </a:r>
          </a:p>
          <a:p>
            <a:pPr algn="l" marL="203200" indent="-203200">
              <a:spcAft>
                <a:spcPts val="600"/>
              </a:spcAft>
              <a:buChar char="•"/>
            </a:pPr>
            <a:r>
              <a:rPr sz="1600" b="0">
                <a:solidFill>
                  <a:srgbClr val="1F303A"/>
                </a:solidFill>
                <a:latin typeface="Arial"/>
              </a:rPr>
              <a:t>MangoFruitBD giấy phép phi thương mại</a:t>
            </a:r>
          </a:p>
          <a:p>
            <a:pPr algn="l" marL="203200" indent="-203200">
              <a:spcAft>
                <a:spcPts val="600"/>
              </a:spcAft>
              <a:buChar char="•"/>
            </a:pPr>
            <a:r>
              <a:rPr sz="1600" b="0">
                <a:solidFill>
                  <a:srgbClr val="1F303A"/>
                </a:solidFill>
                <a:latin typeface="Arial"/>
              </a:rPr>
              <a:t>Chưa có ảnh/video có nhãn từ vườn mục tiêu</a:t>
            </a:r>
          </a:p>
        </p:txBody>
      </p:sp>
      <p:sp>
        <p:nvSpPr>
          <p:cNvPr id="8" name="Rounded Rectangle 7"/>
          <p:cNvSpPr/>
          <p:nvPr/>
        </p:nvSpPr>
        <p:spPr>
          <a:xfrm>
            <a:off x="6199632" y="1280160"/>
            <a:ext cx="5440680" cy="4526280"/>
          </a:xfrm>
          <a:prstGeom prst="roundRect">
            <a:avLst>
              <a:gd name="adj" fmla="val 290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39"/>
            <a:ext cx="503834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Bước tiếp theo (theo chi phí)</a:t>
            </a:r>
          </a:p>
        </p:txBody>
      </p:sp>
      <p:sp>
        <p:nvSpPr>
          <p:cNvPr id="10" name="TextBox 9"/>
          <p:cNvSpPr txBox="1"/>
          <p:nvPr/>
        </p:nvSpPr>
        <p:spPr>
          <a:xfrm>
            <a:off x="6400800" y="1920239"/>
            <a:ext cx="5038344" cy="3794760"/>
          </a:xfrm>
          <a:prstGeom prst="rect">
            <a:avLst/>
          </a:prstGeom>
          <a:noFill/>
        </p:spPr>
        <p:txBody>
          <a:bodyPr wrap="square" lIns="0" rIns="0" tIns="0" bIns="0" anchor="t">
            <a:spAutoFit/>
          </a:bodyPr>
          <a:lstStyle/>
          <a:p>
            <a:pPr algn="l" marL="203200" indent="-203200">
              <a:spcAft>
                <a:spcPts val="600"/>
              </a:spcAft>
              <a:buChar char="•"/>
            </a:pPr>
            <a:r>
              <a:rPr sz="1600" b="0">
                <a:solidFill>
                  <a:srgbClr val="1F303A"/>
                </a:solidFill>
                <a:latin typeface="Arial"/>
              </a:rPr>
              <a:t>Train lại bộ lọc loài với xoài chín/đốm, kiểm tra theo mức chín</a:t>
            </a:r>
          </a:p>
          <a:p>
            <a:pPr algn="l" marL="203200" indent="-203200">
              <a:spcAft>
                <a:spcPts val="600"/>
              </a:spcAft>
              <a:buChar char="•"/>
            </a:pPr>
            <a:r>
              <a:rPr sz="1600" b="0">
                <a:solidFill>
                  <a:srgbClr val="1F303A"/>
                </a:solidFill>
                <a:latin typeface="Arial"/>
              </a:rPr>
              <a:t>Thử giới hạn phóng to cho ảnh nhỏ trên benchmark</a:t>
            </a:r>
          </a:p>
          <a:p>
            <a:pPr algn="l" marL="203200" indent="-203200">
              <a:spcAft>
                <a:spcPts val="600"/>
              </a:spcAft>
              <a:buChar char="•"/>
            </a:pPr>
            <a:r>
              <a:rPr sz="1600" b="0">
                <a:solidFill>
                  <a:srgbClr val="1F303A"/>
                </a:solidFill>
                <a:latin typeface="Arial"/>
              </a:rPr>
              <a:t>Nếu train tiếp: mỗi lần đổi một yếu tố (vd. C bỏ ảnh vải/chôm chôm)</a:t>
            </a:r>
          </a:p>
          <a:p>
            <a:pPr algn="l" marL="203200" indent="-203200">
              <a:spcAft>
                <a:spcPts val="600"/>
              </a:spcAft>
              <a:buChar char="•"/>
            </a:pPr>
            <a:r>
              <a:rPr sz="1600" b="0">
                <a:solidFill>
                  <a:srgbClr val="1F303A"/>
                </a:solidFill>
                <a:latin typeface="Arial"/>
              </a:rPr>
              <a:t>Sửa nhãn 1.246 frame thanh long đang cách ly</a:t>
            </a:r>
          </a:p>
          <a:p>
            <a:pPr algn="l" marL="203200" indent="-203200">
              <a:spcAft>
                <a:spcPts val="600"/>
              </a:spcAft>
              <a:buChar char="•"/>
            </a:pPr>
            <a:r>
              <a:rPr sz="1600" b="0">
                <a:solidFill>
                  <a:srgbClr val="1F303A"/>
                </a:solidFill>
                <a:latin typeface="Arial"/>
              </a:rPr>
              <a:t>Thu ảnh và video có nhãn từ đúng vườn, đúng camera</a:t>
            </a:r>
          </a:p>
          <a:p>
            <a:pPr algn="l" marL="203200" indent="-203200">
              <a:spcAft>
                <a:spcPts val="600"/>
              </a:spcAft>
              <a:buChar char="•"/>
            </a:pPr>
            <a:r>
              <a:rPr sz="1600" b="0">
                <a:solidFill>
                  <a:srgbClr val="1F303A"/>
                </a:solidFill>
                <a:latin typeface="Arial"/>
              </a:rPr>
              <a:t>Giữ một tập test chưa đụng tới cho mô hình được chọn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DEMO</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Kịch bản demo (~6 phút)</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42</a:t>
            </a:r>
          </a:p>
        </p:txBody>
      </p:sp>
      <p:graphicFrame>
        <p:nvGraphicFramePr>
          <p:cNvPr id="5" name="Table 4"/>
          <p:cNvGraphicFramePr>
            <a:graphicFrameLocks noGrp="1"/>
          </p:cNvGraphicFramePr>
          <p:nvPr/>
        </p:nvGraphicFramePr>
        <p:xfrm>
          <a:off x="548640" y="1234440"/>
          <a:ext cx="11091672" cy="4526280"/>
        </p:xfrm>
        <a:graphic>
          <a:graphicData uri="http://schemas.openxmlformats.org/drawingml/2006/table">
            <a:tbl>
              <a:tblPr firstRow="1" bandRow="1">
                <a:tableStyleId>{5C22544A-7EE6-4342-B048-85BDC9FD1C3A}</a:tableStyleId>
              </a:tblPr>
              <a:tblGrid>
                <a:gridCol w="502920"/>
                <a:gridCol w="2651760"/>
                <a:gridCol w="4160520"/>
                <a:gridCol w="3776472"/>
              </a:tblGrid>
              <a:tr h="502920">
                <a:tc>
                  <a:txBody>
                    <a:bodyPr wrap="square"/>
                    <a:lstStyle/>
                    <a:p>
                      <a:r>
                        <a:rPr sz="1300" b="1">
                          <a:solidFill>
                            <a:srgbClr val="FFFFFF"/>
                          </a:solidFill>
                          <a:latin typeface="Arial"/>
                        </a:rPr>
                        <a:t>#</a:t>
                      </a:r>
                    </a:p>
                  </a:txBody>
                  <a:tcPr marL="64008" marR="64008" marT="32004" marB="32004" anchor="ctr">
                    <a:solidFill>
                      <a:srgbClr val="0F2331"/>
                    </a:solidFill>
                  </a:tcPr>
                </a:tc>
                <a:tc>
                  <a:txBody>
                    <a:bodyPr wrap="square"/>
                    <a:lstStyle/>
                    <a:p>
                      <a:r>
                        <a:rPr sz="1300" b="1">
                          <a:solidFill>
                            <a:srgbClr val="FFFFFF"/>
                          </a:solidFill>
                          <a:latin typeface="Arial"/>
                        </a:rPr>
                        <a:t>Thao tác</a:t>
                      </a:r>
                    </a:p>
                  </a:txBody>
                  <a:tcPr marL="64008" marR="64008" marT="32004" marB="32004" anchor="ctr">
                    <a:solidFill>
                      <a:srgbClr val="0F2331"/>
                    </a:solidFill>
                  </a:tcPr>
                </a:tc>
                <a:tc>
                  <a:txBody>
                    <a:bodyPr wrap="square"/>
                    <a:lstStyle/>
                    <a:p>
                      <a:r>
                        <a:rPr sz="1300" b="1">
                          <a:solidFill>
                            <a:srgbClr val="FFFFFF"/>
                          </a:solidFill>
                          <a:latin typeface="Arial"/>
                        </a:rPr>
                        <a:t>File / cài đặt</a:t>
                      </a:r>
                    </a:p>
                  </a:txBody>
                  <a:tcPr marL="64008" marR="64008" marT="32004" marB="32004" anchor="ctr">
                    <a:solidFill>
                      <a:srgbClr val="0F2331"/>
                    </a:solidFill>
                  </a:tcPr>
                </a:tc>
                <a:tc>
                  <a:txBody>
                    <a:bodyPr wrap="square"/>
                    <a:lstStyle/>
                    <a:p>
                      <a:r>
                        <a:rPr sz="1300" b="1">
                          <a:solidFill>
                            <a:srgbClr val="FFFFFF"/>
                          </a:solidFill>
                          <a:latin typeface="Arial"/>
                        </a:rPr>
                        <a:t>Điều cần chỉ ra</a:t>
                      </a:r>
                    </a:p>
                  </a:txBody>
                  <a:tcPr marL="64008" marR="64008" marT="32004" marB="32004" anchor="ctr">
                    <a:solidFill>
                      <a:srgbClr val="0F2331"/>
                    </a:solidFill>
                  </a:tcPr>
                </a:tc>
              </a:tr>
              <a:tr h="502920">
                <a:tc>
                  <a:txBody>
                    <a:bodyPr wrap="square"/>
                    <a:lstStyle/>
                    <a:p>
                      <a:r>
                        <a:rPr sz="1300" b="1">
                          <a:solidFill>
                            <a:srgbClr val="1F303A"/>
                          </a:solidFill>
                          <a:latin typeface="Arial"/>
                        </a:rPr>
                        <a:t>1</a:t>
                      </a:r>
                    </a:p>
                  </a:txBody>
                  <a:tcPr marL="64008" marR="64008" marT="32004" marB="32004" anchor="ctr">
                    <a:solidFill>
                      <a:srgbClr val="FFFFFF"/>
                    </a:solidFill>
                  </a:tcPr>
                </a:tc>
                <a:tc>
                  <a:txBody>
                    <a:bodyPr wrap="square"/>
                    <a:lstStyle/>
                    <a:p>
                      <a:r>
                        <a:rPr sz="1300" b="0">
                          <a:solidFill>
                            <a:srgbClr val="1F303A"/>
                          </a:solidFill>
                          <a:latin typeface="Arial"/>
                        </a:rPr>
                        <a:t>Mở /health</a:t>
                      </a:r>
                    </a:p>
                  </a:txBody>
                  <a:tcPr marL="64008" marR="64008" marT="32004" marB="32004" anchor="ctr">
                    <a:solidFill>
                      <a:srgbClr val="FFFFFF"/>
                    </a:solidFill>
                  </a:tcPr>
                </a:tc>
                <a:tc>
                  <a:txBody>
                    <a:bodyPr wrap="square"/>
                    <a:lstStyle/>
                    <a:p>
                      <a:r>
                        <a:rPr sz="1300" b="0">
                          <a:solidFill>
                            <a:srgbClr val="1F303A"/>
                          </a:solidFill>
                          <a:latin typeface="Arial"/>
                        </a:rPr>
                        <a:t>Trình duyệt → …/health</a:t>
                      </a:r>
                    </a:p>
                  </a:txBody>
                  <a:tcPr marL="64008" marR="64008" marT="32004" marB="32004" anchor="ctr">
                    <a:solidFill>
                      <a:srgbClr val="FFFFFF"/>
                    </a:solidFill>
                  </a:tcPr>
                </a:tc>
                <a:tc>
                  <a:txBody>
                    <a:bodyPr wrap="square"/>
                    <a:lstStyle/>
                    <a:p>
                      <a:r>
                        <a:rPr sz="1300" b="0">
                          <a:solidFill>
                            <a:srgbClr val="1F303A"/>
                          </a:solidFill>
                          <a:latin typeface="Arial"/>
                        </a:rPr>
                        <a:t>pipeline_mode = two-stage, other_fruit_filter</a:t>
                      </a:r>
                    </a:p>
                  </a:txBody>
                  <a:tcPr marL="64008" marR="64008" marT="32004" marB="32004" anchor="ctr">
                    <a:solidFill>
                      <a:srgbClr val="FFFFFF"/>
                    </a:solidFill>
                  </a:tcPr>
                </a:tc>
              </a:tr>
              <a:tr h="502920">
                <a:tc>
                  <a:txBody>
                    <a:bodyPr wrap="square"/>
                    <a:lstStyle/>
                    <a:p>
                      <a:r>
                        <a:rPr sz="1300" b="1">
                          <a:solidFill>
                            <a:srgbClr val="1F303A"/>
                          </a:solidFill>
                          <a:latin typeface="Arial"/>
                        </a:rPr>
                        <a:t>2</a:t>
                      </a:r>
                    </a:p>
                  </a:txBody>
                  <a:tcPr marL="64008" marR="64008" marT="32004" marB="32004" anchor="ctr">
                    <a:solidFill>
                      <a:srgbClr val="F8FBFA"/>
                    </a:solidFill>
                  </a:tcPr>
                </a:tc>
                <a:tc>
                  <a:txBody>
                    <a:bodyPr wrap="square"/>
                    <a:lstStyle/>
                    <a:p>
                      <a:r>
                        <a:rPr sz="1300" b="0">
                          <a:solidFill>
                            <a:srgbClr val="1F303A"/>
                          </a:solidFill>
                          <a:latin typeface="Arial"/>
                        </a:rPr>
                        <a:t>Thanh long cận cảnh</a:t>
                      </a:r>
                    </a:p>
                  </a:txBody>
                  <a:tcPr marL="64008" marR="64008" marT="32004" marB="32004" anchor="ctr">
                    <a:solidFill>
                      <a:srgbClr val="F8FBFA"/>
                    </a:solidFill>
                  </a:tcPr>
                </a:tc>
                <a:tc>
                  <a:txBody>
                    <a:bodyPr wrap="square"/>
                    <a:lstStyle/>
                    <a:p>
                      <a:r>
                        <a:rPr sz="1300" b="0">
                          <a:solidFill>
                            <a:srgbClr val="1F303A"/>
                          </a:solidFill>
                          <a:latin typeface="Arial"/>
                        </a:rPr>
                        <a:t>dragon-fruit-pucka-fertilizer-1.jpg</a:t>
                      </a:r>
                    </a:p>
                  </a:txBody>
                  <a:tcPr marL="64008" marR="64008" marT="32004" marB="32004" anchor="ctr">
                    <a:solidFill>
                      <a:srgbClr val="F8FBFA"/>
                    </a:solidFill>
                  </a:tcPr>
                </a:tc>
                <a:tc>
                  <a:txBody>
                    <a:bodyPr wrap="square"/>
                    <a:lstStyle/>
                    <a:p>
                      <a:r>
                        <a:rPr sz="1300" b="0">
                          <a:solidFill>
                            <a:srgbClr val="1F303A"/>
                          </a:solidFill>
                          <a:latin typeface="Arial"/>
                        </a:rPr>
                        <a:t>3 box, nhãn chín + độ tin cậy</a:t>
                      </a:r>
                    </a:p>
                  </a:txBody>
                  <a:tcPr marL="64008" marR="64008" marT="32004" marB="32004" anchor="ctr">
                    <a:solidFill>
                      <a:srgbClr val="F8FBFA"/>
                    </a:solidFill>
                  </a:tcPr>
                </a:tc>
              </a:tr>
              <a:tr h="502920">
                <a:tc>
                  <a:txBody>
                    <a:bodyPr wrap="square"/>
                    <a:lstStyle/>
                    <a:p>
                      <a:r>
                        <a:rPr sz="1300" b="1">
                          <a:solidFill>
                            <a:srgbClr val="1F303A"/>
                          </a:solidFill>
                          <a:latin typeface="Arial"/>
                        </a:rPr>
                        <a:t>3</a:t>
                      </a:r>
                    </a:p>
                  </a:txBody>
                  <a:tcPr marL="64008" marR="64008" marT="32004" marB="32004" anchor="ctr">
                    <a:solidFill>
                      <a:srgbClr val="FFFFFF"/>
                    </a:solidFill>
                  </a:tcPr>
                </a:tc>
                <a:tc>
                  <a:txBody>
                    <a:bodyPr wrap="square"/>
                    <a:lstStyle/>
                    <a:p>
                      <a:r>
                        <a:rPr sz="1300" b="0">
                          <a:solidFill>
                            <a:srgbClr val="1F303A"/>
                          </a:solidFill>
                          <a:latin typeface="Arial"/>
                        </a:rPr>
                        <a:t>Cả trụ thanh long</a:t>
                      </a:r>
                    </a:p>
                  </a:txBody>
                  <a:tcPr marL="64008" marR="64008" marT="32004" marB="32004" anchor="ctr">
                    <a:solidFill>
                      <a:srgbClr val="FFFFFF"/>
                    </a:solidFill>
                  </a:tcPr>
                </a:tc>
                <a:tc>
                  <a:txBody>
                    <a:bodyPr wrap="square"/>
                    <a:lstStyle/>
                    <a:p>
                      <a:r>
                        <a:rPr sz="1300" b="0">
                          <a:solidFill>
                            <a:srgbClr val="1F303A"/>
                          </a:solidFill>
                          <a:latin typeface="Arial"/>
                        </a:rPr>
                        <a:t>tru-cay-thanh-long.jpg</a:t>
                      </a:r>
                    </a:p>
                  </a:txBody>
                  <a:tcPr marL="64008" marR="64008" marT="32004" marB="32004" anchor="ctr">
                    <a:solidFill>
                      <a:srgbClr val="FFFFFF"/>
                    </a:solidFill>
                  </a:tcPr>
                </a:tc>
                <a:tc>
                  <a:txBody>
                    <a:bodyPr wrap="square"/>
                    <a:lstStyle/>
                    <a:p>
                      <a:r>
                        <a:rPr sz="1300" b="0">
                          <a:solidFill>
                            <a:srgbClr val="1F303A"/>
                          </a:solidFill>
                          <a:latin typeface="Arial"/>
                        </a:rPr>
                        <a:t>~22 quả; nhiều quả nhỏ → uncertain (crop &lt; 64 px)</a:t>
                      </a:r>
                    </a:p>
                  </a:txBody>
                  <a:tcPr marL="64008" marR="64008" marT="32004" marB="32004" anchor="ctr">
                    <a:solidFill>
                      <a:srgbClr val="FFFFFF"/>
                    </a:solidFill>
                  </a:tcPr>
                </a:tc>
              </a:tr>
              <a:tr h="502920">
                <a:tc>
                  <a:txBody>
                    <a:bodyPr wrap="square"/>
                    <a:lstStyle/>
                    <a:p>
                      <a:r>
                        <a:rPr sz="1300" b="1">
                          <a:solidFill>
                            <a:srgbClr val="1F303A"/>
                          </a:solidFill>
                          <a:latin typeface="Arial"/>
                        </a:rPr>
                        <a:t>4</a:t>
                      </a:r>
                    </a:p>
                  </a:txBody>
                  <a:tcPr marL="64008" marR="64008" marT="32004" marB="32004" anchor="ctr">
                    <a:solidFill>
                      <a:srgbClr val="F8FBFA"/>
                    </a:solidFill>
                  </a:tcPr>
                </a:tc>
                <a:tc>
                  <a:txBody>
                    <a:bodyPr wrap="square"/>
                    <a:lstStyle/>
                    <a:p>
                      <a:r>
                        <a:rPr sz="1300" b="0">
                          <a:solidFill>
                            <a:srgbClr val="1F303A"/>
                          </a:solidFill>
                          <a:latin typeface="Arial"/>
                        </a:rPr>
                        <a:t>Cây xoài nhiều quả</a:t>
                      </a:r>
                    </a:p>
                  </a:txBody>
                  <a:tcPr marL="64008" marR="64008" marT="32004" marB="32004" anchor="ctr">
                    <a:solidFill>
                      <a:srgbClr val="F8FBFA"/>
                    </a:solidFill>
                  </a:tcPr>
                </a:tc>
                <a:tc>
                  <a:txBody>
                    <a:bodyPr wrap="square"/>
                    <a:lstStyle/>
                    <a:p>
                      <a:r>
                        <a:rPr sz="1300" b="0">
                          <a:solidFill>
                            <a:srgbClr val="1F303A"/>
                          </a:solidFill>
                          <a:latin typeface="Arial"/>
                        </a:rPr>
                        <a:t>oxi-house-cay-xoai-tu-quy-2_…jpg</a:t>
                      </a:r>
                    </a:p>
                  </a:txBody>
                  <a:tcPr marL="64008" marR="64008" marT="32004" marB="32004" anchor="ctr">
                    <a:solidFill>
                      <a:srgbClr val="F8FBFA"/>
                    </a:solidFill>
                  </a:tcPr>
                </a:tc>
                <a:tc>
                  <a:txBody>
                    <a:bodyPr wrap="square"/>
                    <a:lstStyle/>
                    <a:p>
                      <a:r>
                        <a:rPr sz="1300" b="0">
                          <a:solidFill>
                            <a:srgbClr val="1F303A"/>
                          </a:solidFill>
                          <a:latin typeface="Arial"/>
                        </a:rPr>
                        <a:t>~46 box; thẻ "Model nghiêng về … (cần ≥ x%)"</a:t>
                      </a:r>
                    </a:p>
                  </a:txBody>
                  <a:tcPr marL="64008" marR="64008" marT="32004" marB="32004" anchor="ctr">
                    <a:solidFill>
                      <a:srgbClr val="F8FBFA"/>
                    </a:solidFill>
                  </a:tcPr>
                </a:tc>
              </a:tr>
              <a:tr h="502920">
                <a:tc>
                  <a:txBody>
                    <a:bodyPr wrap="square"/>
                    <a:lstStyle/>
                    <a:p>
                      <a:r>
                        <a:rPr sz="1300" b="1">
                          <a:solidFill>
                            <a:srgbClr val="1F303A"/>
                          </a:solidFill>
                          <a:latin typeface="Arial"/>
                        </a:rPr>
                        <a:t>5</a:t>
                      </a:r>
                    </a:p>
                  </a:txBody>
                  <a:tcPr marL="64008" marR="64008" marT="32004" marB="32004" anchor="ctr">
                    <a:solidFill>
                      <a:srgbClr val="FFFFFF"/>
                    </a:solidFill>
                  </a:tcPr>
                </a:tc>
                <a:tc>
                  <a:txBody>
                    <a:bodyPr wrap="square"/>
                    <a:lstStyle/>
                    <a:p>
                      <a:r>
                        <a:rPr sz="1300" b="0">
                          <a:solidFill>
                            <a:srgbClr val="1F303A"/>
                          </a:solidFill>
                          <a:latin typeface="Arial"/>
                        </a:rPr>
                        <a:t>Quả khác</a:t>
                      </a:r>
                    </a:p>
                  </a:txBody>
                  <a:tcPr marL="64008" marR="64008" marT="32004" marB="32004" anchor="ctr">
                    <a:solidFill>
                      <a:srgbClr val="FFFFFF"/>
                    </a:solidFill>
                  </a:tcPr>
                </a:tc>
                <a:tc>
                  <a:txBody>
                    <a:bodyPr wrap="square"/>
                    <a:lstStyle/>
                    <a:p>
                      <a:r>
                        <a:rPr sz="1300" b="0">
                          <a:solidFill>
                            <a:srgbClr val="1F303A"/>
                          </a:solidFill>
                          <a:latin typeface="Arial"/>
                        </a:rPr>
                        <a:t>images (9).jpeg (mận)</a:t>
                      </a:r>
                    </a:p>
                  </a:txBody>
                  <a:tcPr marL="64008" marR="64008" marT="32004" marB="32004" anchor="ctr">
                    <a:solidFill>
                      <a:srgbClr val="FFFFFF"/>
                    </a:solidFill>
                  </a:tcPr>
                </a:tc>
                <a:tc>
                  <a:txBody>
                    <a:bodyPr wrap="square"/>
                    <a:lstStyle/>
                    <a:p>
                      <a:r>
                        <a:rPr sz="1300" b="0">
                          <a:solidFill>
                            <a:srgbClr val="1F303A"/>
                          </a:solidFill>
                          <a:latin typeface="Arial"/>
                        </a:rPr>
                        <a:t>Lọc tắt: box sai → bật: 0 box</a:t>
                      </a:r>
                    </a:p>
                  </a:txBody>
                  <a:tcPr marL="64008" marR="64008" marT="32004" marB="32004" anchor="ctr">
                    <a:solidFill>
                      <a:srgbClr val="FFFFFF"/>
                    </a:solidFill>
                  </a:tcPr>
                </a:tc>
              </a:tr>
              <a:tr h="502920">
                <a:tc>
                  <a:txBody>
                    <a:bodyPr wrap="square"/>
                    <a:lstStyle/>
                    <a:p>
                      <a:r>
                        <a:rPr sz="1300" b="1">
                          <a:solidFill>
                            <a:srgbClr val="1F303A"/>
                          </a:solidFill>
                          <a:latin typeface="Arial"/>
                        </a:rPr>
                        <a:t>6</a:t>
                      </a:r>
                    </a:p>
                  </a:txBody>
                  <a:tcPr marL="64008" marR="64008" marT="32004" marB="32004" anchor="ctr">
                    <a:solidFill>
                      <a:srgbClr val="F8FBFA"/>
                    </a:solidFill>
                  </a:tcPr>
                </a:tc>
                <a:tc>
                  <a:txBody>
                    <a:bodyPr wrap="square"/>
                    <a:lstStyle/>
                    <a:p>
                      <a:r>
                        <a:rPr sz="1300" b="0">
                          <a:solidFill>
                            <a:srgbClr val="1F303A"/>
                          </a:solidFill>
                          <a:latin typeface="Arial"/>
                        </a:rPr>
                        <a:t>Xoài chồng nhau</a:t>
                      </a:r>
                    </a:p>
                  </a:txBody>
                  <a:tcPr marL="64008" marR="64008" marT="32004" marB="32004" anchor="ctr">
                    <a:solidFill>
                      <a:srgbClr val="F8FBFA"/>
                    </a:solidFill>
                  </a:tcPr>
                </a:tc>
                <a:tc>
                  <a:txBody>
                    <a:bodyPr wrap="square"/>
                    <a:lstStyle/>
                    <a:p>
                      <a:r>
                        <a:rPr sz="1300" b="0">
                          <a:solidFill>
                            <a:srgbClr val="1F303A"/>
                          </a:solidFill>
                          <a:latin typeface="Arial"/>
                        </a:rPr>
                        <a:t>images (7).jpeg + bật "Quét kỹ"</a:t>
                      </a:r>
                    </a:p>
                  </a:txBody>
                  <a:tcPr marL="64008" marR="64008" marT="32004" marB="32004" anchor="ctr">
                    <a:solidFill>
                      <a:srgbClr val="F8FBFA"/>
                    </a:solidFill>
                  </a:tcPr>
                </a:tc>
                <a:tc>
                  <a:txBody>
                    <a:bodyPr wrap="square"/>
                    <a:lstStyle/>
                    <a:p>
                      <a:r>
                        <a:rPr sz="1300" b="0">
                          <a:solidFill>
                            <a:srgbClr val="1F303A"/>
                          </a:solidFill>
                          <a:latin typeface="Arial"/>
                        </a:rPr>
                        <a:t>2 → 4 trên 5 quả</a:t>
                      </a:r>
                    </a:p>
                  </a:txBody>
                  <a:tcPr marL="64008" marR="64008" marT="32004" marB="32004" anchor="ctr">
                    <a:solidFill>
                      <a:srgbClr val="F8FBFA"/>
                    </a:solidFill>
                  </a:tcPr>
                </a:tc>
              </a:tr>
              <a:tr h="502920">
                <a:tc>
                  <a:txBody>
                    <a:bodyPr wrap="square"/>
                    <a:lstStyle/>
                    <a:p>
                      <a:r>
                        <a:rPr sz="1300" b="1">
                          <a:solidFill>
                            <a:srgbClr val="1F303A"/>
                          </a:solidFill>
                          <a:latin typeface="Arial"/>
                        </a:rPr>
                        <a:t>7</a:t>
                      </a:r>
                    </a:p>
                  </a:txBody>
                  <a:tcPr marL="64008" marR="64008" marT="32004" marB="32004" anchor="ctr">
                    <a:solidFill>
                      <a:srgbClr val="FFFFFF"/>
                    </a:solidFill>
                  </a:tcPr>
                </a:tc>
                <a:tc>
                  <a:txBody>
                    <a:bodyPr wrap="square"/>
                    <a:lstStyle/>
                    <a:p>
                      <a:r>
                        <a:rPr sz="1300" b="0">
                          <a:solidFill>
                            <a:srgbClr val="1F303A"/>
                          </a:solidFill>
                          <a:latin typeface="Arial"/>
                        </a:rPr>
                        <a:t>Video</a:t>
                      </a:r>
                    </a:p>
                  </a:txBody>
                  <a:tcPr marL="64008" marR="64008" marT="32004" marB="32004" anchor="ctr">
                    <a:solidFill>
                      <a:srgbClr val="FFFFFF"/>
                    </a:solidFill>
                  </a:tcPr>
                </a:tc>
                <a:tc>
                  <a:txBody>
                    <a:bodyPr wrap="square"/>
                    <a:lstStyle/>
                    <a:p>
                      <a:r>
                        <a:rPr sz="1300" b="0">
                          <a:solidFill>
                            <a:srgbClr val="1F303A"/>
                          </a:solidFill>
                          <a:latin typeface="Arial"/>
                        </a:rPr>
                        <a:t>orchard_dragon_input.mp4 (20 s)</a:t>
                      </a:r>
                    </a:p>
                  </a:txBody>
                  <a:tcPr marL="64008" marR="64008" marT="32004" marB="32004" anchor="ctr">
                    <a:solidFill>
                      <a:srgbClr val="FFFFFF"/>
                    </a:solidFill>
                  </a:tcPr>
                </a:tc>
                <a:tc>
                  <a:txBody>
                    <a:bodyPr wrap="square"/>
                    <a:lstStyle/>
                    <a:p>
                      <a:r>
                        <a:rPr sz="1300" b="0">
                          <a:solidFill>
                            <a:srgbClr val="1F303A"/>
                          </a:solidFill>
                          <a:latin typeface="Arial"/>
                        </a:rPr>
                        <a:t>Số quả duy nhất theo loài, khung minh họa</a:t>
                      </a:r>
                    </a:p>
                  </a:txBody>
                  <a:tcPr marL="64008" marR="64008" marT="32004" marB="32004" anchor="ctr">
                    <a:solidFill>
                      <a:srgbClr val="FFFFFF"/>
                    </a:solidFill>
                  </a:tcPr>
                </a:tc>
              </a:tr>
              <a:tr h="502920">
                <a:tc>
                  <a:txBody>
                    <a:bodyPr wrap="square"/>
                    <a:lstStyle/>
                    <a:p>
                      <a:r>
                        <a:rPr sz="1300" b="1">
                          <a:solidFill>
                            <a:srgbClr val="1F303A"/>
                          </a:solidFill>
                          <a:latin typeface="Arial"/>
                        </a:rPr>
                        <a:t>8</a:t>
                      </a:r>
                    </a:p>
                  </a:txBody>
                  <a:tcPr marL="64008" marR="64008" marT="32004" marB="32004" anchor="ctr">
                    <a:solidFill>
                      <a:srgbClr val="F8FBFA"/>
                    </a:solidFill>
                  </a:tcPr>
                </a:tc>
                <a:tc>
                  <a:txBody>
                    <a:bodyPr wrap="square"/>
                    <a:lstStyle/>
                    <a:p>
                      <a:r>
                        <a:rPr sz="1300" b="0">
                          <a:solidFill>
                            <a:srgbClr val="1F303A"/>
                          </a:solidFill>
                          <a:latin typeface="Arial"/>
                        </a:rPr>
                        <a:t>Lỗi đã biết</a:t>
                      </a:r>
                    </a:p>
                  </a:txBody>
                  <a:tcPr marL="64008" marR="64008" marT="32004" marB="32004" anchor="ctr">
                    <a:solidFill>
                      <a:srgbClr val="F8FBFA"/>
                    </a:solidFill>
                  </a:tcPr>
                </a:tc>
                <a:tc>
                  <a:txBody>
                    <a:bodyPr wrap="square"/>
                    <a:lstStyle/>
                    <a:p>
                      <a:r>
                        <a:rPr sz="1300" b="0">
                          <a:solidFill>
                            <a:srgbClr val="1F303A"/>
                          </a:solidFill>
                          <a:latin typeface="Arial"/>
                        </a:rPr>
                        <a:t>Ảnh xoài chín có đốm, lọc bật/tắt</a:t>
                      </a:r>
                    </a:p>
                  </a:txBody>
                  <a:tcPr marL="64008" marR="64008" marT="32004" marB="32004" anchor="ctr">
                    <a:solidFill>
                      <a:srgbClr val="F8FBFA"/>
                    </a:solidFill>
                  </a:tcPr>
                </a:tc>
                <a:tc>
                  <a:txBody>
                    <a:bodyPr wrap="square"/>
                    <a:lstStyle/>
                    <a:p>
                      <a:r>
                        <a:rPr sz="1300" b="0">
                          <a:solidFill>
                            <a:srgbClr val="1F303A"/>
                          </a:solidFill>
                          <a:latin typeface="Arial"/>
                        </a:rPr>
                        <a:t>Bộ lọc xóa xoài chín → bài học</a:t>
                      </a:r>
                    </a:p>
                  </a:txBody>
                  <a:tcPr marL="64008" marR="64008" marT="32004" marB="32004" anchor="ctr">
                    <a:solidFill>
                      <a:srgbClr val="F8FBFA"/>
                    </a:solidFill>
                  </a:tcPr>
                </a:tc>
              </a:tr>
            </a:tbl>
          </a:graphicData>
        </a:graphic>
      </p:graphicFrame>
      <p:sp>
        <p:nvSpPr>
          <p:cNvPr id="6" name="Rounded Rectangle 5"/>
          <p:cNvSpPr/>
          <p:nvPr/>
        </p:nvSpPr>
        <p:spPr>
          <a:xfrm>
            <a:off x="548640" y="5852160"/>
            <a:ext cx="11091672" cy="457200"/>
          </a:xfrm>
          <a:prstGeom prst="roundRect">
            <a:avLst>
              <a:gd name="adj" fmla="val 12000"/>
            </a:avLst>
          </a:prstGeom>
          <a:solidFill>
            <a:srgbClr val="DA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5943600"/>
            <a:ext cx="10634472" cy="274320"/>
          </a:xfrm>
          <a:prstGeom prst="rect">
            <a:avLst/>
          </a:prstGeom>
          <a:noFill/>
        </p:spPr>
        <p:txBody>
          <a:bodyPr wrap="square" lIns="0" rIns="0" tIns="0" bIns="0" anchor="ctr">
            <a:spAutoFit/>
          </a:bodyPr>
          <a:lstStyle/>
          <a:p>
            <a:pPr algn="l">
              <a:spcAft>
                <a:spcPts val="400"/>
              </a:spcAft>
            </a:pPr>
            <a:r>
              <a:rPr sz="1300" b="0">
                <a:solidFill>
                  <a:srgbClr val="0F2331"/>
                </a:solidFill>
                <a:latin typeface="Arial"/>
              </a:rPr>
              <a:t>Ảnh ở ~/Downloads; video ở fruit_detection_presentation/assets/video; Swagger /docs để gọi API trực tiếp</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DEMO</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Chuẩn bị demo và phương án dự phòng</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43</a:t>
            </a:r>
          </a:p>
        </p:txBody>
      </p:sp>
      <p:sp>
        <p:nvSpPr>
          <p:cNvPr id="5" name="Rounded Rectangle 4"/>
          <p:cNvSpPr/>
          <p:nvPr/>
        </p:nvSpPr>
        <p:spPr>
          <a:xfrm>
            <a:off x="548640" y="1280160"/>
            <a:ext cx="5440680" cy="2514600"/>
          </a:xfrm>
          <a:prstGeom prst="roundRect">
            <a:avLst>
              <a:gd name="adj" fmla="val 5236"/>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5038344"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Chạy tại máy</a:t>
            </a:r>
          </a:p>
        </p:txBody>
      </p:sp>
      <p:sp>
        <p:nvSpPr>
          <p:cNvPr id="7" name="TextBox 6"/>
          <p:cNvSpPr txBox="1"/>
          <p:nvPr/>
        </p:nvSpPr>
        <p:spPr>
          <a:xfrm>
            <a:off x="749808" y="1920239"/>
            <a:ext cx="5038344" cy="1783079"/>
          </a:xfrm>
          <a:prstGeom prst="rect">
            <a:avLst/>
          </a:prstGeom>
          <a:noFill/>
        </p:spPr>
        <p:txBody>
          <a:bodyPr wrap="square" lIns="0" rIns="0" tIns="0" bIns="0" anchor="t">
            <a:spAutoFit/>
          </a:bodyPr>
          <a:lstStyle/>
          <a:p>
            <a:pPr algn="l" marL="190500" indent="-190500">
              <a:spcAft>
                <a:spcPts val="600"/>
              </a:spcAft>
              <a:buChar char="•"/>
            </a:pPr>
            <a:r>
              <a:rPr sz="1500" b="0">
                <a:solidFill>
                  <a:srgbClr val="1F303A"/>
                </a:solidFill>
                <a:latin typeface="Arial"/>
              </a:rPr>
              <a:t>uvicorn backend.app:app --host 127.0.0.1 --port 8000</a:t>
            </a:r>
          </a:p>
          <a:p>
            <a:pPr algn="l" marL="190500" indent="-190500">
              <a:spcAft>
                <a:spcPts val="600"/>
              </a:spcAft>
              <a:buChar char="•"/>
            </a:pPr>
            <a:r>
              <a:rPr sz="1500" b="0">
                <a:solidFill>
                  <a:srgbClr val="1F303A"/>
                </a:solidFill>
                <a:latin typeface="Arial"/>
              </a:rPr>
              <a:t>cd frontend &amp;&amp; npm ci &amp;&amp; npm run dev → localhost:5173</a:t>
            </a:r>
          </a:p>
          <a:p>
            <a:pPr algn="l" marL="190500" indent="-190500">
              <a:spcAft>
                <a:spcPts val="600"/>
              </a:spcAft>
              <a:buChar char="•"/>
            </a:pPr>
            <a:r>
              <a:rPr sz="1500" b="0">
                <a:solidFill>
                  <a:srgbClr val="1F303A"/>
                </a:solidFill>
                <a:latin typeface="Arial"/>
              </a:rPr>
              <a:t>Tắt bộ lọc: SPECIES_VERIFIER_PATH=/khong-co-file</a:t>
            </a:r>
          </a:p>
          <a:p>
            <a:pPr algn="l" marL="190500" indent="-190500">
              <a:spcAft>
                <a:spcPts val="600"/>
              </a:spcAft>
              <a:buChar char="•"/>
            </a:pPr>
            <a:r>
              <a:rPr sz="1500" b="0">
                <a:solidFill>
                  <a:srgbClr val="1F303A"/>
                </a:solidFill>
                <a:latin typeface="Arial"/>
              </a:rPr>
              <a:t>Weight v3 phải có trong backend/weights</a:t>
            </a:r>
          </a:p>
        </p:txBody>
      </p:sp>
      <p:sp>
        <p:nvSpPr>
          <p:cNvPr id="8" name="Rounded Rectangle 7"/>
          <p:cNvSpPr/>
          <p:nvPr/>
        </p:nvSpPr>
        <p:spPr>
          <a:xfrm>
            <a:off x="6199632" y="1280160"/>
            <a:ext cx="5440680" cy="2514600"/>
          </a:xfrm>
          <a:prstGeom prst="roundRect">
            <a:avLst>
              <a:gd name="adj" fmla="val 5236"/>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463039"/>
            <a:ext cx="5038344" cy="365760"/>
          </a:xfrm>
          <a:prstGeom prst="rect">
            <a:avLst/>
          </a:prstGeom>
          <a:noFill/>
        </p:spPr>
        <p:txBody>
          <a:bodyPr wrap="square" lIns="0" rIns="0" tIns="0" bIns="0" anchor="t">
            <a:spAutoFit/>
          </a:bodyPr>
          <a:lstStyle/>
          <a:p>
            <a:pPr algn="l">
              <a:spcAft>
                <a:spcPts val="400"/>
              </a:spcAft>
            </a:pPr>
            <a:r>
              <a:rPr sz="1700" b="1">
                <a:solidFill>
                  <a:srgbClr val="C48016"/>
                </a:solidFill>
                <a:latin typeface="Arial"/>
              </a:rPr>
              <a:t>Chạy trên Cloud Run</a:t>
            </a:r>
          </a:p>
        </p:txBody>
      </p:sp>
      <p:sp>
        <p:nvSpPr>
          <p:cNvPr id="10" name="TextBox 9"/>
          <p:cNvSpPr txBox="1"/>
          <p:nvPr/>
        </p:nvSpPr>
        <p:spPr>
          <a:xfrm>
            <a:off x="6400800" y="1920239"/>
            <a:ext cx="5038344" cy="1783079"/>
          </a:xfrm>
          <a:prstGeom prst="rect">
            <a:avLst/>
          </a:prstGeom>
          <a:noFill/>
        </p:spPr>
        <p:txBody>
          <a:bodyPr wrap="square" lIns="0" rIns="0" tIns="0" bIns="0" anchor="t">
            <a:spAutoFit/>
          </a:bodyPr>
          <a:lstStyle/>
          <a:p>
            <a:pPr algn="l" marL="190500" indent="-190500">
              <a:spcAft>
                <a:spcPts val="600"/>
              </a:spcAft>
              <a:buChar char="•"/>
            </a:pPr>
            <a:r>
              <a:rPr sz="1500" b="0">
                <a:solidFill>
                  <a:srgbClr val="1F303A"/>
                </a:solidFill>
                <a:latin typeface="Arial"/>
              </a:rPr>
              <a:t>fruit-detection-542444439835.asia-southeast1.run.app</a:t>
            </a:r>
          </a:p>
          <a:p>
            <a:pPr algn="l" marL="190500" indent="-190500">
              <a:spcAft>
                <a:spcPts val="600"/>
              </a:spcAft>
              <a:buChar char="•"/>
            </a:pPr>
            <a:r>
              <a:rPr sz="1500" b="0">
                <a:solidFill>
                  <a:srgbClr val="1F303A"/>
                </a:solidFill>
                <a:latin typeface="Arial"/>
              </a:rPr>
              <a:t>Yêu cầu đầu tiên chậm hơn (scale-to-zero) → mở trước 1–2 phút</a:t>
            </a:r>
          </a:p>
          <a:p>
            <a:pPr algn="l" marL="190500" indent="-190500">
              <a:spcAft>
                <a:spcPts val="600"/>
              </a:spcAft>
              <a:buChar char="•"/>
            </a:pPr>
            <a:r>
              <a:rPr sz="1500" b="0">
                <a:solidFill>
                  <a:srgbClr val="1F303A"/>
                </a:solidFill>
                <a:latin typeface="Arial"/>
              </a:rPr>
              <a:t>Bản hiện tại có bộ lọc loài → xoài chín có thể mất</a:t>
            </a:r>
          </a:p>
        </p:txBody>
      </p:sp>
      <p:sp>
        <p:nvSpPr>
          <p:cNvPr id="11" name="Rounded Rectangle 10"/>
          <p:cNvSpPr/>
          <p:nvPr/>
        </p:nvSpPr>
        <p:spPr>
          <a:xfrm>
            <a:off x="548640" y="4023360"/>
            <a:ext cx="5440680" cy="2103120"/>
          </a:xfrm>
          <a:prstGeom prst="roundRect">
            <a:avLst>
              <a:gd name="adj" fmla="val 626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4206240"/>
            <a:ext cx="5038344" cy="365760"/>
          </a:xfrm>
          <a:prstGeom prst="rect">
            <a:avLst/>
          </a:prstGeom>
          <a:noFill/>
        </p:spPr>
        <p:txBody>
          <a:bodyPr wrap="square" lIns="0" rIns="0" tIns="0" bIns="0" anchor="t">
            <a:spAutoFit/>
          </a:bodyPr>
          <a:lstStyle/>
          <a:p>
            <a:pPr algn="l">
              <a:spcAft>
                <a:spcPts val="400"/>
              </a:spcAft>
            </a:pPr>
            <a:r>
              <a:rPr sz="1700" b="1">
                <a:solidFill>
                  <a:srgbClr val="B34340"/>
                </a:solidFill>
                <a:latin typeface="Arial"/>
              </a:rPr>
              <a:t>Nếu mạng/máy lỗi</a:t>
            </a:r>
          </a:p>
        </p:txBody>
      </p:sp>
      <p:sp>
        <p:nvSpPr>
          <p:cNvPr id="13" name="TextBox 12"/>
          <p:cNvSpPr txBox="1"/>
          <p:nvPr/>
        </p:nvSpPr>
        <p:spPr>
          <a:xfrm>
            <a:off x="749808" y="4663440"/>
            <a:ext cx="5038344" cy="1371599"/>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Dùng ảnh kết quả có sẵn trên slide 24, 35, 37 và thư mục pipeline_check; video đã gán nhãn *_annotated.mp4.</a:t>
            </a:r>
          </a:p>
        </p:txBody>
      </p:sp>
      <p:sp>
        <p:nvSpPr>
          <p:cNvPr id="14" name="Rounded Rectangle 13"/>
          <p:cNvSpPr/>
          <p:nvPr/>
        </p:nvSpPr>
        <p:spPr>
          <a:xfrm>
            <a:off x="6199632" y="4023360"/>
            <a:ext cx="5440680" cy="2103120"/>
          </a:xfrm>
          <a:prstGeom prst="roundRect">
            <a:avLst>
              <a:gd name="adj" fmla="val 6260"/>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4206240"/>
            <a:ext cx="5038344" cy="365760"/>
          </a:xfrm>
          <a:prstGeom prst="rect">
            <a:avLst/>
          </a:prstGeom>
          <a:noFill/>
        </p:spPr>
        <p:txBody>
          <a:bodyPr wrap="square" lIns="0" rIns="0" tIns="0" bIns="0" anchor="t">
            <a:spAutoFit/>
          </a:bodyPr>
          <a:lstStyle/>
          <a:p>
            <a:pPr algn="l">
              <a:spcAft>
                <a:spcPts val="400"/>
              </a:spcAft>
            </a:pPr>
            <a:r>
              <a:rPr sz="1700" b="1">
                <a:solidFill>
                  <a:srgbClr val="0F2331"/>
                </a:solidFill>
                <a:latin typeface="Arial"/>
              </a:rPr>
              <a:t>Rollback Cloud Run</a:t>
            </a:r>
          </a:p>
        </p:txBody>
      </p:sp>
      <p:sp>
        <p:nvSpPr>
          <p:cNvPr id="16" name="TextBox 15"/>
          <p:cNvSpPr txBox="1"/>
          <p:nvPr/>
        </p:nvSpPr>
        <p:spPr>
          <a:xfrm>
            <a:off x="6400800" y="4663440"/>
            <a:ext cx="5038344" cy="1371599"/>
          </a:xfrm>
          <a:prstGeom prst="rect">
            <a:avLst/>
          </a:prstGeom>
          <a:noFill/>
        </p:spPr>
        <p:txBody>
          <a:bodyPr wrap="square" lIns="0" rIns="0" tIns="0" bIns="0" anchor="t">
            <a:spAutoFit/>
          </a:bodyPr>
          <a:lstStyle/>
          <a:p>
            <a:pPr algn="l">
              <a:spcAft>
                <a:spcPts val="600"/>
              </a:spcAft>
            </a:pPr>
            <a:r>
              <a:rPr sz="1500" b="0">
                <a:solidFill>
                  <a:srgbClr val="1F303A"/>
                </a:solidFill>
                <a:latin typeface="Arial"/>
              </a:rPr>
              <a:t>gcloud run services update-traffic fruit-detection --region=asia-southeast1 --to-revisions=&lt;revision&gt;=100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92608"/>
            <a:ext cx="9144000" cy="274320"/>
          </a:xfrm>
          <a:prstGeom prst="rect">
            <a:avLst/>
          </a:prstGeom>
          <a:noFill/>
        </p:spPr>
        <p:txBody>
          <a:bodyPr wrap="square" lIns="0" rIns="0" tIns="0" bIns="0" anchor="t">
            <a:spAutoFit/>
          </a:bodyPr>
          <a:lstStyle/>
          <a:p>
            <a:pPr algn="l">
              <a:spcAft>
                <a:spcPts val="400"/>
              </a:spcAft>
            </a:pPr>
            <a:r>
              <a:rPr sz="1100" b="1">
                <a:solidFill>
                  <a:srgbClr val="187F5B"/>
                </a:solidFill>
                <a:latin typeface="Arial"/>
              </a:rPr>
              <a:t>PHỤ LỤC</a:t>
            </a:r>
          </a:p>
        </p:txBody>
      </p:sp>
      <p:sp>
        <p:nvSpPr>
          <p:cNvPr id="3" name="TextBox 2"/>
          <p:cNvSpPr txBox="1"/>
          <p:nvPr/>
        </p:nvSpPr>
        <p:spPr>
          <a:xfrm>
            <a:off x="548640" y="548640"/>
            <a:ext cx="11064240" cy="548640"/>
          </a:xfrm>
          <a:prstGeom prst="rect">
            <a:avLst/>
          </a:prstGeom>
          <a:noFill/>
        </p:spPr>
        <p:txBody>
          <a:bodyPr wrap="square" lIns="0" rIns="0" tIns="0" bIns="0" anchor="t">
            <a:spAutoFit/>
          </a:bodyPr>
          <a:lstStyle/>
          <a:p>
            <a:pPr algn="l">
              <a:spcAft>
                <a:spcPts val="400"/>
              </a:spcAft>
            </a:pPr>
            <a:r>
              <a:rPr sz="2700" b="1">
                <a:solidFill>
                  <a:srgbClr val="0F2331"/>
                </a:solidFill>
                <a:latin typeface="Arial"/>
              </a:rPr>
              <a:t>Nguồn minh chứng và thông tin nhóm</a:t>
            </a:r>
          </a:p>
        </p:txBody>
      </p:sp>
      <p:sp>
        <p:nvSpPr>
          <p:cNvPr id="4" name="TextBox 3"/>
          <p:cNvSpPr txBox="1"/>
          <p:nvPr/>
        </p:nvSpPr>
        <p:spPr>
          <a:xfrm>
            <a:off x="548640" y="6473952"/>
            <a:ext cx="5486400" cy="228600"/>
          </a:xfrm>
          <a:prstGeom prst="rect">
            <a:avLst/>
          </a:prstGeom>
          <a:noFill/>
        </p:spPr>
        <p:txBody>
          <a:bodyPr wrap="square" lIns="0" rIns="0" tIns="0" bIns="0" anchor="t">
            <a:spAutoFit/>
          </a:bodyPr>
          <a:lstStyle/>
          <a:p>
            <a:pPr algn="l">
              <a:spcAft>
                <a:spcPts val="400"/>
              </a:spcAft>
            </a:pPr>
            <a:r>
              <a:rPr sz="900" b="0">
                <a:solidFill>
                  <a:srgbClr val="5C6E78"/>
                </a:solidFill>
                <a:latin typeface="Arial"/>
              </a:rPr>
              <a:t>SMART ORCHARD AI  •  44</a:t>
            </a:r>
          </a:p>
        </p:txBody>
      </p:sp>
      <p:sp>
        <p:nvSpPr>
          <p:cNvPr id="5" name="Rounded Rectangle 4"/>
          <p:cNvSpPr/>
          <p:nvPr/>
        </p:nvSpPr>
        <p:spPr>
          <a:xfrm>
            <a:off x="548640" y="1280160"/>
            <a:ext cx="4572000" cy="4526280"/>
          </a:xfrm>
          <a:prstGeom prst="roundRect">
            <a:avLst>
              <a:gd name="adj" fmla="val 2909"/>
            </a:avLst>
          </a:prstGeom>
          <a:solidFill>
            <a:srgbClr val="F6F9F8"/>
          </a:solidFill>
          <a:ln w="12700">
            <a:solidFill>
              <a:srgbClr val="D6E0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463039"/>
            <a:ext cx="4169663" cy="365760"/>
          </a:xfrm>
          <a:prstGeom prst="rect">
            <a:avLst/>
          </a:prstGeom>
          <a:noFill/>
        </p:spPr>
        <p:txBody>
          <a:bodyPr wrap="square" lIns="0" rIns="0" tIns="0" bIns="0" anchor="t">
            <a:spAutoFit/>
          </a:bodyPr>
          <a:lstStyle/>
          <a:p>
            <a:pPr algn="l">
              <a:spcAft>
                <a:spcPts val="400"/>
              </a:spcAft>
            </a:pPr>
            <a:r>
              <a:rPr sz="1700" b="1">
                <a:solidFill>
                  <a:srgbClr val="187F5B"/>
                </a:solidFill>
                <a:latin typeface="Arial"/>
              </a:rPr>
              <a:t>Nhóm thực hiện</a:t>
            </a:r>
          </a:p>
        </p:txBody>
      </p:sp>
      <p:sp>
        <p:nvSpPr>
          <p:cNvPr id="7" name="TextBox 6"/>
          <p:cNvSpPr txBox="1"/>
          <p:nvPr/>
        </p:nvSpPr>
        <p:spPr>
          <a:xfrm>
            <a:off x="749808" y="1920239"/>
            <a:ext cx="4169663" cy="3794760"/>
          </a:xfrm>
          <a:prstGeom prst="rect">
            <a:avLst/>
          </a:prstGeom>
          <a:noFill/>
        </p:spPr>
        <p:txBody>
          <a:bodyPr wrap="square" lIns="0" rIns="0" tIns="0" bIns="0" anchor="t">
            <a:spAutoFit/>
          </a:bodyPr>
          <a:lstStyle/>
          <a:p>
            <a:pPr algn="l">
              <a:spcAft>
                <a:spcPts val="600"/>
              </a:spcAft>
            </a:pPr>
            <a:r>
              <a:rPr sz="1600" b="0">
                <a:solidFill>
                  <a:srgbClr val="1F303A"/>
                </a:solidFill>
                <a:latin typeface="Arial"/>
              </a:rPr>
              <a:t>NHÓM: ........................................</a:t>
            </a:r>
          </a:p>
          <a:p>
            <a:pPr algn="l">
              <a:spcAft>
                <a:spcPts val="600"/>
              </a:spcAft>
            </a:pPr>
            <a:r>
              <a:rPr sz="1600" b="0">
                <a:solidFill>
                  <a:srgbClr val="1F303A"/>
                </a:solidFill>
                <a:latin typeface="Arial"/>
              </a:rPr>
              <a:t>........................................ (MSSV: ................)</a:t>
            </a:r>
          </a:p>
          <a:p>
            <a:pPr algn="l">
              <a:spcAft>
                <a:spcPts val="600"/>
              </a:spcAft>
            </a:pPr>
            <a:r>
              <a:rPr sz="1600" b="0">
                <a:solidFill>
                  <a:srgbClr val="1F303A"/>
                </a:solidFill>
                <a:latin typeface="Arial"/>
              </a:rPr>
              <a:t>GVHD: ........................................</a:t>
            </a:r>
          </a:p>
          <a:p>
            <a:pPr algn="l">
              <a:spcAft>
                <a:spcPts val="600"/>
              </a:spcAft>
            </a:pPr>
          </a:p>
          <a:p>
            <a:pPr algn="l">
              <a:spcAft>
                <a:spcPts val="600"/>
              </a:spcAft>
            </a:pPr>
            <a:r>
              <a:rPr sz="1600" b="0">
                <a:solidFill>
                  <a:srgbClr val="1F303A"/>
                </a:solidFill>
                <a:latin typeface="Arial"/>
              </a:rPr>
              <a:t>(Điền phần việc của từng thành viên)</a:t>
            </a:r>
          </a:p>
        </p:txBody>
      </p:sp>
      <p:graphicFrame>
        <p:nvGraphicFramePr>
          <p:cNvPr id="8" name="Table 7"/>
          <p:cNvGraphicFramePr>
            <a:graphicFrameLocks noGrp="1"/>
          </p:cNvGraphicFramePr>
          <p:nvPr/>
        </p:nvGraphicFramePr>
        <p:xfrm>
          <a:off x="5349240" y="1280160"/>
          <a:ext cx="6291072" cy="4389120"/>
        </p:xfrm>
        <a:graphic>
          <a:graphicData uri="http://schemas.openxmlformats.org/drawingml/2006/table">
            <a:tbl>
              <a:tblPr firstRow="1" bandRow="1">
                <a:tableStyleId>{5C22544A-7EE6-4342-B048-85BDC9FD1C3A}</a:tableStyleId>
              </a:tblPr>
              <a:tblGrid>
                <a:gridCol w="3291840"/>
                <a:gridCol w="2999232"/>
              </a:tblGrid>
              <a:tr h="548640">
                <a:tc>
                  <a:txBody>
                    <a:bodyPr wrap="square"/>
                    <a:lstStyle/>
                    <a:p>
                      <a:r>
                        <a:rPr sz="1200" b="1">
                          <a:solidFill>
                            <a:srgbClr val="FFFFFF"/>
                          </a:solidFill>
                          <a:latin typeface="Arial"/>
                        </a:rPr>
                        <a:t>Minh chứng</a:t>
                      </a:r>
                    </a:p>
                  </a:txBody>
                  <a:tcPr marL="64008" marR="64008" marT="32004" marB="32004" anchor="ctr">
                    <a:solidFill>
                      <a:srgbClr val="0F2331"/>
                    </a:solidFill>
                  </a:tcPr>
                </a:tc>
                <a:tc>
                  <a:txBody>
                    <a:bodyPr wrap="square"/>
                    <a:lstStyle/>
                    <a:p>
                      <a:r>
                        <a:rPr sz="1200" b="1">
                          <a:solidFill>
                            <a:srgbClr val="FFFFFF"/>
                          </a:solidFill>
                          <a:latin typeface="Arial"/>
                        </a:rPr>
                        <a:t>Đường dẫn</a:t>
                      </a:r>
                    </a:p>
                  </a:txBody>
                  <a:tcPr marL="64008" marR="64008" marT="32004" marB="32004" anchor="ctr">
                    <a:solidFill>
                      <a:srgbClr val="0F2331"/>
                    </a:solidFill>
                  </a:tcPr>
                </a:tc>
              </a:tr>
              <a:tr h="548640">
                <a:tc>
                  <a:txBody>
                    <a:bodyPr wrap="square"/>
                    <a:lstStyle/>
                    <a:p>
                      <a:r>
                        <a:rPr sz="1200" b="1">
                          <a:solidFill>
                            <a:srgbClr val="1F303A"/>
                          </a:solidFill>
                          <a:latin typeface="Arial"/>
                        </a:rPr>
                        <a:t>Lịch sử dự án</a:t>
                      </a:r>
                    </a:p>
                  </a:txBody>
                  <a:tcPr marL="64008" marR="64008" marT="32004" marB="32004" anchor="ctr">
                    <a:solidFill>
                      <a:srgbClr val="FFFFFF"/>
                    </a:solidFill>
                  </a:tcPr>
                </a:tc>
                <a:tc>
                  <a:txBody>
                    <a:bodyPr wrap="square"/>
                    <a:lstStyle/>
                    <a:p>
                      <a:r>
                        <a:rPr sz="1200" b="0">
                          <a:solidFill>
                            <a:srgbClr val="1F303A"/>
                          </a:solidFill>
                          <a:latin typeface="Arial"/>
                        </a:rPr>
                        <a:t>docs/PROJECT_HISTORY.md</a:t>
                      </a:r>
                    </a:p>
                  </a:txBody>
                  <a:tcPr marL="64008" marR="64008" marT="32004" marB="32004" anchor="ctr">
                    <a:solidFill>
                      <a:srgbClr val="FFFFFF"/>
                    </a:solidFill>
                  </a:tcPr>
                </a:tc>
              </a:tr>
              <a:tr h="548640">
                <a:tc>
                  <a:txBody>
                    <a:bodyPr wrap="square"/>
                    <a:lstStyle/>
                    <a:p>
                      <a:r>
                        <a:rPr sz="1200" b="1">
                          <a:solidFill>
                            <a:srgbClr val="1F303A"/>
                          </a:solidFill>
                          <a:latin typeface="Arial"/>
                        </a:rPr>
                        <a:t>Job Vertex (args, results, review)</a:t>
                      </a:r>
                    </a:p>
                  </a:txBody>
                  <a:tcPr marL="64008" marR="64008" marT="32004" marB="32004" anchor="ctr">
                    <a:solidFill>
                      <a:srgbClr val="F8FBFA"/>
                    </a:solidFill>
                  </a:tcPr>
                </a:tc>
                <a:tc>
                  <a:txBody>
                    <a:bodyPr wrap="square"/>
                    <a:lstStyle/>
                    <a:p>
                      <a:r>
                        <a:rPr sz="1200" b="0">
                          <a:solidFill>
                            <a:srgbClr val="1F303A"/>
                          </a:solidFill>
                          <a:latin typeface="Arial"/>
                        </a:rPr>
                        <a:t>fruit_detection_runs_gcp_review/&lt;job&gt;/</a:t>
                      </a:r>
                    </a:p>
                  </a:txBody>
                  <a:tcPr marL="64008" marR="64008" marT="32004" marB="32004" anchor="ctr">
                    <a:solidFill>
                      <a:srgbClr val="F8FBFA"/>
                    </a:solidFill>
                  </a:tcPr>
                </a:tc>
              </a:tr>
              <a:tr h="548640">
                <a:tc>
                  <a:txBody>
                    <a:bodyPr wrap="square"/>
                    <a:lstStyle/>
                    <a:p>
                      <a:r>
                        <a:rPr sz="1200" b="1">
                          <a:solidFill>
                            <a:srgbClr val="1F303A"/>
                          </a:solidFill>
                          <a:latin typeface="Arial"/>
                        </a:rPr>
                        <a:t>Benchmark + A/B/C</a:t>
                      </a:r>
                    </a:p>
                  </a:txBody>
                  <a:tcPr marL="64008" marR="64008" marT="32004" marB="32004" anchor="ctr">
                    <a:solidFill>
                      <a:srgbClr val="FFFFFF"/>
                    </a:solidFill>
                  </a:tcPr>
                </a:tc>
                <a:tc>
                  <a:txBody>
                    <a:bodyPr wrap="square"/>
                    <a:lstStyle/>
                    <a:p>
                      <a:r>
                        <a:rPr sz="1200" b="0">
                          <a:solidFill>
                            <a:srgbClr val="1F303A"/>
                          </a:solidFill>
                          <a:latin typeface="Arial"/>
                        </a:rPr>
                        <a:t>…/regression_20261002/trial_abc_summary.json</a:t>
                      </a:r>
                    </a:p>
                  </a:txBody>
                  <a:tcPr marL="64008" marR="64008" marT="32004" marB="32004" anchor="ctr">
                    <a:solidFill>
                      <a:srgbClr val="FFFFFF"/>
                    </a:solidFill>
                  </a:tcPr>
                </a:tc>
              </a:tr>
              <a:tr h="548640">
                <a:tc>
                  <a:txBody>
                    <a:bodyPr wrap="square"/>
                    <a:lstStyle/>
                    <a:p>
                      <a:r>
                        <a:rPr sz="1200" b="1">
                          <a:solidFill>
                            <a:srgbClr val="1F303A"/>
                          </a:solidFill>
                          <a:latin typeface="Arial"/>
                        </a:rPr>
                        <a:t>Rà nhãn 02/10</a:t>
                      </a:r>
                    </a:p>
                  </a:txBody>
                  <a:tcPr marL="64008" marR="64008" marT="32004" marB="32004" anchor="ctr">
                    <a:solidFill>
                      <a:srgbClr val="F8FBFA"/>
                    </a:solidFill>
                  </a:tcPr>
                </a:tc>
                <a:tc>
                  <a:txBody>
                    <a:bodyPr wrap="square"/>
                    <a:lstStyle/>
                    <a:p>
                      <a:r>
                        <a:rPr sz="1200" b="0">
                          <a:solidFill>
                            <a:srgbClr val="1F303A"/>
                          </a:solidFill>
                          <a:latin typeface="Arial"/>
                        </a:rPr>
                        <a:t>…/label_audit_20261002/</a:t>
                      </a:r>
                    </a:p>
                  </a:txBody>
                  <a:tcPr marL="64008" marR="64008" marT="32004" marB="32004" anchor="ctr">
                    <a:solidFill>
                      <a:srgbClr val="F8FBFA"/>
                    </a:solidFill>
                  </a:tcPr>
                </a:tc>
              </a:tr>
              <a:tr h="548640">
                <a:tc>
                  <a:txBody>
                    <a:bodyPr wrap="square"/>
                    <a:lstStyle/>
                    <a:p>
                      <a:r>
                        <a:rPr sz="1200" b="1">
                          <a:solidFill>
                            <a:srgbClr val="1F303A"/>
                          </a:solidFill>
                          <a:latin typeface="Arial"/>
                        </a:rPr>
                        <a:t>Phiên bản dữ liệu</a:t>
                      </a:r>
                    </a:p>
                  </a:txBody>
                  <a:tcPr marL="64008" marR="64008" marT="32004" marB="32004" anchor="ctr">
                    <a:solidFill>
                      <a:srgbClr val="FFFFFF"/>
                    </a:solidFill>
                  </a:tcPr>
                </a:tc>
                <a:tc>
                  <a:txBody>
                    <a:bodyPr wrap="square"/>
                    <a:lstStyle/>
                    <a:p>
                      <a:r>
                        <a:rPr sz="1200" b="0">
                          <a:solidFill>
                            <a:srgbClr val="1F303A"/>
                          </a:solidFill>
                          <a:latin typeface="Arial"/>
                        </a:rPr>
                        <a:t>data/prepared/*/preparation_report.json</a:t>
                      </a:r>
                    </a:p>
                  </a:txBody>
                  <a:tcPr marL="64008" marR="64008" marT="32004" marB="32004" anchor="ctr">
                    <a:solidFill>
                      <a:srgbClr val="FFFFFF"/>
                    </a:solidFill>
                  </a:tcPr>
                </a:tc>
              </a:tr>
              <a:tr h="548640">
                <a:tc>
                  <a:txBody>
                    <a:bodyPr wrap="square"/>
                    <a:lstStyle/>
                    <a:p>
                      <a:r>
                        <a:rPr sz="1200" b="1">
                          <a:solidFill>
                            <a:srgbClr val="1F303A"/>
                          </a:solidFill>
                          <a:latin typeface="Arial"/>
                        </a:rPr>
                        <a:t>Nguồn dữ liệu</a:t>
                      </a:r>
                    </a:p>
                  </a:txBody>
                  <a:tcPr marL="64008" marR="64008" marT="32004" marB="32004" anchor="ctr">
                    <a:solidFill>
                      <a:srgbClr val="F8FBFA"/>
                    </a:solidFill>
                  </a:tcPr>
                </a:tc>
                <a:tc>
                  <a:txBody>
                    <a:bodyPr wrap="square"/>
                    <a:lstStyle/>
                    <a:p>
                      <a:r>
                        <a:rPr sz="1200" b="0">
                          <a:solidFill>
                            <a:srgbClr val="1F303A"/>
                          </a:solidFill>
                          <a:latin typeface="Arial"/>
                        </a:rPr>
                        <a:t>data/external/datasets.json</a:t>
                      </a:r>
                    </a:p>
                  </a:txBody>
                  <a:tcPr marL="64008" marR="64008" marT="32004" marB="32004" anchor="ctr">
                    <a:solidFill>
                      <a:srgbClr val="F8FBFA"/>
                    </a:solidFill>
                  </a:tcPr>
                </a:tc>
              </a:tr>
              <a:tr h="548640">
                <a:tc>
                  <a:txBody>
                    <a:bodyPr wrap="square"/>
                    <a:lstStyle/>
                    <a:p>
                      <a:r>
                        <a:rPr sz="1200" b="1">
                          <a:solidFill>
                            <a:srgbClr val="1F303A"/>
                          </a:solidFill>
                          <a:latin typeface="Arial"/>
                        </a:rPr>
                        <a:t>Đánh giá 08/10</a:t>
                      </a:r>
                    </a:p>
                  </a:txBody>
                  <a:tcPr marL="64008" marR="64008" marT="32004" marB="32004" anchor="ctr">
                    <a:solidFill>
                      <a:srgbClr val="FFFFFF"/>
                    </a:solidFill>
                  </a:tcPr>
                </a:tc>
                <a:tc>
                  <a:txBody>
                    <a:bodyPr wrap="square"/>
                    <a:lstStyle/>
                    <a:p>
                      <a:r>
                        <a:rPr sz="1200" b="0">
                          <a:solidFill>
                            <a:srgbClr val="1F303A"/>
                          </a:solidFill>
                          <a:latin typeface="Arial"/>
                        </a:rPr>
                        <a:t>fruit_detection_presentation/eval/summary.json</a:t>
                      </a:r>
                    </a:p>
                  </a:txBody>
                  <a:tcPr marL="64008" marR="64008" marT="32004" marB="32004"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103120"/>
            <a:ext cx="10698480" cy="822960"/>
          </a:xfrm>
          <a:prstGeom prst="rect">
            <a:avLst/>
          </a:prstGeom>
          <a:noFill/>
        </p:spPr>
        <p:txBody>
          <a:bodyPr wrap="square" lIns="0" rIns="0" tIns="0" bIns="0" anchor="t">
            <a:spAutoFit/>
          </a:bodyPr>
          <a:lstStyle/>
          <a:p>
            <a:pPr algn="ctr">
              <a:spcAft>
                <a:spcPts val="400"/>
              </a:spcAft>
            </a:pPr>
            <a:r>
              <a:rPr sz="3800" b="1">
                <a:solidFill>
                  <a:srgbClr val="0F2331"/>
                </a:solidFill>
                <a:latin typeface="Arial"/>
              </a:rPr>
              <a:t>CẢM ƠN THẦY CÔ VÀ CÁC BẠN</a:t>
            </a:r>
          </a:p>
        </p:txBody>
      </p:sp>
      <p:sp>
        <p:nvSpPr>
          <p:cNvPr id="3" name="TextBox 2"/>
          <p:cNvSpPr txBox="1"/>
          <p:nvPr/>
        </p:nvSpPr>
        <p:spPr>
          <a:xfrm>
            <a:off x="731520" y="3063240"/>
            <a:ext cx="10698480" cy="457200"/>
          </a:xfrm>
          <a:prstGeom prst="rect">
            <a:avLst/>
          </a:prstGeom>
          <a:noFill/>
        </p:spPr>
        <p:txBody>
          <a:bodyPr wrap="square" lIns="0" rIns="0" tIns="0" bIns="0" anchor="t">
            <a:spAutoFit/>
          </a:bodyPr>
          <a:lstStyle/>
          <a:p>
            <a:pPr algn="ctr">
              <a:spcAft>
                <a:spcPts val="400"/>
              </a:spcAft>
            </a:pPr>
            <a:r>
              <a:rPr sz="2200" b="1">
                <a:solidFill>
                  <a:srgbClr val="187F5B"/>
                </a:solidFill>
                <a:latin typeface="Arial"/>
              </a:rPr>
              <a:t>Hỏi đáp &amp; demo</a:t>
            </a:r>
          </a:p>
        </p:txBody>
      </p:sp>
      <p:sp>
        <p:nvSpPr>
          <p:cNvPr id="4" name="TextBox 3"/>
          <p:cNvSpPr txBox="1"/>
          <p:nvPr/>
        </p:nvSpPr>
        <p:spPr>
          <a:xfrm>
            <a:off x="731520" y="3749039"/>
            <a:ext cx="10698480" cy="365760"/>
          </a:xfrm>
          <a:prstGeom prst="rect">
            <a:avLst/>
          </a:prstGeom>
          <a:noFill/>
        </p:spPr>
        <p:txBody>
          <a:bodyPr wrap="square" lIns="0" rIns="0" tIns="0" bIns="0" anchor="t">
            <a:spAutoFit/>
          </a:bodyPr>
          <a:lstStyle/>
          <a:p>
            <a:pPr algn="ctr">
              <a:spcAft>
                <a:spcPts val="400"/>
              </a:spcAft>
            </a:pPr>
            <a:r>
              <a:rPr sz="1400" b="0">
                <a:solidFill>
                  <a:srgbClr val="5C6E78"/>
                </a:solidFill>
                <a:latin typeface="Arial"/>
              </a:rPr>
              <a:t>v3 • job 4169118715503181824 • Cloud Run asia-southeast1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Orchard AI — báo cáo nhóm</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